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Lst>
  <ns0:sldSz cx="12192000" cy="6858000" type="screen4x3"/>
  <ns0:notesSz cx="6858000" cy="9144000"/>
  <ns0:embeddedFontLst>
    <ns0:embeddedFont>
      <ns0:font typeface="Inter"/>
      <ns0:bold ns1:id="rIdFont23"/>
      <ns0:regular ns1:id="rIdFont24"/>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Font23" Type="http://schemas.openxmlformats.org/officeDocument/2006/relationships/font" Target="fonts/187a643e-9a57-4184-bf37-557ec8641962.fntdata" /><ns0:Relationship Id="rIdFont24" Type="http://schemas.openxmlformats.org/officeDocument/2006/relationships/font" Target="fonts/cba91605-9ea5-4457-87ac-9418484afafd.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6.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6.png"/><Relationship Id="rId4"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6.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6.png"/><Relationship Id="rId4" Type="http://schemas.openxmlformats.org/officeDocument/2006/relationships/image" Target="../media/image47.png"/><Relationship Id="rId5" Type="http://schemas.openxmlformats.org/officeDocument/2006/relationships/image" Target="../media/image20.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 Id="rId10" Type="http://schemas.openxmlformats.org/officeDocument/2006/relationships/image" Target="../media/image52.png"/><Relationship Id="rId11" Type="http://schemas.openxmlformats.org/officeDocument/2006/relationships/image" Target="../media/image53.png"/><Relationship Id="rId12" Type="http://schemas.openxmlformats.org/officeDocument/2006/relationships/image" Target="../media/image54.png"/><Relationship Id="rId13" Type="http://schemas.openxmlformats.org/officeDocument/2006/relationships/image" Target="../media/image55.png"/><Relationship Id="rId14" Type="http://schemas.openxmlformats.org/officeDocument/2006/relationships/image" Target="../media/image56.png"/><Relationship Id="rId15" Type="http://schemas.openxmlformats.org/officeDocument/2006/relationships/image" Target="../media/image57.png"/><Relationship Id="rId16" Type="http://schemas.openxmlformats.org/officeDocument/2006/relationships/image" Target="../media/image5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png"/><Relationship Id="rId5"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6.png"/><Relationship Id="rId4" Type="http://schemas.openxmlformats.org/officeDocument/2006/relationships/image" Target="../media/image7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6.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2.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22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715500" y="461962"/>
            <a:ext cx="1866900" cy="257175"/>
          </a:xfrm>
          <a:prstGeom prst="roundRect">
            <a:avLst>
              <a:gd name="adj" fmla="val 50000"/>
            </a:avLst>
          </a:prstGeom>
          <a:solidFill>
            <a:srgbClr val="0D2C48"/>
          </a:solidFill>
          <a:ln w="952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614737"/>
            <a:ext cx="10972800" cy="1000125"/>
          </a:xfrm>
          <a:prstGeom prst="roundRect">
            <a:avLst>
              <a:gd name="adj" fmla="val 11428"/>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5678983"/>
            <a:ext cx="38100" cy="72181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609600" y="457200"/>
            <a:ext cx="238125" cy="266700"/>
          </a:xfrm>
          <a:prstGeom prst="rect">
            <a:avLst/>
          </a:prstGeom>
        </p:spPr>
      </p:pic>
      <p:pic>
        <p:nvPicPr>
          <p:cNvPr id="7" name="Picture 6" descr="image.png"/>
          <p:cNvPicPr>
            <a:picLocks noChangeAspect="1"/>
          </p:cNvPicPr>
          <p:nvPr/>
        </p:nvPicPr>
        <p:blipFill>
          <a:blip r:embed="rId3"/>
          <a:stretch>
            <a:fillRect/>
          </a:stretch>
        </p:blipFill>
        <p:spPr>
          <a:xfrm>
            <a:off x="800100" y="5788521"/>
            <a:ext cx="112514" cy="123825"/>
          </a:xfrm>
          <a:prstGeom prst="rect">
            <a:avLst/>
          </a:prstGeom>
        </p:spPr>
      </p:pic>
      <p:sp>
        <p:nvSpPr>
          <p:cNvPr id="8" name="TextBox 7"/>
          <p:cNvSpPr txBox="1"/>
          <p:nvPr/>
        </p:nvSpPr>
        <p:spPr>
          <a:xfrm>
            <a:off x="9848850" y="500062"/>
            <a:ext cx="1695450" cy="180975"/>
          </a:xfrm>
          <a:prstGeom prst="rect">
            <a:avLst/>
          </a:prstGeom>
          <a:noFill/>
        </p:spPr>
        <p:txBody>
          <a:bodyPr wrap="square" lIns="0" rIns="0" tIns="0" bIns="0" anchor="t">
            <a:spAutoFit/>
          </a:bodyPr>
          <a:lstStyle/>
          <a:p>
            <a:pPr algn="l"/>
            <a:r>
              <a:rPr b="1" sz="1050" i="0" u="none">
                <a:solidFill>
                  <a:srgbClr val="38BDF8"/>
                </a:solidFill>
                <a:latin typeface="Inter"/>
              </a:rPr>
              <a:t>Hackathon Presentation</a:t>
            </a:r>
          </a:p>
        </p:txBody>
      </p:sp>
      <p:sp>
        <p:nvSpPr>
          <p:cNvPr id="9" name="TextBox 8"/>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38BDF8"/>
                </a:solidFill>
                <a:latin typeface="Inter"/>
              </a:rPr>
              <a:t>SPEAKER NOTES</a:t>
            </a:r>
          </a:p>
        </p:txBody>
      </p:sp>
      <p:sp>
        <p:nvSpPr>
          <p:cNvPr id="10" name="TextBox 9"/>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94A3B8"/>
                </a:solidFill>
                <a:latin typeface="Inter"/>
              </a:rPr>
              <a:t>Good morning everyone. Today we are presenting our hackathon project on Automated Azure User Onboarding and Resource Provisioning. Our solution focuses on group-based RBAC, policy governance, and budget enforcement to solve key administrative bottlenecks in cloud management.</a:t>
            </a:r>
          </a:p>
        </p:txBody>
      </p:sp>
      <p:sp>
        <p:nvSpPr>
          <p:cNvPr id="11" name="TextBox 10"/>
          <p:cNvSpPr txBox="1"/>
          <p:nvPr/>
        </p:nvSpPr>
        <p:spPr>
          <a:xfrm>
            <a:off x="942975" y="495300"/>
            <a:ext cx="3976687" cy="190500"/>
          </a:xfrm>
          <a:prstGeom prst="rect">
            <a:avLst/>
          </a:prstGeom>
          <a:noFill/>
        </p:spPr>
        <p:txBody>
          <a:bodyPr wrap="none" lIns="0" rIns="0" tIns="0" bIns="0" anchor="t">
            <a:spAutoFit/>
          </a:bodyPr>
          <a:lstStyle/>
          <a:p>
            <a:pPr algn="l"/>
            <a:r>
              <a:rPr b="1" sz="1200" i="0" u="none">
                <a:solidFill>
                  <a:srgbClr val="38BDF8"/>
                </a:solidFill>
                <a:latin typeface="Inter"/>
              </a:rPr>
              <a:t>AZURE CLOUD HACKATHON PROJECT</a:t>
            </a:r>
          </a:p>
        </p:txBody>
      </p:sp>
      <p:sp>
        <p:nvSpPr>
          <p:cNvPr id="12" name="TextBox 11"/>
          <p:cNvSpPr txBox="1"/>
          <p:nvPr/>
        </p:nvSpPr>
        <p:spPr>
          <a:xfrm>
            <a:off x="609600" y="1749921"/>
            <a:ext cx="11582400" cy="920055"/>
          </a:xfrm>
          <a:prstGeom prst="rect">
            <a:avLst/>
          </a:prstGeom>
          <a:noFill/>
        </p:spPr>
        <p:txBody>
          <a:bodyPr wrap="square" lIns="0" rIns="0" tIns="0" bIns="0" anchor="t">
            <a:spAutoFit/>
          </a:bodyPr>
          <a:lstStyle/>
          <a:p>
            <a:pPr algn="l">
              <a:lnSpc>
                <a:spcPts val="3622"/>
              </a:lnSpc>
            </a:pPr>
            <a:r>
              <a:rPr b="1" sz="3150" i="0" u="none">
                <a:solidFill>
                  <a:srgbClr val="FFFFFF"/>
                </a:solidFill>
                <a:latin typeface="Inter"/>
              </a:rPr>
              <a:t>Automated Azure User Onboarding &amp; Resource Provisioning</a:t>
            </a:r>
          </a:p>
        </p:txBody>
      </p:sp>
      <p:sp>
        <p:nvSpPr>
          <p:cNvPr id="13" name="TextBox 12"/>
          <p:cNvSpPr txBox="1"/>
          <p:nvPr/>
        </p:nvSpPr>
        <p:spPr>
          <a:xfrm>
            <a:off x="609600" y="2784276"/>
            <a:ext cx="11582400" cy="247650"/>
          </a:xfrm>
          <a:prstGeom prst="rect">
            <a:avLst/>
          </a:prstGeom>
          <a:noFill/>
        </p:spPr>
        <p:txBody>
          <a:bodyPr wrap="none" lIns="0" rIns="0" tIns="0" bIns="0" anchor="t">
            <a:spAutoFit/>
          </a:bodyPr>
          <a:lstStyle/>
          <a:p>
            <a:pPr algn="l"/>
            <a:r>
              <a:rPr b="1" sz="1650" i="0" u="none">
                <a:solidFill>
                  <a:srgbClr val="38BDF8"/>
                </a:solidFill>
                <a:latin typeface="Inter"/>
              </a:rPr>
              <a:t>Group-Based RBAC, Governance &amp; Cost Monitoring</a:t>
            </a:r>
          </a:p>
        </p:txBody>
      </p:sp>
      <p:sp>
        <p:nvSpPr>
          <p:cNvPr id="14" name="TextBox 13"/>
          <p:cNvSpPr txBox="1"/>
          <p:nvPr/>
        </p:nvSpPr>
        <p:spPr>
          <a:xfrm>
            <a:off x="609600" y="3184326"/>
            <a:ext cx="11582400" cy="239910"/>
          </a:xfrm>
          <a:prstGeom prst="rect">
            <a:avLst/>
          </a:prstGeom>
          <a:noFill/>
        </p:spPr>
        <p:txBody>
          <a:bodyPr wrap="none" lIns="0" rIns="0" tIns="0" bIns="0" anchor="t">
            <a:spAutoFit/>
          </a:bodyPr>
          <a:lstStyle/>
          <a:p>
            <a:pPr algn="l">
              <a:lnSpc>
                <a:spcPts val="1889"/>
              </a:lnSpc>
            </a:pPr>
            <a:r>
              <a:rPr b="0" sz="1350" i="0" u="none">
                <a:solidFill>
                  <a:srgbClr val="94A3B8"/>
                </a:solidFill>
                <a:latin typeface="Inter"/>
              </a:rPr>
              <a:t>"Reducing manual cloud administration through group-based access and controlled resource provisioning."</a:t>
            </a:r>
          </a:p>
        </p:txBody>
      </p:sp>
      <p:sp>
        <p:nvSpPr>
          <p:cNvPr id="15" name="TextBox 14"/>
          <p:cNvSpPr txBox="1"/>
          <p:nvPr/>
        </p:nvSpPr>
        <p:spPr>
          <a:xfrm>
            <a:off x="809625" y="3814762"/>
            <a:ext cx="4214812" cy="161925"/>
          </a:xfrm>
          <a:prstGeom prst="rect">
            <a:avLst/>
          </a:prstGeom>
          <a:noFill/>
        </p:spPr>
        <p:txBody>
          <a:bodyPr wrap="none" lIns="0" rIns="0" tIns="0" bIns="0" anchor="t">
            <a:spAutoFit/>
          </a:bodyPr>
          <a:lstStyle/>
          <a:p>
            <a:pPr algn="l"/>
            <a:r>
              <a:rPr b="1" sz="1050" i="0" u="none">
                <a:solidFill>
                  <a:srgbClr val="64748B"/>
                </a:solidFill>
                <a:latin typeface="Inter"/>
              </a:rPr>
              <a:t>TEAM MEMBERS</a:t>
            </a:r>
          </a:p>
        </p:txBody>
      </p:sp>
      <p:sp>
        <p:nvSpPr>
          <p:cNvPr id="16" name="TextBox 15"/>
          <p:cNvSpPr txBox="1"/>
          <p:nvPr/>
        </p:nvSpPr>
        <p:spPr>
          <a:xfrm>
            <a:off x="809625" y="4014787"/>
            <a:ext cx="4214812" cy="200025"/>
          </a:xfrm>
          <a:prstGeom prst="rect">
            <a:avLst/>
          </a:prstGeom>
          <a:noFill/>
        </p:spPr>
        <p:txBody>
          <a:bodyPr wrap="none" lIns="0" rIns="0" tIns="0" bIns="0" anchor="t">
            <a:spAutoFit/>
          </a:bodyPr>
          <a:lstStyle/>
          <a:p>
            <a:pPr algn="l"/>
            <a:r>
              <a:rPr b="1" sz="1350" i="0" u="none">
                <a:solidFill>
                  <a:srgbClr val="F8FAFC"/>
                </a:solidFill>
                <a:latin typeface="Inter"/>
              </a:rPr>
              <a:t>Pujith Azure &amp; Team</a:t>
            </a:r>
          </a:p>
        </p:txBody>
      </p:sp>
      <p:sp>
        <p:nvSpPr>
          <p:cNvPr id="17" name="TextBox 16"/>
          <p:cNvSpPr txBox="1"/>
          <p:nvPr/>
        </p:nvSpPr>
        <p:spPr>
          <a:xfrm>
            <a:off x="4410075" y="3814762"/>
            <a:ext cx="4214812" cy="161925"/>
          </a:xfrm>
          <a:prstGeom prst="rect">
            <a:avLst/>
          </a:prstGeom>
          <a:noFill/>
        </p:spPr>
        <p:txBody>
          <a:bodyPr wrap="none" lIns="0" rIns="0" tIns="0" bIns="0" anchor="t">
            <a:spAutoFit/>
          </a:bodyPr>
          <a:lstStyle/>
          <a:p>
            <a:pPr algn="l"/>
            <a:r>
              <a:rPr b="1" sz="1050" i="0" u="none">
                <a:solidFill>
                  <a:srgbClr val="64748B"/>
                </a:solidFill>
                <a:latin typeface="Inter"/>
              </a:rPr>
              <a:t>DEPARTMENT / COLLEGE</a:t>
            </a:r>
          </a:p>
        </p:txBody>
      </p:sp>
      <p:sp>
        <p:nvSpPr>
          <p:cNvPr id="18" name="TextBox 17"/>
          <p:cNvSpPr txBox="1"/>
          <p:nvPr/>
        </p:nvSpPr>
        <p:spPr>
          <a:xfrm>
            <a:off x="4410075" y="4014787"/>
            <a:ext cx="3467100" cy="400050"/>
          </a:xfrm>
          <a:prstGeom prst="rect">
            <a:avLst/>
          </a:prstGeom>
          <a:noFill/>
        </p:spPr>
        <p:txBody>
          <a:bodyPr wrap="square" lIns="0" rIns="0" tIns="0" bIns="0" anchor="t">
            <a:spAutoFit/>
          </a:bodyPr>
          <a:lstStyle/>
          <a:p>
            <a:pPr algn="l"/>
            <a:r>
              <a:rPr b="1" sz="1350" i="0" u="none">
                <a:solidFill>
                  <a:srgbClr val="F8FAFC"/>
                </a:solidFill>
                <a:latin typeface="Inter"/>
              </a:rPr>
              <a:t>Dept. of Computer Science &amp; Engineering</a:t>
            </a:r>
          </a:p>
        </p:txBody>
      </p:sp>
      <p:sp>
        <p:nvSpPr>
          <p:cNvPr id="19" name="TextBox 18"/>
          <p:cNvSpPr txBox="1"/>
          <p:nvPr/>
        </p:nvSpPr>
        <p:spPr>
          <a:xfrm>
            <a:off x="8010525" y="3814762"/>
            <a:ext cx="4181475" cy="161925"/>
          </a:xfrm>
          <a:prstGeom prst="rect">
            <a:avLst/>
          </a:prstGeom>
          <a:noFill/>
        </p:spPr>
        <p:txBody>
          <a:bodyPr wrap="none" lIns="0" rIns="0" tIns="0" bIns="0" anchor="t">
            <a:spAutoFit/>
          </a:bodyPr>
          <a:lstStyle/>
          <a:p>
            <a:pPr algn="l"/>
            <a:r>
              <a:rPr b="1" sz="1050" i="0" u="none">
                <a:solidFill>
                  <a:srgbClr val="64748B"/>
                </a:solidFill>
                <a:latin typeface="Inter"/>
              </a:rPr>
              <a:t>GUIDE / INDUSTRIAL EXPERT</a:t>
            </a:r>
          </a:p>
        </p:txBody>
      </p:sp>
      <p:sp>
        <p:nvSpPr>
          <p:cNvPr id="20" name="TextBox 19"/>
          <p:cNvSpPr txBox="1"/>
          <p:nvPr/>
        </p:nvSpPr>
        <p:spPr>
          <a:xfrm>
            <a:off x="8010525" y="4014787"/>
            <a:ext cx="4181475" cy="200025"/>
          </a:xfrm>
          <a:prstGeom prst="rect">
            <a:avLst/>
          </a:prstGeom>
          <a:noFill/>
        </p:spPr>
        <p:txBody>
          <a:bodyPr wrap="none" lIns="0" rIns="0" tIns="0" bIns="0" anchor="t">
            <a:spAutoFit/>
          </a:bodyPr>
          <a:lstStyle/>
          <a:p>
            <a:pPr algn="l"/>
            <a:r>
              <a:rPr b="1" sz="1350" i="0" u="none">
                <a:solidFill>
                  <a:srgbClr val="F8FAFC"/>
                </a:solidFill>
                <a:latin typeface="Inter"/>
              </a:rPr>
              <a:t>Azure Cloud Mentor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468141"/>
            <a:ext cx="10972800" cy="1219200"/>
          </a:xfrm>
          <a:prstGeom prst="roundRect">
            <a:avLst>
              <a:gd name="adj" fmla="val 937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1991766"/>
            <a:ext cx="3530649" cy="1247775"/>
          </a:xfrm>
          <a:prstGeom prst="roundRect">
            <a:avLst>
              <a:gd name="adj" fmla="val 763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30749" y="1991766"/>
            <a:ext cx="3530649" cy="1247775"/>
          </a:xfrm>
          <a:prstGeom prst="roundRect">
            <a:avLst>
              <a:gd name="adj" fmla="val 763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51899" y="1991766"/>
            <a:ext cx="3530649" cy="1247775"/>
          </a:xfrm>
          <a:prstGeom prst="roundRect">
            <a:avLst>
              <a:gd name="adj" fmla="val 763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153775" y="538162"/>
            <a:ext cx="428625" cy="342900"/>
          </a:xfrm>
          <a:prstGeom prst="rect">
            <a:avLst/>
          </a:prstGeom>
        </p:spPr>
      </p:pic>
      <p:pic>
        <p:nvPicPr>
          <p:cNvPr id="9" name="Picture 8" descr="image.png"/>
          <p:cNvPicPr>
            <a:picLocks noChangeAspect="1"/>
          </p:cNvPicPr>
          <p:nvPr/>
        </p:nvPicPr>
        <p:blipFill>
          <a:blip r:embed="rId3"/>
          <a:stretch>
            <a:fillRect/>
          </a:stretch>
        </p:blipFill>
        <p:spPr>
          <a:xfrm>
            <a:off x="2493912" y="3982491"/>
            <a:ext cx="123825" cy="190500"/>
          </a:xfrm>
          <a:prstGeom prst="rect">
            <a:avLst/>
          </a:prstGeom>
        </p:spPr>
      </p:pic>
      <p:pic>
        <p:nvPicPr>
          <p:cNvPr id="10" name="Picture 9" descr="image.png"/>
          <p:cNvPicPr>
            <a:picLocks noChangeAspect="1"/>
          </p:cNvPicPr>
          <p:nvPr/>
        </p:nvPicPr>
        <p:blipFill>
          <a:blip r:embed="rId3"/>
          <a:stretch>
            <a:fillRect/>
          </a:stretch>
        </p:blipFill>
        <p:spPr>
          <a:xfrm>
            <a:off x="4263925" y="3982491"/>
            <a:ext cx="123825" cy="190500"/>
          </a:xfrm>
          <a:prstGeom prst="rect">
            <a:avLst/>
          </a:prstGeom>
        </p:spPr>
      </p:pic>
      <p:pic>
        <p:nvPicPr>
          <p:cNvPr id="11" name="Picture 10" descr="image.png"/>
          <p:cNvPicPr>
            <a:picLocks noChangeAspect="1"/>
          </p:cNvPicPr>
          <p:nvPr/>
        </p:nvPicPr>
        <p:blipFill>
          <a:blip r:embed="rId4"/>
          <a:stretch>
            <a:fillRect/>
          </a:stretch>
        </p:blipFill>
        <p:spPr>
          <a:xfrm>
            <a:off x="6033938" y="3982491"/>
            <a:ext cx="123825" cy="190500"/>
          </a:xfrm>
          <a:prstGeom prst="rect">
            <a:avLst/>
          </a:prstGeom>
        </p:spPr>
      </p:pic>
      <p:pic>
        <p:nvPicPr>
          <p:cNvPr id="12" name="Picture 11" descr="image.png"/>
          <p:cNvPicPr>
            <a:picLocks noChangeAspect="1"/>
          </p:cNvPicPr>
          <p:nvPr/>
        </p:nvPicPr>
        <p:blipFill>
          <a:blip r:embed="rId4"/>
          <a:stretch>
            <a:fillRect/>
          </a:stretch>
        </p:blipFill>
        <p:spPr>
          <a:xfrm>
            <a:off x="7803951" y="3982491"/>
            <a:ext cx="123825" cy="190500"/>
          </a:xfrm>
          <a:prstGeom prst="rect">
            <a:avLst/>
          </a:prstGeom>
        </p:spPr>
      </p:pic>
      <p:pic>
        <p:nvPicPr>
          <p:cNvPr id="13" name="Picture 12" descr="image.png"/>
          <p:cNvPicPr>
            <a:picLocks noChangeAspect="1"/>
          </p:cNvPicPr>
          <p:nvPr/>
        </p:nvPicPr>
        <p:blipFill>
          <a:blip r:embed="rId4"/>
          <a:stretch>
            <a:fillRect/>
          </a:stretch>
        </p:blipFill>
        <p:spPr>
          <a:xfrm>
            <a:off x="9573964" y="3982491"/>
            <a:ext cx="123825" cy="190500"/>
          </a:xfrm>
          <a:prstGeom prst="rect">
            <a:avLst/>
          </a:prstGeom>
        </p:spPr>
      </p:pic>
      <p:pic>
        <p:nvPicPr>
          <p:cNvPr id="14" name="Picture 13" descr="image.png"/>
          <p:cNvPicPr>
            <a:picLocks noChangeAspect="1"/>
          </p:cNvPicPr>
          <p:nvPr/>
        </p:nvPicPr>
        <p:blipFill>
          <a:blip r:embed="rId5"/>
          <a:stretch>
            <a:fillRect/>
          </a:stretch>
        </p:blipFill>
        <p:spPr>
          <a:xfrm>
            <a:off x="800100" y="5788521"/>
            <a:ext cx="112514" cy="123825"/>
          </a:xfrm>
          <a:prstGeom prst="rect">
            <a:avLst/>
          </a:prstGeom>
        </p:spPr>
      </p:pic>
      <p:pic>
        <p:nvPicPr>
          <p:cNvPr id="15" name="Picture 14" descr="image.png"/>
          <p:cNvPicPr>
            <a:picLocks noChangeAspect="1"/>
          </p:cNvPicPr>
          <p:nvPr/>
        </p:nvPicPr>
        <p:blipFill>
          <a:blip r:embed="rId6"/>
          <a:stretch>
            <a:fillRect/>
          </a:stretch>
        </p:blipFill>
        <p:spPr>
          <a:xfrm>
            <a:off x="1432619" y="3706266"/>
            <a:ext cx="476250" cy="476250"/>
          </a:xfrm>
          <a:prstGeom prst="rect">
            <a:avLst/>
          </a:prstGeom>
        </p:spPr>
      </p:pic>
      <p:pic>
        <p:nvPicPr>
          <p:cNvPr id="16" name="Picture 15" descr="image.png"/>
          <p:cNvPicPr>
            <a:picLocks noChangeAspect="1"/>
          </p:cNvPicPr>
          <p:nvPr/>
        </p:nvPicPr>
        <p:blipFill>
          <a:blip r:embed="rId6"/>
          <a:stretch>
            <a:fillRect/>
          </a:stretch>
        </p:blipFill>
        <p:spPr>
          <a:xfrm>
            <a:off x="3202632" y="3706266"/>
            <a:ext cx="476250" cy="476250"/>
          </a:xfrm>
          <a:prstGeom prst="rect">
            <a:avLst/>
          </a:prstGeom>
        </p:spPr>
      </p:pic>
      <p:pic>
        <p:nvPicPr>
          <p:cNvPr id="17" name="Picture 16" descr="image.png"/>
          <p:cNvPicPr>
            <a:picLocks noChangeAspect="1"/>
          </p:cNvPicPr>
          <p:nvPr/>
        </p:nvPicPr>
        <p:blipFill>
          <a:blip r:embed="rId6"/>
          <a:stretch>
            <a:fillRect/>
          </a:stretch>
        </p:blipFill>
        <p:spPr>
          <a:xfrm>
            <a:off x="4972645" y="3706266"/>
            <a:ext cx="476250" cy="476250"/>
          </a:xfrm>
          <a:prstGeom prst="rect">
            <a:avLst/>
          </a:prstGeom>
        </p:spPr>
      </p:pic>
      <p:pic>
        <p:nvPicPr>
          <p:cNvPr id="18" name="Picture 17" descr="image.png"/>
          <p:cNvPicPr>
            <a:picLocks noChangeAspect="1"/>
          </p:cNvPicPr>
          <p:nvPr/>
        </p:nvPicPr>
        <p:blipFill>
          <a:blip r:embed="rId7"/>
          <a:stretch>
            <a:fillRect/>
          </a:stretch>
        </p:blipFill>
        <p:spPr>
          <a:xfrm>
            <a:off x="6742658" y="3706266"/>
            <a:ext cx="476250" cy="476250"/>
          </a:xfrm>
          <a:prstGeom prst="rect">
            <a:avLst/>
          </a:prstGeom>
        </p:spPr>
      </p:pic>
      <p:pic>
        <p:nvPicPr>
          <p:cNvPr id="19" name="Picture 18" descr="image.png"/>
          <p:cNvPicPr>
            <a:picLocks noChangeAspect="1"/>
          </p:cNvPicPr>
          <p:nvPr/>
        </p:nvPicPr>
        <p:blipFill>
          <a:blip r:embed="rId7"/>
          <a:stretch>
            <a:fillRect/>
          </a:stretch>
        </p:blipFill>
        <p:spPr>
          <a:xfrm>
            <a:off x="8512671" y="3706266"/>
            <a:ext cx="476250" cy="476250"/>
          </a:xfrm>
          <a:prstGeom prst="rect">
            <a:avLst/>
          </a:prstGeom>
        </p:spPr>
      </p:pic>
      <p:pic>
        <p:nvPicPr>
          <p:cNvPr id="20" name="Picture 19" descr="image.png"/>
          <p:cNvPicPr>
            <a:picLocks noChangeAspect="1"/>
          </p:cNvPicPr>
          <p:nvPr/>
        </p:nvPicPr>
        <p:blipFill>
          <a:blip r:embed="rId7"/>
          <a:stretch>
            <a:fillRect/>
          </a:stretch>
        </p:blipFill>
        <p:spPr>
          <a:xfrm>
            <a:off x="10282683" y="3706266"/>
            <a:ext cx="476250" cy="476250"/>
          </a:xfrm>
          <a:prstGeom prst="rect">
            <a:avLst/>
          </a:prstGeom>
        </p:spPr>
      </p:pic>
      <p:pic>
        <p:nvPicPr>
          <p:cNvPr id="21" name="Picture 20" descr="image.png"/>
          <p:cNvPicPr>
            <a:picLocks noChangeAspect="1"/>
          </p:cNvPicPr>
          <p:nvPr/>
        </p:nvPicPr>
        <p:blipFill>
          <a:blip r:embed="rId8"/>
          <a:stretch>
            <a:fillRect/>
          </a:stretch>
        </p:blipFill>
        <p:spPr>
          <a:xfrm>
            <a:off x="809625" y="2210841"/>
            <a:ext cx="219075" cy="171450"/>
          </a:xfrm>
          <a:prstGeom prst="rect">
            <a:avLst/>
          </a:prstGeom>
        </p:spPr>
      </p:pic>
      <p:pic>
        <p:nvPicPr>
          <p:cNvPr id="22" name="Picture 21" descr="image.png"/>
          <p:cNvPicPr>
            <a:picLocks noChangeAspect="1"/>
          </p:cNvPicPr>
          <p:nvPr/>
        </p:nvPicPr>
        <p:blipFill>
          <a:blip r:embed="rId9"/>
          <a:stretch>
            <a:fillRect/>
          </a:stretch>
        </p:blipFill>
        <p:spPr>
          <a:xfrm>
            <a:off x="4530774" y="2210841"/>
            <a:ext cx="171450" cy="171450"/>
          </a:xfrm>
          <a:prstGeom prst="rect">
            <a:avLst/>
          </a:prstGeom>
        </p:spPr>
      </p:pic>
      <p:pic>
        <p:nvPicPr>
          <p:cNvPr id="23" name="Picture 22" descr="image.png"/>
          <p:cNvPicPr>
            <a:picLocks noChangeAspect="1"/>
          </p:cNvPicPr>
          <p:nvPr/>
        </p:nvPicPr>
        <p:blipFill>
          <a:blip r:embed="rId10"/>
          <a:stretch>
            <a:fillRect/>
          </a:stretch>
        </p:blipFill>
        <p:spPr>
          <a:xfrm>
            <a:off x="8251924" y="2210841"/>
            <a:ext cx="190500" cy="171450"/>
          </a:xfrm>
          <a:prstGeom prst="rect">
            <a:avLst/>
          </a:prstGeom>
        </p:spPr>
      </p:pic>
      <p:pic>
        <p:nvPicPr>
          <p:cNvPr id="24" name="Picture 23" descr="image.png"/>
          <p:cNvPicPr>
            <a:picLocks noChangeAspect="1"/>
          </p:cNvPicPr>
          <p:nvPr/>
        </p:nvPicPr>
        <p:blipFill>
          <a:blip r:embed="rId11"/>
          <a:stretch>
            <a:fillRect/>
          </a:stretch>
        </p:blipFill>
        <p:spPr>
          <a:xfrm>
            <a:off x="1551682" y="3849141"/>
            <a:ext cx="238125" cy="190500"/>
          </a:xfrm>
          <a:prstGeom prst="rect">
            <a:avLst/>
          </a:prstGeom>
        </p:spPr>
      </p:pic>
      <p:pic>
        <p:nvPicPr>
          <p:cNvPr id="25" name="Picture 24" descr="image.png"/>
          <p:cNvPicPr>
            <a:picLocks noChangeAspect="1"/>
          </p:cNvPicPr>
          <p:nvPr/>
        </p:nvPicPr>
        <p:blipFill>
          <a:blip r:embed="rId12"/>
          <a:stretch>
            <a:fillRect/>
          </a:stretch>
        </p:blipFill>
        <p:spPr>
          <a:xfrm>
            <a:off x="3321694" y="3849141"/>
            <a:ext cx="238125" cy="190500"/>
          </a:xfrm>
          <a:prstGeom prst="rect">
            <a:avLst/>
          </a:prstGeom>
        </p:spPr>
      </p:pic>
      <p:pic>
        <p:nvPicPr>
          <p:cNvPr id="26" name="Picture 25" descr="image.png"/>
          <p:cNvPicPr>
            <a:picLocks noChangeAspect="1"/>
          </p:cNvPicPr>
          <p:nvPr/>
        </p:nvPicPr>
        <p:blipFill>
          <a:blip r:embed="rId13"/>
          <a:stretch>
            <a:fillRect/>
          </a:stretch>
        </p:blipFill>
        <p:spPr>
          <a:xfrm>
            <a:off x="5125045" y="3849141"/>
            <a:ext cx="171450" cy="190500"/>
          </a:xfrm>
          <a:prstGeom prst="rect">
            <a:avLst/>
          </a:prstGeom>
        </p:spPr>
      </p:pic>
      <p:pic>
        <p:nvPicPr>
          <p:cNvPr id="27" name="Picture 26" descr="image.png"/>
          <p:cNvPicPr>
            <a:picLocks noChangeAspect="1"/>
          </p:cNvPicPr>
          <p:nvPr/>
        </p:nvPicPr>
        <p:blipFill>
          <a:blip r:embed="rId14"/>
          <a:stretch>
            <a:fillRect/>
          </a:stretch>
        </p:blipFill>
        <p:spPr>
          <a:xfrm>
            <a:off x="6885533" y="3849141"/>
            <a:ext cx="190500" cy="190500"/>
          </a:xfrm>
          <a:prstGeom prst="rect">
            <a:avLst/>
          </a:prstGeom>
        </p:spPr>
      </p:pic>
      <p:pic>
        <p:nvPicPr>
          <p:cNvPr id="28" name="Picture 27" descr="image.png"/>
          <p:cNvPicPr>
            <a:picLocks noChangeAspect="1"/>
          </p:cNvPicPr>
          <p:nvPr/>
        </p:nvPicPr>
        <p:blipFill>
          <a:blip r:embed="rId15"/>
          <a:stretch>
            <a:fillRect/>
          </a:stretch>
        </p:blipFill>
        <p:spPr>
          <a:xfrm>
            <a:off x="8679358" y="3849141"/>
            <a:ext cx="142875" cy="190500"/>
          </a:xfrm>
          <a:prstGeom prst="rect">
            <a:avLst/>
          </a:prstGeom>
        </p:spPr>
      </p:pic>
      <p:pic>
        <p:nvPicPr>
          <p:cNvPr id="29" name="Picture 28" descr="image.png"/>
          <p:cNvPicPr>
            <a:picLocks noChangeAspect="1"/>
          </p:cNvPicPr>
          <p:nvPr/>
        </p:nvPicPr>
        <p:blipFill>
          <a:blip r:embed="rId16"/>
          <a:stretch>
            <a:fillRect/>
          </a:stretch>
        </p:blipFill>
        <p:spPr>
          <a:xfrm>
            <a:off x="10425558" y="3849141"/>
            <a:ext cx="190500" cy="190500"/>
          </a:xfrm>
          <a:prstGeom prst="rect">
            <a:avLst/>
          </a:prstGeom>
        </p:spPr>
      </p:pic>
      <p:sp>
        <p:nvSpPr>
          <p:cNvPr id="30" name="TextBox 29"/>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31" name="TextBox 30"/>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In simple terms, our project tackles the inefficiency of manual cloud provisioning. When hundreds of users join an organization, configuring each account individually creates huge operational overhead. By grouping users, assigning group-level RBAC, and applying strict policies, we create a scalable cloud management workflow.</a:t>
            </a:r>
          </a:p>
        </p:txBody>
      </p:sp>
      <p:sp>
        <p:nvSpPr>
          <p:cNvPr id="32" name="TextBox 31"/>
          <p:cNvSpPr txBox="1"/>
          <p:nvPr/>
        </p:nvSpPr>
        <p:spPr>
          <a:xfrm>
            <a:off x="609600" y="457200"/>
            <a:ext cx="3048000" cy="161925"/>
          </a:xfrm>
          <a:prstGeom prst="rect">
            <a:avLst/>
          </a:prstGeom>
          <a:noFill/>
        </p:spPr>
        <p:txBody>
          <a:bodyPr wrap="none" lIns="0" rIns="0" tIns="0" bIns="0" anchor="t">
            <a:spAutoFit/>
          </a:bodyPr>
          <a:lstStyle/>
          <a:p>
            <a:pPr algn="l"/>
            <a:r>
              <a:rPr b="1" sz="1050" i="0" u="none">
                <a:solidFill>
                  <a:srgbClr val="0078D4"/>
                </a:solidFill>
                <a:latin typeface="Inter"/>
              </a:rPr>
              <a:t>INTRODUCTION</a:t>
            </a:r>
          </a:p>
        </p:txBody>
      </p:sp>
      <p:sp>
        <p:nvSpPr>
          <p:cNvPr id="33" name="TextBox 32"/>
          <p:cNvSpPr txBox="1"/>
          <p:nvPr/>
        </p:nvSpPr>
        <p:spPr>
          <a:xfrm>
            <a:off x="609600" y="619125"/>
            <a:ext cx="32004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Project Overview</a:t>
            </a:r>
          </a:p>
        </p:txBody>
      </p:sp>
      <p:sp>
        <p:nvSpPr>
          <p:cNvPr id="34" name="TextBox 33"/>
          <p:cNvSpPr txBox="1"/>
          <p:nvPr/>
        </p:nvSpPr>
        <p:spPr>
          <a:xfrm>
            <a:off x="809625" y="2191791"/>
            <a:ext cx="4108911" cy="200025"/>
          </a:xfrm>
          <a:prstGeom prst="rect">
            <a:avLst/>
          </a:prstGeom>
          <a:noFill/>
        </p:spPr>
        <p:txBody>
          <a:bodyPr wrap="none" lIns="219075" rIns="0" tIns="0" bIns="0" anchor="t">
            <a:spAutoFit/>
          </a:bodyPr>
          <a:lstStyle/>
          <a:p>
            <a:pPr algn="l"/>
            <a:r>
              <a:rPr b="1" sz="1350" i="0" u="none">
                <a:solidFill>
                  <a:srgbClr val="0078D4"/>
                </a:solidFill>
                <a:latin typeface="Inter"/>
              </a:rPr>
              <a:t>Identity &amp; Grouping</a:t>
            </a:r>
          </a:p>
        </p:txBody>
      </p:sp>
      <p:sp>
        <p:nvSpPr>
          <p:cNvPr id="35" name="TextBox 34"/>
          <p:cNvSpPr txBox="1"/>
          <p:nvPr/>
        </p:nvSpPr>
        <p:spPr>
          <a:xfrm>
            <a:off x="809625" y="2468016"/>
            <a:ext cx="3225849" cy="571500"/>
          </a:xfrm>
          <a:prstGeom prst="rect">
            <a:avLst/>
          </a:prstGeom>
          <a:noFill/>
        </p:spPr>
        <p:txBody>
          <a:bodyPr wrap="square" lIns="0" rIns="0" tIns="0" bIns="0" anchor="t">
            <a:spAutoFit/>
          </a:bodyPr>
          <a:lstStyle/>
          <a:p>
            <a:pPr algn="l"/>
            <a:r>
              <a:rPr b="0" sz="1200" i="0" u="none">
                <a:solidFill>
                  <a:srgbClr val="334155"/>
                </a:solidFill>
                <a:latin typeface="Inter"/>
              </a:rPr>
              <a:t>Existing user accounts are organized into logical groups based on common requirements.</a:t>
            </a:r>
          </a:p>
        </p:txBody>
      </p:sp>
      <p:sp>
        <p:nvSpPr>
          <p:cNvPr id="36" name="TextBox 35"/>
          <p:cNvSpPr txBox="1"/>
          <p:nvPr/>
        </p:nvSpPr>
        <p:spPr>
          <a:xfrm>
            <a:off x="4530774" y="2191791"/>
            <a:ext cx="4108911" cy="200025"/>
          </a:xfrm>
          <a:prstGeom prst="rect">
            <a:avLst/>
          </a:prstGeom>
          <a:noFill/>
        </p:spPr>
        <p:txBody>
          <a:bodyPr wrap="none" lIns="171450" rIns="0" tIns="0" bIns="0" anchor="t">
            <a:spAutoFit/>
          </a:bodyPr>
          <a:lstStyle/>
          <a:p>
            <a:pPr algn="l"/>
            <a:r>
              <a:rPr b="1" sz="1350" i="0" u="none">
                <a:solidFill>
                  <a:srgbClr val="0078D4"/>
                </a:solidFill>
                <a:latin typeface="Inter"/>
              </a:rPr>
              <a:t>Group-Level RBAC</a:t>
            </a:r>
          </a:p>
        </p:txBody>
      </p:sp>
      <p:sp>
        <p:nvSpPr>
          <p:cNvPr id="37" name="TextBox 36"/>
          <p:cNvSpPr txBox="1"/>
          <p:nvPr/>
        </p:nvSpPr>
        <p:spPr>
          <a:xfrm>
            <a:off x="4530774" y="2468016"/>
            <a:ext cx="3225849" cy="381000"/>
          </a:xfrm>
          <a:prstGeom prst="rect">
            <a:avLst/>
          </a:prstGeom>
          <a:noFill/>
        </p:spPr>
        <p:txBody>
          <a:bodyPr wrap="square" lIns="0" rIns="0" tIns="0" bIns="0" anchor="t">
            <a:spAutoFit/>
          </a:bodyPr>
          <a:lstStyle/>
          <a:p>
            <a:pPr algn="l"/>
            <a:r>
              <a:rPr b="0" sz="1200" i="0" u="none">
                <a:solidFill>
                  <a:srgbClr val="334155"/>
                </a:solidFill>
                <a:latin typeface="Inter"/>
              </a:rPr>
              <a:t>Role-based access permissions assigned at the group level instead of per user.</a:t>
            </a:r>
          </a:p>
        </p:txBody>
      </p:sp>
      <p:sp>
        <p:nvSpPr>
          <p:cNvPr id="38" name="TextBox 37"/>
          <p:cNvSpPr txBox="1"/>
          <p:nvPr/>
        </p:nvSpPr>
        <p:spPr>
          <a:xfrm>
            <a:off x="8251924" y="2191791"/>
            <a:ext cx="3940075" cy="200025"/>
          </a:xfrm>
          <a:prstGeom prst="rect">
            <a:avLst/>
          </a:prstGeom>
          <a:noFill/>
        </p:spPr>
        <p:txBody>
          <a:bodyPr wrap="none" lIns="190500" rIns="0" tIns="0" bIns="0" anchor="t">
            <a:spAutoFit/>
          </a:bodyPr>
          <a:lstStyle/>
          <a:p>
            <a:pPr algn="l"/>
            <a:r>
              <a:rPr b="1" sz="1350" i="0" u="none">
                <a:solidFill>
                  <a:srgbClr val="0078D4"/>
                </a:solidFill>
                <a:latin typeface="Inter"/>
              </a:rPr>
              <a:t>Provisioning &amp; Control</a:t>
            </a:r>
          </a:p>
        </p:txBody>
      </p:sp>
      <p:sp>
        <p:nvSpPr>
          <p:cNvPr id="39" name="TextBox 38"/>
          <p:cNvSpPr txBox="1"/>
          <p:nvPr/>
        </p:nvSpPr>
        <p:spPr>
          <a:xfrm>
            <a:off x="8251924" y="2468016"/>
            <a:ext cx="3225849" cy="571500"/>
          </a:xfrm>
          <a:prstGeom prst="rect">
            <a:avLst/>
          </a:prstGeom>
          <a:noFill/>
        </p:spPr>
        <p:txBody>
          <a:bodyPr wrap="square" lIns="0" rIns="0" tIns="0" bIns="0" anchor="t">
            <a:spAutoFit/>
          </a:bodyPr>
          <a:lstStyle/>
          <a:p>
            <a:pPr algn="l"/>
            <a:r>
              <a:rPr b="0" sz="1200" i="0" u="none">
                <a:solidFill>
                  <a:srgbClr val="334155"/>
                </a:solidFill>
                <a:latin typeface="Inter"/>
              </a:rPr>
              <a:t>Resources allocated safely with Azure Policy enforcement and Azure Budget alerts.</a:t>
            </a:r>
          </a:p>
        </p:txBody>
      </p:sp>
      <p:sp>
        <p:nvSpPr>
          <p:cNvPr id="40" name="TextBox 39"/>
          <p:cNvSpPr txBox="1"/>
          <p:nvPr/>
        </p:nvSpPr>
        <p:spPr>
          <a:xfrm>
            <a:off x="641951" y="4258716"/>
            <a:ext cx="2057734" cy="190500"/>
          </a:xfrm>
          <a:prstGeom prst="rect">
            <a:avLst/>
          </a:prstGeom>
          <a:noFill/>
        </p:spPr>
        <p:txBody>
          <a:bodyPr wrap="none" lIns="0" rIns="0" tIns="0" bIns="0" anchor="t">
            <a:spAutoFit/>
          </a:bodyPr>
          <a:lstStyle/>
          <a:p>
            <a:pPr algn="ctr"/>
            <a:r>
              <a:rPr b="1" sz="1200" i="0" u="none">
                <a:solidFill>
                  <a:srgbClr val="0F172A"/>
                </a:solidFill>
                <a:latin typeface="Inter"/>
              </a:rPr>
              <a:t>Existing Azure Users</a:t>
            </a:r>
          </a:p>
        </p:txBody>
      </p:sp>
      <p:sp>
        <p:nvSpPr>
          <p:cNvPr id="41" name="TextBox 40"/>
          <p:cNvSpPr txBox="1"/>
          <p:nvPr/>
        </p:nvSpPr>
        <p:spPr>
          <a:xfrm>
            <a:off x="2411964" y="4258716"/>
            <a:ext cx="2057734" cy="190500"/>
          </a:xfrm>
          <a:prstGeom prst="rect">
            <a:avLst/>
          </a:prstGeom>
          <a:noFill/>
        </p:spPr>
        <p:txBody>
          <a:bodyPr wrap="none" lIns="0" rIns="0" tIns="0" bIns="0" anchor="t">
            <a:spAutoFit/>
          </a:bodyPr>
          <a:lstStyle/>
          <a:p>
            <a:pPr algn="ctr"/>
            <a:r>
              <a:rPr b="1" sz="1200" i="0" u="none">
                <a:solidFill>
                  <a:srgbClr val="0F172A"/>
                </a:solidFill>
                <a:latin typeface="Inter"/>
              </a:rPr>
              <a:t>Grouping</a:t>
            </a:r>
          </a:p>
        </p:txBody>
      </p:sp>
      <p:sp>
        <p:nvSpPr>
          <p:cNvPr id="42" name="TextBox 41"/>
          <p:cNvSpPr txBox="1"/>
          <p:nvPr/>
        </p:nvSpPr>
        <p:spPr>
          <a:xfrm>
            <a:off x="4181977" y="4258716"/>
            <a:ext cx="2057734" cy="190500"/>
          </a:xfrm>
          <a:prstGeom prst="rect">
            <a:avLst/>
          </a:prstGeom>
          <a:noFill/>
        </p:spPr>
        <p:txBody>
          <a:bodyPr wrap="none" lIns="0" rIns="0" tIns="0" bIns="0" anchor="t">
            <a:spAutoFit/>
          </a:bodyPr>
          <a:lstStyle/>
          <a:p>
            <a:pPr algn="ctr"/>
            <a:r>
              <a:rPr b="1" sz="1200" i="0" u="none">
                <a:solidFill>
                  <a:srgbClr val="0F172A"/>
                </a:solidFill>
                <a:latin typeface="Inter"/>
              </a:rPr>
              <a:t>RBAC</a:t>
            </a:r>
          </a:p>
        </p:txBody>
      </p:sp>
      <p:sp>
        <p:nvSpPr>
          <p:cNvPr id="43" name="TextBox 42"/>
          <p:cNvSpPr txBox="1"/>
          <p:nvPr/>
        </p:nvSpPr>
        <p:spPr>
          <a:xfrm>
            <a:off x="5951990" y="4258716"/>
            <a:ext cx="2057734" cy="190500"/>
          </a:xfrm>
          <a:prstGeom prst="rect">
            <a:avLst/>
          </a:prstGeom>
          <a:noFill/>
        </p:spPr>
        <p:txBody>
          <a:bodyPr wrap="none" lIns="0" rIns="0" tIns="0" bIns="0" anchor="t">
            <a:spAutoFit/>
          </a:bodyPr>
          <a:lstStyle/>
          <a:p>
            <a:pPr algn="ctr"/>
            <a:r>
              <a:rPr b="1" sz="1200" i="0" u="none">
                <a:solidFill>
                  <a:srgbClr val="0F172A"/>
                </a:solidFill>
                <a:latin typeface="Inter"/>
              </a:rPr>
              <a:t>Provisioning</a:t>
            </a:r>
          </a:p>
        </p:txBody>
      </p:sp>
      <p:sp>
        <p:nvSpPr>
          <p:cNvPr id="44" name="TextBox 43"/>
          <p:cNvSpPr txBox="1"/>
          <p:nvPr/>
        </p:nvSpPr>
        <p:spPr>
          <a:xfrm>
            <a:off x="7722003" y="4258716"/>
            <a:ext cx="2057734" cy="190500"/>
          </a:xfrm>
          <a:prstGeom prst="rect">
            <a:avLst/>
          </a:prstGeom>
          <a:noFill/>
        </p:spPr>
        <p:txBody>
          <a:bodyPr wrap="none" lIns="0" rIns="0" tIns="0" bIns="0" anchor="t">
            <a:spAutoFit/>
          </a:bodyPr>
          <a:lstStyle/>
          <a:p>
            <a:pPr algn="ctr"/>
            <a:r>
              <a:rPr b="1" sz="1200" i="0" u="none">
                <a:solidFill>
                  <a:srgbClr val="0F172A"/>
                </a:solidFill>
                <a:latin typeface="Inter"/>
              </a:rPr>
              <a:t>Governance</a:t>
            </a:r>
          </a:p>
        </p:txBody>
      </p:sp>
      <p:sp>
        <p:nvSpPr>
          <p:cNvPr id="45" name="TextBox 44"/>
          <p:cNvSpPr txBox="1"/>
          <p:nvPr/>
        </p:nvSpPr>
        <p:spPr>
          <a:xfrm>
            <a:off x="9492015" y="4258716"/>
            <a:ext cx="2057734" cy="190500"/>
          </a:xfrm>
          <a:prstGeom prst="rect">
            <a:avLst/>
          </a:prstGeom>
          <a:noFill/>
        </p:spPr>
        <p:txBody>
          <a:bodyPr wrap="none" lIns="0" rIns="0" tIns="0" bIns="0" anchor="t">
            <a:spAutoFit/>
          </a:bodyPr>
          <a:lstStyle/>
          <a:p>
            <a:pPr algn="ctr"/>
            <a:r>
              <a:rPr b="1" sz="1200" i="0" u="none">
                <a:solidFill>
                  <a:srgbClr val="0F172A"/>
                </a:solidFill>
                <a:latin typeface="Inter"/>
              </a:rPr>
              <a:t>Cost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6381750"/>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600325"/>
            <a:ext cx="10972800" cy="3629025"/>
          </a:xfrm>
          <a:prstGeom prst="roundRect">
            <a:avLst>
              <a:gd name="adj" fmla="val 3149"/>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6381750"/>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47725" y="3152775"/>
            <a:ext cx="10496550" cy="400050"/>
          </a:xfrm>
          <a:prstGeom prst="roundRect">
            <a:avLst>
              <a:gd name="adj" fmla="val 1904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7725" y="3971925"/>
            <a:ext cx="10496550" cy="400050"/>
          </a:xfrm>
          <a:prstGeom prst="roundRect">
            <a:avLst>
              <a:gd name="adj" fmla="val 19047"/>
            </a:avLst>
          </a:prstGeom>
          <a:solidFill>
            <a:srgbClr val="FEF2F2"/>
          </a:solidFill>
          <a:ln w="9525">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7725" y="4791075"/>
            <a:ext cx="10496550" cy="400050"/>
          </a:xfrm>
          <a:prstGeom prst="roundRect">
            <a:avLst>
              <a:gd name="adj" fmla="val 19047"/>
            </a:avLst>
          </a:prstGeom>
          <a:solidFill>
            <a:srgbClr val="FEF2F2"/>
          </a:solidFill>
          <a:ln w="9525">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47725" y="5610225"/>
            <a:ext cx="10496550" cy="381000"/>
          </a:xfrm>
          <a:prstGeom prst="roundRect">
            <a:avLst>
              <a:gd name="adj" fmla="val 20000"/>
            </a:avLst>
          </a:prstGeom>
          <a:solidFill>
            <a:srgbClr val="7F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11239500" y="538162"/>
            <a:ext cx="342900" cy="342900"/>
          </a:xfrm>
          <a:prstGeom prst="rect">
            <a:avLst/>
          </a:prstGeom>
        </p:spPr>
      </p:pic>
      <p:pic>
        <p:nvPicPr>
          <p:cNvPr id="10" name="Picture 9" descr="image.png"/>
          <p:cNvPicPr>
            <a:picLocks noChangeAspect="1"/>
          </p:cNvPicPr>
          <p:nvPr/>
        </p:nvPicPr>
        <p:blipFill>
          <a:blip r:embed="rId3"/>
          <a:stretch>
            <a:fillRect/>
          </a:stretch>
        </p:blipFill>
        <p:spPr>
          <a:xfrm>
            <a:off x="800100" y="6491287"/>
            <a:ext cx="112514" cy="123825"/>
          </a:xfrm>
          <a:prstGeom prst="rect">
            <a:avLst/>
          </a:prstGeom>
        </p:spPr>
      </p:pic>
      <p:pic>
        <p:nvPicPr>
          <p:cNvPr id="11" name="Picture 10" descr="image.png"/>
          <p:cNvPicPr>
            <a:picLocks noChangeAspect="1"/>
          </p:cNvPicPr>
          <p:nvPr/>
        </p:nvPicPr>
        <p:blipFill>
          <a:blip r:embed="rId4"/>
          <a:stretch>
            <a:fillRect/>
          </a:stretch>
        </p:blipFill>
        <p:spPr>
          <a:xfrm>
            <a:off x="5057775" y="3276600"/>
            <a:ext cx="190500" cy="152400"/>
          </a:xfrm>
          <a:prstGeom prst="rect">
            <a:avLst/>
          </a:prstGeom>
        </p:spPr>
      </p:pic>
      <p:pic>
        <p:nvPicPr>
          <p:cNvPr id="12" name="Picture 11" descr="image.png"/>
          <p:cNvPicPr>
            <a:picLocks noChangeAspect="1"/>
          </p:cNvPicPr>
          <p:nvPr/>
        </p:nvPicPr>
        <p:blipFill>
          <a:blip r:embed="rId5"/>
          <a:stretch>
            <a:fillRect/>
          </a:stretch>
        </p:blipFill>
        <p:spPr>
          <a:xfrm>
            <a:off x="6038850" y="3686175"/>
            <a:ext cx="114300" cy="152400"/>
          </a:xfrm>
          <a:prstGeom prst="rect">
            <a:avLst/>
          </a:prstGeom>
        </p:spPr>
      </p:pic>
      <p:pic>
        <p:nvPicPr>
          <p:cNvPr id="13" name="Picture 12" descr="image.png"/>
          <p:cNvPicPr>
            <a:picLocks noChangeAspect="1"/>
          </p:cNvPicPr>
          <p:nvPr/>
        </p:nvPicPr>
        <p:blipFill>
          <a:blip r:embed="rId6"/>
          <a:stretch>
            <a:fillRect/>
          </a:stretch>
        </p:blipFill>
        <p:spPr>
          <a:xfrm>
            <a:off x="4848225" y="4095750"/>
            <a:ext cx="133350" cy="152400"/>
          </a:xfrm>
          <a:prstGeom prst="rect">
            <a:avLst/>
          </a:prstGeom>
        </p:spPr>
      </p:pic>
      <p:pic>
        <p:nvPicPr>
          <p:cNvPr id="14" name="Picture 13" descr="image.png"/>
          <p:cNvPicPr>
            <a:picLocks noChangeAspect="1"/>
          </p:cNvPicPr>
          <p:nvPr/>
        </p:nvPicPr>
        <p:blipFill>
          <a:blip r:embed="rId5"/>
          <a:stretch>
            <a:fillRect/>
          </a:stretch>
        </p:blipFill>
        <p:spPr>
          <a:xfrm>
            <a:off x="6038850" y="4505325"/>
            <a:ext cx="114300" cy="152400"/>
          </a:xfrm>
          <a:prstGeom prst="rect">
            <a:avLst/>
          </a:prstGeom>
        </p:spPr>
      </p:pic>
      <p:pic>
        <p:nvPicPr>
          <p:cNvPr id="15" name="Picture 14" descr="image.png"/>
          <p:cNvPicPr>
            <a:picLocks noChangeAspect="1"/>
          </p:cNvPicPr>
          <p:nvPr/>
        </p:nvPicPr>
        <p:blipFill>
          <a:blip r:embed="rId7"/>
          <a:stretch>
            <a:fillRect/>
          </a:stretch>
        </p:blipFill>
        <p:spPr>
          <a:xfrm>
            <a:off x="4500562" y="4914900"/>
            <a:ext cx="152400" cy="152400"/>
          </a:xfrm>
          <a:prstGeom prst="rect">
            <a:avLst/>
          </a:prstGeom>
        </p:spPr>
      </p:pic>
      <p:pic>
        <p:nvPicPr>
          <p:cNvPr id="16" name="Picture 15" descr="image.png"/>
          <p:cNvPicPr>
            <a:picLocks noChangeAspect="1"/>
          </p:cNvPicPr>
          <p:nvPr/>
        </p:nvPicPr>
        <p:blipFill>
          <a:blip r:embed="rId5"/>
          <a:stretch>
            <a:fillRect/>
          </a:stretch>
        </p:blipFill>
        <p:spPr>
          <a:xfrm>
            <a:off x="6038850" y="5324475"/>
            <a:ext cx="114300" cy="152400"/>
          </a:xfrm>
          <a:prstGeom prst="rect">
            <a:avLst/>
          </a:prstGeom>
        </p:spPr>
      </p:pic>
      <p:pic>
        <p:nvPicPr>
          <p:cNvPr id="17" name="Picture 16" descr="image.png"/>
          <p:cNvPicPr>
            <a:picLocks noChangeAspect="1"/>
          </p:cNvPicPr>
          <p:nvPr/>
        </p:nvPicPr>
        <p:blipFill>
          <a:blip r:embed="rId8"/>
          <a:stretch>
            <a:fillRect/>
          </a:stretch>
        </p:blipFill>
        <p:spPr>
          <a:xfrm>
            <a:off x="4738687" y="5724525"/>
            <a:ext cx="152400" cy="152400"/>
          </a:xfrm>
          <a:prstGeom prst="rect">
            <a:avLst/>
          </a:prstGeom>
        </p:spPr>
      </p:pic>
      <p:pic>
        <p:nvPicPr>
          <p:cNvPr id="18" name="Picture 17" descr="image.png"/>
          <p:cNvPicPr>
            <a:picLocks noChangeAspect="1"/>
          </p:cNvPicPr>
          <p:nvPr/>
        </p:nvPicPr>
        <p:blipFill>
          <a:blip r:embed="rId9"/>
          <a:stretch>
            <a:fillRect/>
          </a:stretch>
        </p:blipFill>
        <p:spPr>
          <a:xfrm>
            <a:off x="609600" y="1185862"/>
            <a:ext cx="171450" cy="180975"/>
          </a:xfrm>
          <a:prstGeom prst="rect">
            <a:avLst/>
          </a:prstGeom>
        </p:spPr>
      </p:pic>
      <p:pic>
        <p:nvPicPr>
          <p:cNvPr id="19" name="Picture 18" descr="image.png"/>
          <p:cNvPicPr>
            <a:picLocks noChangeAspect="1"/>
          </p:cNvPicPr>
          <p:nvPr/>
        </p:nvPicPr>
        <p:blipFill>
          <a:blip r:embed="rId9"/>
          <a:stretch>
            <a:fillRect/>
          </a:stretch>
        </p:blipFill>
        <p:spPr>
          <a:xfrm>
            <a:off x="609600" y="1509712"/>
            <a:ext cx="171450" cy="180975"/>
          </a:xfrm>
          <a:prstGeom prst="rect">
            <a:avLst/>
          </a:prstGeom>
        </p:spPr>
      </p:pic>
      <p:pic>
        <p:nvPicPr>
          <p:cNvPr id="20" name="Picture 19" descr="image.png"/>
          <p:cNvPicPr>
            <a:picLocks noChangeAspect="1"/>
          </p:cNvPicPr>
          <p:nvPr/>
        </p:nvPicPr>
        <p:blipFill>
          <a:blip r:embed="rId9"/>
          <a:stretch>
            <a:fillRect/>
          </a:stretch>
        </p:blipFill>
        <p:spPr>
          <a:xfrm>
            <a:off x="609600" y="1833562"/>
            <a:ext cx="171450" cy="180975"/>
          </a:xfrm>
          <a:prstGeom prst="rect">
            <a:avLst/>
          </a:prstGeom>
        </p:spPr>
      </p:pic>
      <p:pic>
        <p:nvPicPr>
          <p:cNvPr id="21" name="Picture 20" descr="image.png"/>
          <p:cNvPicPr>
            <a:picLocks noChangeAspect="1"/>
          </p:cNvPicPr>
          <p:nvPr/>
        </p:nvPicPr>
        <p:blipFill>
          <a:blip r:embed="rId9"/>
          <a:stretch>
            <a:fillRect/>
          </a:stretch>
        </p:blipFill>
        <p:spPr>
          <a:xfrm>
            <a:off x="609600" y="2157412"/>
            <a:ext cx="171450" cy="180975"/>
          </a:xfrm>
          <a:prstGeom prst="rect">
            <a:avLst/>
          </a:prstGeom>
        </p:spPr>
      </p:pic>
      <p:sp>
        <p:nvSpPr>
          <p:cNvPr id="22" name="TextBox 21"/>
          <p:cNvSpPr txBox="1"/>
          <p:nvPr/>
        </p:nvSpPr>
        <p:spPr>
          <a:xfrm>
            <a:off x="969764" y="6477000"/>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23" name="TextBox 22"/>
          <p:cNvSpPr txBox="1"/>
          <p:nvPr/>
        </p:nvSpPr>
        <p:spPr>
          <a:xfrm>
            <a:off x="800100" y="6648450"/>
            <a:ext cx="10725150" cy="209550"/>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As organizations scale, administrators spend hundreds of hours doing repetitive tasks. Assigning permissions user-by-user is prone to misconfigurations, leads to role bloat, and makes it difficult to maintain strict cost boundaries across development teams.</a:t>
            </a:r>
          </a:p>
        </p:txBody>
      </p:sp>
      <p:sp>
        <p:nvSpPr>
          <p:cNvPr id="24" name="TextBox 23"/>
          <p:cNvSpPr txBox="1"/>
          <p:nvPr/>
        </p:nvSpPr>
        <p:spPr>
          <a:xfrm>
            <a:off x="609600" y="457200"/>
            <a:ext cx="3405187" cy="161925"/>
          </a:xfrm>
          <a:prstGeom prst="rect">
            <a:avLst/>
          </a:prstGeom>
          <a:noFill/>
        </p:spPr>
        <p:txBody>
          <a:bodyPr wrap="none" lIns="0" rIns="0" tIns="0" bIns="0" anchor="t">
            <a:spAutoFit/>
          </a:bodyPr>
          <a:lstStyle/>
          <a:p>
            <a:pPr algn="l"/>
            <a:r>
              <a:rPr b="1" sz="1050" i="0" u="none">
                <a:solidFill>
                  <a:srgbClr val="0078D4"/>
                </a:solidFill>
                <a:latin typeface="Inter"/>
              </a:rPr>
              <a:t>CHALLENGES</a:t>
            </a:r>
          </a:p>
        </p:txBody>
      </p:sp>
      <p:sp>
        <p:nvSpPr>
          <p:cNvPr id="25" name="TextBox 24"/>
          <p:cNvSpPr txBox="1"/>
          <p:nvPr/>
        </p:nvSpPr>
        <p:spPr>
          <a:xfrm>
            <a:off x="609600" y="619125"/>
            <a:ext cx="3575446"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Problem Statement</a:t>
            </a:r>
          </a:p>
        </p:txBody>
      </p:sp>
      <p:sp>
        <p:nvSpPr>
          <p:cNvPr id="26" name="TextBox 25"/>
          <p:cNvSpPr txBox="1"/>
          <p:nvPr/>
        </p:nvSpPr>
        <p:spPr>
          <a:xfrm>
            <a:off x="-232171" y="2838450"/>
            <a:ext cx="12656343" cy="161925"/>
          </a:xfrm>
          <a:prstGeom prst="rect">
            <a:avLst/>
          </a:prstGeom>
          <a:noFill/>
        </p:spPr>
        <p:txBody>
          <a:bodyPr wrap="none" lIns="0" rIns="0" tIns="0" bIns="0" anchor="t">
            <a:spAutoFit/>
          </a:bodyPr>
          <a:lstStyle/>
          <a:p>
            <a:pPr algn="ctr"/>
            <a:r>
              <a:rPr b="1" sz="1050" i="0" u="none">
                <a:solidFill>
                  <a:srgbClr val="64748B"/>
                </a:solidFill>
                <a:latin typeface="Inter"/>
              </a:rPr>
              <a:t>TRADITIONAL ADMINISTRATIVE FLOW</a:t>
            </a:r>
          </a:p>
        </p:txBody>
      </p:sp>
      <p:sp>
        <p:nvSpPr>
          <p:cNvPr id="27" name="TextBox 26"/>
          <p:cNvSpPr txBox="1"/>
          <p:nvPr/>
        </p:nvSpPr>
        <p:spPr>
          <a:xfrm>
            <a:off x="-184546" y="3248025"/>
            <a:ext cx="12561093" cy="209550"/>
          </a:xfrm>
          <a:prstGeom prst="rect">
            <a:avLst/>
          </a:prstGeom>
          <a:noFill/>
        </p:spPr>
        <p:txBody>
          <a:bodyPr wrap="square" lIns="0" rIns="0" tIns="0" bIns="0" anchor="t">
            <a:spAutoFit/>
          </a:bodyPr>
          <a:lstStyle/>
          <a:p>
            <a:pPr algn="ctr"/>
            <a:r>
              <a:rPr b="1" sz="1200" i="0" u="none">
                <a:solidFill>
                  <a:srgbClr val="0F172A"/>
                </a:solidFill>
                <a:latin typeface="Inter"/>
              </a:rPr>
              <a:t>Multiple Individual Users</a:t>
            </a:r>
          </a:p>
        </p:txBody>
      </p:sp>
      <p:sp>
        <p:nvSpPr>
          <p:cNvPr id="28" name="TextBox 27"/>
          <p:cNvSpPr txBox="1"/>
          <p:nvPr/>
        </p:nvSpPr>
        <p:spPr>
          <a:xfrm>
            <a:off x="-184546" y="4067175"/>
            <a:ext cx="12561093" cy="209550"/>
          </a:xfrm>
          <a:prstGeom prst="rect">
            <a:avLst/>
          </a:prstGeom>
          <a:noFill/>
        </p:spPr>
        <p:txBody>
          <a:bodyPr wrap="square" lIns="0" rIns="0" tIns="0" bIns="0" anchor="t">
            <a:spAutoFit/>
          </a:bodyPr>
          <a:lstStyle/>
          <a:p>
            <a:pPr algn="ctr"/>
            <a:r>
              <a:rPr b="1" sz="1200" i="0" u="none">
                <a:solidFill>
                  <a:srgbClr val="991B1B"/>
                </a:solidFill>
                <a:latin typeface="Inter"/>
              </a:rPr>
              <a:t>Manual Per-User Configuration</a:t>
            </a:r>
          </a:p>
        </p:txBody>
      </p:sp>
      <p:sp>
        <p:nvSpPr>
          <p:cNvPr id="29" name="TextBox 28"/>
          <p:cNvSpPr txBox="1"/>
          <p:nvPr/>
        </p:nvSpPr>
        <p:spPr>
          <a:xfrm>
            <a:off x="-184546" y="4886325"/>
            <a:ext cx="12561093" cy="209550"/>
          </a:xfrm>
          <a:prstGeom prst="rect">
            <a:avLst/>
          </a:prstGeom>
          <a:noFill/>
        </p:spPr>
        <p:txBody>
          <a:bodyPr wrap="square" lIns="0" rIns="0" tIns="0" bIns="0" anchor="t">
            <a:spAutoFit/>
          </a:bodyPr>
          <a:lstStyle/>
          <a:p>
            <a:pPr algn="ctr"/>
            <a:r>
              <a:rPr b="1" sz="1200" i="0" u="none">
                <a:solidFill>
                  <a:srgbClr val="991B1B"/>
                </a:solidFill>
                <a:latin typeface="Inter"/>
              </a:rPr>
              <a:t>Repeated Access &amp; Resource Allocation</a:t>
            </a:r>
          </a:p>
        </p:txBody>
      </p:sp>
      <p:sp>
        <p:nvSpPr>
          <p:cNvPr id="30" name="TextBox 29"/>
          <p:cNvSpPr txBox="1"/>
          <p:nvPr/>
        </p:nvSpPr>
        <p:spPr>
          <a:xfrm>
            <a:off x="-184546" y="5705475"/>
            <a:ext cx="12561093" cy="190500"/>
          </a:xfrm>
          <a:prstGeom prst="rect">
            <a:avLst/>
          </a:prstGeom>
          <a:noFill/>
        </p:spPr>
        <p:txBody>
          <a:bodyPr wrap="square" lIns="0" rIns="0" tIns="0" bIns="0" anchor="t">
            <a:spAutoFit/>
          </a:bodyPr>
          <a:lstStyle/>
          <a:p>
            <a:pPr algn="ctr"/>
            <a:r>
              <a:rPr b="1" sz="1200" i="0" u="none">
                <a:solidFill>
                  <a:srgbClr val="FFFFFF"/>
                </a:solidFill>
                <a:latin typeface="Inter"/>
              </a:rPr>
              <a:t>High Administrative Effort &amp; Cost</a:t>
            </a:r>
          </a:p>
        </p:txBody>
      </p:sp>
      <p:sp>
        <p:nvSpPr>
          <p:cNvPr id="31" name="TextBox 30"/>
          <p:cNvSpPr txBox="1"/>
          <p:nvPr/>
        </p:nvSpPr>
        <p:spPr>
          <a:xfrm>
            <a:off x="876300" y="1152525"/>
            <a:ext cx="11315700" cy="209550"/>
          </a:xfrm>
          <a:prstGeom prst="rect">
            <a:avLst/>
          </a:prstGeom>
          <a:noFill/>
        </p:spPr>
        <p:txBody>
          <a:bodyPr wrap="none" lIns="0" rIns="0" tIns="0" bIns="0" anchor="t">
            <a:spAutoFit/>
          </a:bodyPr>
          <a:lstStyle/>
          <a:p>
            <a:pPr algn="l"/>
            <a:r>
              <a:rPr b="1" sz="1350" i="0" u="none">
                <a:solidFill>
                  <a:srgbClr val="EF4444"/>
                </a:solidFill>
                <a:latin typeface="Inter"/>
              </a:rPr>
              <a:t>Manual Configuration:</a:t>
            </a:r>
            <a:r>
              <a:rPr b="1" sz="1350" i="0" u="none">
                <a:solidFill>
                  <a:srgbClr val="EF4444"/>
                </a:solidFill>
                <a:latin typeface="Inter"/>
              </a:rPr>
              <a:t> Setting up permissions individually for every single user.</a:t>
            </a:r>
          </a:p>
        </p:txBody>
      </p:sp>
      <p:sp>
        <p:nvSpPr>
          <p:cNvPr id="32" name="TextBox 31"/>
          <p:cNvSpPr txBox="1"/>
          <p:nvPr/>
        </p:nvSpPr>
        <p:spPr>
          <a:xfrm>
            <a:off x="876300" y="1476375"/>
            <a:ext cx="11315700" cy="209550"/>
          </a:xfrm>
          <a:prstGeom prst="rect">
            <a:avLst/>
          </a:prstGeom>
          <a:noFill/>
        </p:spPr>
        <p:txBody>
          <a:bodyPr wrap="none" lIns="0" rIns="0" tIns="0" bIns="0" anchor="t">
            <a:spAutoFit/>
          </a:bodyPr>
          <a:lstStyle/>
          <a:p>
            <a:pPr algn="l"/>
            <a:r>
              <a:rPr b="1" sz="1350" i="0" u="none">
                <a:solidFill>
                  <a:srgbClr val="EF4444"/>
                </a:solidFill>
                <a:latin typeface="Inter"/>
              </a:rPr>
              <a:t>Repetitive Effort:</a:t>
            </a:r>
            <a:r>
              <a:rPr b="1" sz="1350" i="0" u="none">
                <a:solidFill>
                  <a:srgbClr val="EF4444"/>
                </a:solidFill>
                <a:latin typeface="Inter"/>
              </a:rPr>
              <a:t> Assigning identical RBAC roles over and over again.</a:t>
            </a:r>
          </a:p>
        </p:txBody>
      </p:sp>
      <p:sp>
        <p:nvSpPr>
          <p:cNvPr id="33" name="TextBox 32"/>
          <p:cNvSpPr txBox="1"/>
          <p:nvPr/>
        </p:nvSpPr>
        <p:spPr>
          <a:xfrm>
            <a:off x="876300" y="1800225"/>
            <a:ext cx="11315700" cy="209550"/>
          </a:xfrm>
          <a:prstGeom prst="rect">
            <a:avLst/>
          </a:prstGeom>
          <a:noFill/>
        </p:spPr>
        <p:txBody>
          <a:bodyPr wrap="none" lIns="0" rIns="0" tIns="0" bIns="0" anchor="t">
            <a:spAutoFit/>
          </a:bodyPr>
          <a:lstStyle/>
          <a:p>
            <a:pPr algn="l"/>
            <a:r>
              <a:rPr b="1" sz="1350" i="0" u="none">
                <a:solidFill>
                  <a:srgbClr val="EF4444"/>
                </a:solidFill>
                <a:latin typeface="Inter"/>
              </a:rPr>
              <a:t>Inconsistent Access:</a:t>
            </a:r>
            <a:r>
              <a:rPr b="1" sz="1350" i="0" u="none">
                <a:solidFill>
                  <a:srgbClr val="EF4444"/>
                </a:solidFill>
                <a:latin typeface="Inter"/>
              </a:rPr>
              <a:t> High risk of human error leading to security drift.</a:t>
            </a:r>
          </a:p>
        </p:txBody>
      </p:sp>
      <p:sp>
        <p:nvSpPr>
          <p:cNvPr id="34" name="TextBox 33"/>
          <p:cNvSpPr txBox="1"/>
          <p:nvPr/>
        </p:nvSpPr>
        <p:spPr>
          <a:xfrm>
            <a:off x="876300" y="2124075"/>
            <a:ext cx="11315700" cy="209550"/>
          </a:xfrm>
          <a:prstGeom prst="rect">
            <a:avLst/>
          </a:prstGeom>
          <a:noFill/>
        </p:spPr>
        <p:txBody>
          <a:bodyPr wrap="none" lIns="0" rIns="0" tIns="0" bIns="0" anchor="t">
            <a:spAutoFit/>
          </a:bodyPr>
          <a:lstStyle/>
          <a:p>
            <a:pPr algn="l"/>
            <a:r>
              <a:rPr b="1" sz="1350" i="0" u="none">
                <a:solidFill>
                  <a:srgbClr val="EF4444"/>
                </a:solidFill>
                <a:latin typeface="Inter"/>
              </a:rPr>
              <a:t>Lack of Centralized Governance:</a:t>
            </a:r>
            <a:r>
              <a:rPr b="1" sz="1350" i="0" u="none">
                <a:solidFill>
                  <a:srgbClr val="EF4444"/>
                </a:solidFill>
                <a:latin typeface="Inter"/>
              </a:rPr>
              <a:t> Unmonitored resources causing cloud cost spikes.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125116"/>
            <a:ext cx="10972800" cy="533400"/>
          </a:xfrm>
          <a:prstGeom prst="roundRect">
            <a:avLst>
              <a:gd name="adj" fmla="val 17857"/>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2849016"/>
            <a:ext cx="1558974" cy="638175"/>
          </a:xfrm>
          <a:prstGeom prst="roundRect">
            <a:avLst>
              <a:gd name="adj" fmla="val 1194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92424" y="2849016"/>
            <a:ext cx="1558974" cy="638175"/>
          </a:xfrm>
          <a:prstGeom prst="roundRect">
            <a:avLst>
              <a:gd name="adj" fmla="val 1194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75249" y="2849016"/>
            <a:ext cx="1558974" cy="638175"/>
          </a:xfrm>
          <a:prstGeom prst="roundRect">
            <a:avLst>
              <a:gd name="adj" fmla="val 1194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8073" y="2849016"/>
            <a:ext cx="1558974" cy="638175"/>
          </a:xfrm>
          <a:prstGeom prst="roundRect">
            <a:avLst>
              <a:gd name="adj" fmla="val 1194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140898" y="2849016"/>
            <a:ext cx="1558974" cy="638175"/>
          </a:xfrm>
          <a:prstGeom prst="roundRect">
            <a:avLst>
              <a:gd name="adj" fmla="val 1194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23723" y="2849016"/>
            <a:ext cx="1558974" cy="638175"/>
          </a:xfrm>
          <a:prstGeom prst="roundRect">
            <a:avLst>
              <a:gd name="adj" fmla="val 1194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3677691"/>
            <a:ext cx="3555950" cy="876300"/>
          </a:xfrm>
          <a:prstGeom prst="roundRect">
            <a:avLst>
              <a:gd name="adj" fmla="val 1086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17950" y="3677691"/>
            <a:ext cx="3555950" cy="876300"/>
          </a:xfrm>
          <a:prstGeom prst="roundRect">
            <a:avLst>
              <a:gd name="adj" fmla="val 1086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26300" y="3677691"/>
            <a:ext cx="3555950" cy="876300"/>
          </a:xfrm>
          <a:prstGeom prst="roundRect">
            <a:avLst>
              <a:gd name="adj" fmla="val 1086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11325225" y="538162"/>
            <a:ext cx="257175" cy="342900"/>
          </a:xfrm>
          <a:prstGeom prst="rect">
            <a:avLst/>
          </a:prstGeom>
        </p:spPr>
      </p:pic>
      <p:pic>
        <p:nvPicPr>
          <p:cNvPr id="15" name="Picture 14" descr="image.png"/>
          <p:cNvPicPr>
            <a:picLocks noChangeAspect="1"/>
          </p:cNvPicPr>
          <p:nvPr/>
        </p:nvPicPr>
        <p:blipFill>
          <a:blip r:embed="rId3"/>
          <a:stretch>
            <a:fillRect/>
          </a:stretch>
        </p:blipFill>
        <p:spPr>
          <a:xfrm>
            <a:off x="2282874" y="3091904"/>
            <a:ext cx="95250" cy="152400"/>
          </a:xfrm>
          <a:prstGeom prst="rect">
            <a:avLst/>
          </a:prstGeom>
        </p:spPr>
      </p:pic>
      <p:pic>
        <p:nvPicPr>
          <p:cNvPr id="16" name="Picture 15" descr="image.png"/>
          <p:cNvPicPr>
            <a:picLocks noChangeAspect="1"/>
          </p:cNvPicPr>
          <p:nvPr/>
        </p:nvPicPr>
        <p:blipFill>
          <a:blip r:embed="rId4"/>
          <a:stretch>
            <a:fillRect/>
          </a:stretch>
        </p:blipFill>
        <p:spPr>
          <a:xfrm>
            <a:off x="4165699" y="3091904"/>
            <a:ext cx="95250" cy="152400"/>
          </a:xfrm>
          <a:prstGeom prst="rect">
            <a:avLst/>
          </a:prstGeom>
        </p:spPr>
      </p:pic>
      <p:pic>
        <p:nvPicPr>
          <p:cNvPr id="17" name="Picture 16" descr="image.png"/>
          <p:cNvPicPr>
            <a:picLocks noChangeAspect="1"/>
          </p:cNvPicPr>
          <p:nvPr/>
        </p:nvPicPr>
        <p:blipFill>
          <a:blip r:embed="rId4"/>
          <a:stretch>
            <a:fillRect/>
          </a:stretch>
        </p:blipFill>
        <p:spPr>
          <a:xfrm>
            <a:off x="6048523" y="3091904"/>
            <a:ext cx="95250" cy="152400"/>
          </a:xfrm>
          <a:prstGeom prst="rect">
            <a:avLst/>
          </a:prstGeom>
        </p:spPr>
      </p:pic>
      <p:pic>
        <p:nvPicPr>
          <p:cNvPr id="18" name="Picture 17" descr="image.png"/>
          <p:cNvPicPr>
            <a:picLocks noChangeAspect="1"/>
          </p:cNvPicPr>
          <p:nvPr/>
        </p:nvPicPr>
        <p:blipFill>
          <a:blip r:embed="rId3"/>
          <a:stretch>
            <a:fillRect/>
          </a:stretch>
        </p:blipFill>
        <p:spPr>
          <a:xfrm>
            <a:off x="7931348" y="3091904"/>
            <a:ext cx="95250" cy="152400"/>
          </a:xfrm>
          <a:prstGeom prst="rect">
            <a:avLst/>
          </a:prstGeom>
        </p:spPr>
      </p:pic>
      <p:pic>
        <p:nvPicPr>
          <p:cNvPr id="19" name="Picture 18" descr="image.png"/>
          <p:cNvPicPr>
            <a:picLocks noChangeAspect="1"/>
          </p:cNvPicPr>
          <p:nvPr/>
        </p:nvPicPr>
        <p:blipFill>
          <a:blip r:embed="rId4"/>
          <a:stretch>
            <a:fillRect/>
          </a:stretch>
        </p:blipFill>
        <p:spPr>
          <a:xfrm>
            <a:off x="9814173" y="3091904"/>
            <a:ext cx="95250" cy="152400"/>
          </a:xfrm>
          <a:prstGeom prst="rect">
            <a:avLst/>
          </a:prstGeom>
        </p:spPr>
      </p:pic>
      <p:pic>
        <p:nvPicPr>
          <p:cNvPr id="20" name="Picture 19" descr="image.png"/>
          <p:cNvPicPr>
            <a:picLocks noChangeAspect="1"/>
          </p:cNvPicPr>
          <p:nvPr/>
        </p:nvPicPr>
        <p:blipFill>
          <a:blip r:embed="rId5"/>
          <a:stretch>
            <a:fillRect/>
          </a:stretch>
        </p:blipFill>
        <p:spPr>
          <a:xfrm>
            <a:off x="800100" y="5788521"/>
            <a:ext cx="112514" cy="123825"/>
          </a:xfrm>
          <a:prstGeom prst="rect">
            <a:avLst/>
          </a:prstGeom>
        </p:spPr>
      </p:pic>
      <p:pic>
        <p:nvPicPr>
          <p:cNvPr id="21" name="Picture 20" descr="image.png"/>
          <p:cNvPicPr>
            <a:picLocks noChangeAspect="1"/>
          </p:cNvPicPr>
          <p:nvPr/>
        </p:nvPicPr>
        <p:blipFill>
          <a:blip r:embed="rId6"/>
          <a:stretch>
            <a:fillRect/>
          </a:stretch>
        </p:blipFill>
        <p:spPr>
          <a:xfrm>
            <a:off x="1269950" y="2972841"/>
            <a:ext cx="238125" cy="190500"/>
          </a:xfrm>
          <a:prstGeom prst="rect">
            <a:avLst/>
          </a:prstGeom>
        </p:spPr>
      </p:pic>
      <p:pic>
        <p:nvPicPr>
          <p:cNvPr id="22" name="Picture 21" descr="image.png"/>
          <p:cNvPicPr>
            <a:picLocks noChangeAspect="1"/>
          </p:cNvPicPr>
          <p:nvPr/>
        </p:nvPicPr>
        <p:blipFill>
          <a:blip r:embed="rId7"/>
          <a:stretch>
            <a:fillRect/>
          </a:stretch>
        </p:blipFill>
        <p:spPr>
          <a:xfrm>
            <a:off x="3152775" y="2972841"/>
            <a:ext cx="238125" cy="190500"/>
          </a:xfrm>
          <a:prstGeom prst="rect">
            <a:avLst/>
          </a:prstGeom>
        </p:spPr>
      </p:pic>
      <p:pic>
        <p:nvPicPr>
          <p:cNvPr id="23" name="Picture 22" descr="image.png"/>
          <p:cNvPicPr>
            <a:picLocks noChangeAspect="1"/>
          </p:cNvPicPr>
          <p:nvPr/>
        </p:nvPicPr>
        <p:blipFill>
          <a:blip r:embed="rId8"/>
          <a:stretch>
            <a:fillRect/>
          </a:stretch>
        </p:blipFill>
        <p:spPr>
          <a:xfrm>
            <a:off x="5059412" y="2972841"/>
            <a:ext cx="190500" cy="190500"/>
          </a:xfrm>
          <a:prstGeom prst="rect">
            <a:avLst/>
          </a:prstGeom>
        </p:spPr>
      </p:pic>
      <p:pic>
        <p:nvPicPr>
          <p:cNvPr id="24" name="Picture 23" descr="image.png"/>
          <p:cNvPicPr>
            <a:picLocks noChangeAspect="1"/>
          </p:cNvPicPr>
          <p:nvPr/>
        </p:nvPicPr>
        <p:blipFill>
          <a:blip r:embed="rId9"/>
          <a:stretch>
            <a:fillRect/>
          </a:stretch>
        </p:blipFill>
        <p:spPr>
          <a:xfrm>
            <a:off x="6927949" y="2972841"/>
            <a:ext cx="219075" cy="190500"/>
          </a:xfrm>
          <a:prstGeom prst="rect">
            <a:avLst/>
          </a:prstGeom>
        </p:spPr>
      </p:pic>
      <p:pic>
        <p:nvPicPr>
          <p:cNvPr id="25" name="Picture 24" descr="image.png"/>
          <p:cNvPicPr>
            <a:picLocks noChangeAspect="1"/>
          </p:cNvPicPr>
          <p:nvPr/>
        </p:nvPicPr>
        <p:blipFill>
          <a:blip r:embed="rId10"/>
          <a:stretch>
            <a:fillRect/>
          </a:stretch>
        </p:blipFill>
        <p:spPr>
          <a:xfrm>
            <a:off x="8834586" y="2972841"/>
            <a:ext cx="171450" cy="190500"/>
          </a:xfrm>
          <a:prstGeom prst="rect">
            <a:avLst/>
          </a:prstGeom>
        </p:spPr>
      </p:pic>
      <p:pic>
        <p:nvPicPr>
          <p:cNvPr id="26" name="Picture 25" descr="image.png"/>
          <p:cNvPicPr>
            <a:picLocks noChangeAspect="1"/>
          </p:cNvPicPr>
          <p:nvPr/>
        </p:nvPicPr>
        <p:blipFill>
          <a:blip r:embed="rId11"/>
          <a:stretch>
            <a:fillRect/>
          </a:stretch>
        </p:blipFill>
        <p:spPr>
          <a:xfrm>
            <a:off x="10707885" y="2972841"/>
            <a:ext cx="190500" cy="190500"/>
          </a:xfrm>
          <a:prstGeom prst="rect">
            <a:avLst/>
          </a:prstGeom>
        </p:spPr>
      </p:pic>
      <p:pic>
        <p:nvPicPr>
          <p:cNvPr id="27" name="Picture 26" descr="image.png"/>
          <p:cNvPicPr>
            <a:picLocks noChangeAspect="1"/>
          </p:cNvPicPr>
          <p:nvPr/>
        </p:nvPicPr>
        <p:blipFill>
          <a:blip r:embed="rId12"/>
          <a:stretch>
            <a:fillRect/>
          </a:stretch>
        </p:blipFill>
        <p:spPr>
          <a:xfrm>
            <a:off x="771525" y="3858666"/>
            <a:ext cx="152400" cy="152400"/>
          </a:xfrm>
          <a:prstGeom prst="rect">
            <a:avLst/>
          </a:prstGeom>
        </p:spPr>
      </p:pic>
      <p:pic>
        <p:nvPicPr>
          <p:cNvPr id="28" name="Picture 27" descr="image.png"/>
          <p:cNvPicPr>
            <a:picLocks noChangeAspect="1"/>
          </p:cNvPicPr>
          <p:nvPr/>
        </p:nvPicPr>
        <p:blipFill>
          <a:blip r:embed="rId12"/>
          <a:stretch>
            <a:fillRect/>
          </a:stretch>
        </p:blipFill>
        <p:spPr>
          <a:xfrm>
            <a:off x="4479875" y="3858666"/>
            <a:ext cx="152400" cy="152400"/>
          </a:xfrm>
          <a:prstGeom prst="rect">
            <a:avLst/>
          </a:prstGeom>
        </p:spPr>
      </p:pic>
      <p:pic>
        <p:nvPicPr>
          <p:cNvPr id="29" name="Picture 28" descr="image.png"/>
          <p:cNvPicPr>
            <a:picLocks noChangeAspect="1"/>
          </p:cNvPicPr>
          <p:nvPr/>
        </p:nvPicPr>
        <p:blipFill>
          <a:blip r:embed="rId12"/>
          <a:stretch>
            <a:fillRect/>
          </a:stretch>
        </p:blipFill>
        <p:spPr>
          <a:xfrm>
            <a:off x="8188225" y="3858666"/>
            <a:ext cx="152400" cy="152400"/>
          </a:xfrm>
          <a:prstGeom prst="rect">
            <a:avLst/>
          </a:prstGeom>
        </p:spPr>
      </p:pic>
      <p:sp>
        <p:nvSpPr>
          <p:cNvPr id="30" name="TextBox 29"/>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31" name="TextBox 30"/>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Our proposed solution introduces group-based onboarding. When a user is added to a specific Entra group, they automatically inherit the RBAC roles associated with that group's dedicated Azure Resource Group. This eliminates manual permission mapping.</a:t>
            </a:r>
          </a:p>
        </p:txBody>
      </p:sp>
      <p:sp>
        <p:nvSpPr>
          <p:cNvPr id="32" name="TextBox 31"/>
          <p:cNvSpPr txBox="1"/>
          <p:nvPr/>
        </p:nvSpPr>
        <p:spPr>
          <a:xfrm>
            <a:off x="609600" y="457200"/>
            <a:ext cx="3274218" cy="161925"/>
          </a:xfrm>
          <a:prstGeom prst="rect">
            <a:avLst/>
          </a:prstGeom>
          <a:noFill/>
        </p:spPr>
        <p:txBody>
          <a:bodyPr wrap="none" lIns="0" rIns="0" tIns="0" bIns="0" anchor="t">
            <a:spAutoFit/>
          </a:bodyPr>
          <a:lstStyle/>
          <a:p>
            <a:pPr algn="l"/>
            <a:r>
              <a:rPr b="1" sz="1050" i="0" u="none">
                <a:solidFill>
                  <a:srgbClr val="0078D4"/>
                </a:solidFill>
                <a:latin typeface="Inter"/>
              </a:rPr>
              <a:t>ARCHITECTURE STRATEGY</a:t>
            </a:r>
          </a:p>
        </p:txBody>
      </p:sp>
      <p:sp>
        <p:nvSpPr>
          <p:cNvPr id="33" name="TextBox 32"/>
          <p:cNvSpPr txBox="1"/>
          <p:nvPr/>
        </p:nvSpPr>
        <p:spPr>
          <a:xfrm>
            <a:off x="609600" y="619125"/>
            <a:ext cx="3437929"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Proposed Solution</a:t>
            </a:r>
          </a:p>
        </p:txBody>
      </p:sp>
      <p:sp>
        <p:nvSpPr>
          <p:cNvPr id="34" name="TextBox 33"/>
          <p:cNvSpPr txBox="1"/>
          <p:nvPr/>
        </p:nvSpPr>
        <p:spPr>
          <a:xfrm>
            <a:off x="-238125" y="2277516"/>
            <a:ext cx="12668250" cy="228600"/>
          </a:xfrm>
          <a:prstGeom prst="rect">
            <a:avLst/>
          </a:prstGeom>
          <a:noFill/>
        </p:spPr>
        <p:txBody>
          <a:bodyPr wrap="none" lIns="0" rIns="0" tIns="0" bIns="0" anchor="t">
            <a:spAutoFit/>
          </a:bodyPr>
          <a:lstStyle/>
          <a:p>
            <a:pPr algn="ctr"/>
            <a:r>
              <a:rPr b="1" sz="1500" i="0" u="none">
                <a:solidFill>
                  <a:srgbClr val="FFFFFF"/>
                </a:solidFill>
                <a:latin typeface="Inter"/>
              </a:rPr>
              <a:t>"Manage similar users as a group instead of configuring every user individually."</a:t>
            </a:r>
          </a:p>
        </p:txBody>
      </p:sp>
      <p:sp>
        <p:nvSpPr>
          <p:cNvPr id="35" name="TextBox 34"/>
          <p:cNvSpPr txBox="1"/>
          <p:nvPr/>
        </p:nvSpPr>
        <p:spPr>
          <a:xfrm>
            <a:off x="569509" y="3201441"/>
            <a:ext cx="1639155" cy="161925"/>
          </a:xfrm>
          <a:prstGeom prst="rect">
            <a:avLst/>
          </a:prstGeom>
          <a:noFill/>
        </p:spPr>
        <p:txBody>
          <a:bodyPr wrap="none" lIns="0" rIns="0" tIns="0" bIns="0" anchor="t">
            <a:spAutoFit/>
          </a:bodyPr>
          <a:lstStyle/>
          <a:p>
            <a:pPr algn="ctr"/>
            <a:r>
              <a:rPr b="1" sz="1050" i="0" u="none">
                <a:solidFill>
                  <a:srgbClr val="1E293B"/>
                </a:solidFill>
                <a:latin typeface="Inter"/>
              </a:rPr>
              <a:t>User Onboard</a:t>
            </a:r>
          </a:p>
        </p:txBody>
      </p:sp>
      <p:sp>
        <p:nvSpPr>
          <p:cNvPr id="36" name="TextBox 35"/>
          <p:cNvSpPr txBox="1"/>
          <p:nvPr/>
        </p:nvSpPr>
        <p:spPr>
          <a:xfrm>
            <a:off x="2452334" y="3201441"/>
            <a:ext cx="1639155" cy="161925"/>
          </a:xfrm>
          <a:prstGeom prst="rect">
            <a:avLst/>
          </a:prstGeom>
          <a:noFill/>
        </p:spPr>
        <p:txBody>
          <a:bodyPr wrap="none" lIns="0" rIns="0" tIns="0" bIns="0" anchor="t">
            <a:spAutoFit/>
          </a:bodyPr>
          <a:lstStyle/>
          <a:p>
            <a:pPr algn="ctr"/>
            <a:r>
              <a:rPr b="1" sz="1050" i="0" u="none">
                <a:solidFill>
                  <a:srgbClr val="1E293B"/>
                </a:solidFill>
                <a:latin typeface="Inter"/>
              </a:rPr>
              <a:t>Group Assignment</a:t>
            </a:r>
          </a:p>
        </p:txBody>
      </p:sp>
      <p:sp>
        <p:nvSpPr>
          <p:cNvPr id="37" name="TextBox 36"/>
          <p:cNvSpPr txBox="1"/>
          <p:nvPr/>
        </p:nvSpPr>
        <p:spPr>
          <a:xfrm>
            <a:off x="4335158" y="3201441"/>
            <a:ext cx="1639155" cy="161925"/>
          </a:xfrm>
          <a:prstGeom prst="rect">
            <a:avLst/>
          </a:prstGeom>
          <a:noFill/>
        </p:spPr>
        <p:txBody>
          <a:bodyPr wrap="none" lIns="0" rIns="0" tIns="0" bIns="0" anchor="t">
            <a:spAutoFit/>
          </a:bodyPr>
          <a:lstStyle/>
          <a:p>
            <a:pPr algn="ctr"/>
            <a:r>
              <a:rPr b="1" sz="1050" i="0" u="none">
                <a:solidFill>
                  <a:srgbClr val="1E293B"/>
                </a:solidFill>
                <a:latin typeface="Inter"/>
              </a:rPr>
              <a:t>Group RBAC</a:t>
            </a:r>
          </a:p>
        </p:txBody>
      </p:sp>
      <p:sp>
        <p:nvSpPr>
          <p:cNvPr id="38" name="TextBox 37"/>
          <p:cNvSpPr txBox="1"/>
          <p:nvPr/>
        </p:nvSpPr>
        <p:spPr>
          <a:xfrm>
            <a:off x="6217983" y="3201441"/>
            <a:ext cx="1639155" cy="161925"/>
          </a:xfrm>
          <a:prstGeom prst="rect">
            <a:avLst/>
          </a:prstGeom>
          <a:noFill/>
        </p:spPr>
        <p:txBody>
          <a:bodyPr wrap="none" lIns="0" rIns="0" tIns="0" bIns="0" anchor="t">
            <a:spAutoFit/>
          </a:bodyPr>
          <a:lstStyle/>
          <a:p>
            <a:pPr algn="ctr"/>
            <a:r>
              <a:rPr b="1" sz="1050" i="0" u="none">
                <a:solidFill>
                  <a:srgbClr val="1E293B"/>
                </a:solidFill>
                <a:latin typeface="Inter"/>
              </a:rPr>
              <a:t>Resource Group</a:t>
            </a:r>
          </a:p>
        </p:txBody>
      </p:sp>
      <p:sp>
        <p:nvSpPr>
          <p:cNvPr id="39" name="TextBox 38"/>
          <p:cNvSpPr txBox="1"/>
          <p:nvPr/>
        </p:nvSpPr>
        <p:spPr>
          <a:xfrm>
            <a:off x="8100807" y="3201441"/>
            <a:ext cx="1639155" cy="161925"/>
          </a:xfrm>
          <a:prstGeom prst="rect">
            <a:avLst/>
          </a:prstGeom>
          <a:noFill/>
        </p:spPr>
        <p:txBody>
          <a:bodyPr wrap="none" lIns="0" rIns="0" tIns="0" bIns="0" anchor="t">
            <a:spAutoFit/>
          </a:bodyPr>
          <a:lstStyle/>
          <a:p>
            <a:pPr algn="ctr"/>
            <a:r>
              <a:rPr b="1" sz="1050" i="0" u="none">
                <a:solidFill>
                  <a:srgbClr val="1E293B"/>
                </a:solidFill>
                <a:latin typeface="Inter"/>
              </a:rPr>
              <a:t>Resource Provision</a:t>
            </a:r>
          </a:p>
        </p:txBody>
      </p:sp>
      <p:sp>
        <p:nvSpPr>
          <p:cNvPr id="40" name="TextBox 39"/>
          <p:cNvSpPr txBox="1"/>
          <p:nvPr/>
        </p:nvSpPr>
        <p:spPr>
          <a:xfrm>
            <a:off x="9983632" y="3201441"/>
            <a:ext cx="1639155" cy="161925"/>
          </a:xfrm>
          <a:prstGeom prst="rect">
            <a:avLst/>
          </a:prstGeom>
          <a:noFill/>
        </p:spPr>
        <p:txBody>
          <a:bodyPr wrap="none" lIns="0" rIns="0" tIns="0" bIns="0" anchor="t">
            <a:spAutoFit/>
          </a:bodyPr>
          <a:lstStyle/>
          <a:p>
            <a:pPr algn="ctr"/>
            <a:r>
              <a:rPr b="1" sz="1050" i="0" u="none">
                <a:solidFill>
                  <a:srgbClr val="1E293B"/>
                </a:solidFill>
                <a:latin typeface="Inter"/>
              </a:rPr>
              <a:t>Policy &amp; Budget</a:t>
            </a:r>
          </a:p>
        </p:txBody>
      </p:sp>
      <p:sp>
        <p:nvSpPr>
          <p:cNvPr id="41" name="TextBox 40"/>
          <p:cNvSpPr txBox="1"/>
          <p:nvPr/>
        </p:nvSpPr>
        <p:spPr>
          <a:xfrm>
            <a:off x="771525" y="3839616"/>
            <a:ext cx="4040125" cy="190500"/>
          </a:xfrm>
          <a:prstGeom prst="rect">
            <a:avLst/>
          </a:prstGeom>
          <a:noFill/>
        </p:spPr>
        <p:txBody>
          <a:bodyPr wrap="none" lIns="152400" rIns="0" tIns="0" bIns="0" anchor="t">
            <a:spAutoFit/>
          </a:bodyPr>
          <a:lstStyle/>
          <a:p>
            <a:pPr algn="l"/>
            <a:r>
              <a:rPr b="1" sz="1200" i="0" u="none">
                <a:solidFill>
                  <a:srgbClr val="0F172A"/>
                </a:solidFill>
                <a:latin typeface="Inter"/>
              </a:rPr>
              <a:t>Centralized Access</a:t>
            </a:r>
          </a:p>
        </p:txBody>
      </p:sp>
      <p:sp>
        <p:nvSpPr>
          <p:cNvPr id="42" name="TextBox 41"/>
          <p:cNvSpPr txBox="1"/>
          <p:nvPr/>
        </p:nvSpPr>
        <p:spPr>
          <a:xfrm>
            <a:off x="771525" y="4068216"/>
            <a:ext cx="3327350" cy="323850"/>
          </a:xfrm>
          <a:prstGeom prst="rect">
            <a:avLst/>
          </a:prstGeom>
          <a:noFill/>
        </p:spPr>
        <p:txBody>
          <a:bodyPr wrap="square" lIns="0" rIns="0" tIns="0" bIns="0" anchor="t">
            <a:spAutoFit/>
          </a:bodyPr>
          <a:lstStyle/>
          <a:p>
            <a:pPr algn="l"/>
            <a:r>
              <a:rPr b="0" sz="1050" i="0" u="none">
                <a:solidFill>
                  <a:srgbClr val="475569"/>
                </a:solidFill>
                <a:latin typeface="Inter"/>
              </a:rPr>
              <a:t>Manage thousands of identities from unified Entra ID security groups.</a:t>
            </a:r>
          </a:p>
        </p:txBody>
      </p:sp>
      <p:sp>
        <p:nvSpPr>
          <p:cNvPr id="43" name="TextBox 42"/>
          <p:cNvSpPr txBox="1"/>
          <p:nvPr/>
        </p:nvSpPr>
        <p:spPr>
          <a:xfrm>
            <a:off x="4479875" y="3839616"/>
            <a:ext cx="4040125" cy="190500"/>
          </a:xfrm>
          <a:prstGeom prst="rect">
            <a:avLst/>
          </a:prstGeom>
          <a:noFill/>
        </p:spPr>
        <p:txBody>
          <a:bodyPr wrap="none" lIns="152400" rIns="0" tIns="0" bIns="0" anchor="t">
            <a:spAutoFit/>
          </a:bodyPr>
          <a:lstStyle/>
          <a:p>
            <a:pPr algn="l"/>
            <a:r>
              <a:rPr b="1" sz="1200" i="0" u="none">
                <a:solidFill>
                  <a:srgbClr val="0F172A"/>
                </a:solidFill>
                <a:latin typeface="Inter"/>
              </a:rPr>
              <a:t>Consistent Roles</a:t>
            </a:r>
          </a:p>
        </p:txBody>
      </p:sp>
      <p:sp>
        <p:nvSpPr>
          <p:cNvPr id="44" name="TextBox 43"/>
          <p:cNvSpPr txBox="1"/>
          <p:nvPr/>
        </p:nvSpPr>
        <p:spPr>
          <a:xfrm>
            <a:off x="4479875" y="4068216"/>
            <a:ext cx="3327350" cy="323850"/>
          </a:xfrm>
          <a:prstGeom prst="rect">
            <a:avLst/>
          </a:prstGeom>
          <a:noFill/>
        </p:spPr>
        <p:txBody>
          <a:bodyPr wrap="square" lIns="0" rIns="0" tIns="0" bIns="0" anchor="t">
            <a:spAutoFit/>
          </a:bodyPr>
          <a:lstStyle/>
          <a:p>
            <a:pPr algn="l"/>
            <a:r>
              <a:rPr b="0" sz="1050" i="0" u="none">
                <a:solidFill>
                  <a:srgbClr val="475569"/>
                </a:solidFill>
                <a:latin typeface="Inter"/>
              </a:rPr>
              <a:t>Eliminates permission creep by enforcing standardized role bindings.</a:t>
            </a:r>
          </a:p>
        </p:txBody>
      </p:sp>
      <p:sp>
        <p:nvSpPr>
          <p:cNvPr id="45" name="TextBox 44"/>
          <p:cNvSpPr txBox="1"/>
          <p:nvPr/>
        </p:nvSpPr>
        <p:spPr>
          <a:xfrm>
            <a:off x="8188225" y="3839616"/>
            <a:ext cx="4003774" cy="190500"/>
          </a:xfrm>
          <a:prstGeom prst="rect">
            <a:avLst/>
          </a:prstGeom>
          <a:noFill/>
        </p:spPr>
        <p:txBody>
          <a:bodyPr wrap="none" lIns="152400" rIns="0" tIns="0" bIns="0" anchor="t">
            <a:spAutoFit/>
          </a:bodyPr>
          <a:lstStyle/>
          <a:p>
            <a:pPr algn="l"/>
            <a:r>
              <a:rPr b="1" sz="1200" i="0" u="none">
                <a:solidFill>
                  <a:srgbClr val="0F172A"/>
                </a:solidFill>
                <a:latin typeface="Inter"/>
              </a:rPr>
              <a:t>Governance &amp; Budget</a:t>
            </a:r>
          </a:p>
        </p:txBody>
      </p:sp>
      <p:sp>
        <p:nvSpPr>
          <p:cNvPr id="46" name="TextBox 45"/>
          <p:cNvSpPr txBox="1"/>
          <p:nvPr/>
        </p:nvSpPr>
        <p:spPr>
          <a:xfrm>
            <a:off x="8188225" y="4068216"/>
            <a:ext cx="3327350" cy="323850"/>
          </a:xfrm>
          <a:prstGeom prst="rect">
            <a:avLst/>
          </a:prstGeom>
          <a:noFill/>
        </p:spPr>
        <p:txBody>
          <a:bodyPr wrap="square" lIns="0" rIns="0" tIns="0" bIns="0" anchor="t">
            <a:spAutoFit/>
          </a:bodyPr>
          <a:lstStyle/>
          <a:p>
            <a:pPr algn="l"/>
            <a:r>
              <a:rPr b="0" sz="1050" i="0" u="none">
                <a:solidFill>
                  <a:srgbClr val="475569"/>
                </a:solidFill>
                <a:latin typeface="Inter"/>
              </a:rPr>
              <a:t>Automated compliance checks and proactive cost alert thresholds.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606379"/>
            <a:ext cx="10972800" cy="419100"/>
          </a:xfrm>
          <a:prstGeom prst="roundRect">
            <a:avLst>
              <a:gd name="adj" fmla="val 1818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1653629"/>
            <a:ext cx="3555950" cy="1323975"/>
          </a:xfrm>
          <a:prstGeom prst="roundRect">
            <a:avLst>
              <a:gd name="adj" fmla="val 719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17950" y="1653629"/>
            <a:ext cx="3555950" cy="1323975"/>
          </a:xfrm>
          <a:prstGeom prst="roundRect">
            <a:avLst>
              <a:gd name="adj" fmla="val 719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26300" y="1653629"/>
            <a:ext cx="3555950" cy="1323975"/>
          </a:xfrm>
          <a:prstGeom prst="roundRect">
            <a:avLst>
              <a:gd name="adj" fmla="val 719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3130004"/>
            <a:ext cx="5410200" cy="1323975"/>
          </a:xfrm>
          <a:prstGeom prst="roundRect">
            <a:avLst>
              <a:gd name="adj" fmla="val 719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72200" y="3130004"/>
            <a:ext cx="5410200" cy="1323975"/>
          </a:xfrm>
          <a:prstGeom prst="roundRect">
            <a:avLst>
              <a:gd name="adj" fmla="val 719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625" y="1853654"/>
            <a:ext cx="819150"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17975" y="1853654"/>
            <a:ext cx="838200"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6325" y="1853654"/>
            <a:ext cx="838200"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625" y="3330029"/>
            <a:ext cx="847725"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72225" y="3330029"/>
            <a:ext cx="1419225" cy="209550"/>
          </a:xfrm>
          <a:prstGeom prst="roundRect">
            <a:avLst>
              <a:gd name="adj" fmla="val 18181"/>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11191875" y="538162"/>
            <a:ext cx="390525" cy="342900"/>
          </a:xfrm>
          <a:prstGeom prst="rect">
            <a:avLst/>
          </a:prstGeom>
        </p:spPr>
      </p:pic>
      <p:pic>
        <p:nvPicPr>
          <p:cNvPr id="16" name="Picture 15" descr="image.png"/>
          <p:cNvPicPr>
            <a:picLocks noChangeAspect="1"/>
          </p:cNvPicPr>
          <p:nvPr/>
        </p:nvPicPr>
        <p:blipFill>
          <a:blip r:embed="rId3"/>
          <a:stretch>
            <a:fillRect/>
          </a:stretch>
        </p:blipFill>
        <p:spPr>
          <a:xfrm>
            <a:off x="800100" y="5788521"/>
            <a:ext cx="112514" cy="123825"/>
          </a:xfrm>
          <a:prstGeom prst="rect">
            <a:avLst/>
          </a:prstGeom>
        </p:spPr>
      </p:pic>
      <p:sp>
        <p:nvSpPr>
          <p:cNvPr id="17" name="TextBox 16"/>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18" name="TextBox 17"/>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Here are 5 key practical scenarios where our solution applies. Whether onboarding developers, QA testers, or department teams, organizing users into functional groups ensures predictable access and automated governance.</a:t>
            </a:r>
          </a:p>
        </p:txBody>
      </p:sp>
      <p:sp>
        <p:nvSpPr>
          <p:cNvPr id="19" name="TextBox 18"/>
          <p:cNvSpPr txBox="1"/>
          <p:nvPr/>
        </p:nvSpPr>
        <p:spPr>
          <a:xfrm>
            <a:off x="609600" y="457200"/>
            <a:ext cx="3083718" cy="161925"/>
          </a:xfrm>
          <a:prstGeom prst="rect">
            <a:avLst/>
          </a:prstGeom>
          <a:noFill/>
        </p:spPr>
        <p:txBody>
          <a:bodyPr wrap="none" lIns="0" rIns="0" tIns="0" bIns="0" anchor="t">
            <a:spAutoFit/>
          </a:bodyPr>
          <a:lstStyle/>
          <a:p>
            <a:pPr algn="l"/>
            <a:r>
              <a:rPr b="1" sz="1050" i="0" u="none">
                <a:solidFill>
                  <a:srgbClr val="0078D4"/>
                </a:solidFill>
                <a:latin typeface="Inter"/>
              </a:rPr>
              <a:t>PRACTICAL APPLICATIONS</a:t>
            </a:r>
          </a:p>
        </p:txBody>
      </p:sp>
      <p:sp>
        <p:nvSpPr>
          <p:cNvPr id="20" name="TextBox 19"/>
          <p:cNvSpPr txBox="1"/>
          <p:nvPr/>
        </p:nvSpPr>
        <p:spPr>
          <a:xfrm>
            <a:off x="609600" y="619125"/>
            <a:ext cx="3237904"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Target Use Cases</a:t>
            </a:r>
          </a:p>
        </p:txBody>
      </p:sp>
      <p:sp>
        <p:nvSpPr>
          <p:cNvPr id="21" name="TextBox 20"/>
          <p:cNvSpPr txBox="1"/>
          <p:nvPr/>
        </p:nvSpPr>
        <p:spPr>
          <a:xfrm>
            <a:off x="1541412" y="4725441"/>
            <a:ext cx="4226718" cy="180975"/>
          </a:xfrm>
          <a:prstGeom prst="rect">
            <a:avLst/>
          </a:prstGeom>
          <a:noFill/>
        </p:spPr>
        <p:txBody>
          <a:bodyPr wrap="none" lIns="0" rIns="0" tIns="0" bIns="0" anchor="t">
            <a:spAutoFit/>
          </a:bodyPr>
          <a:lstStyle/>
          <a:p>
            <a:pPr algn="l"/>
            <a:r>
              <a:rPr b="1" sz="1125" i="0" u="none">
                <a:solidFill>
                  <a:srgbClr val="0F172A"/>
                </a:solidFill>
                <a:latin typeface="Inter"/>
              </a:rPr>
              <a:t>Dev Users → Dev Group → Dev Storage Account</a:t>
            </a:r>
          </a:p>
        </p:txBody>
      </p:sp>
      <p:sp>
        <p:nvSpPr>
          <p:cNvPr id="22" name="TextBox 21"/>
          <p:cNvSpPr txBox="1"/>
          <p:nvPr/>
        </p:nvSpPr>
        <p:spPr>
          <a:xfrm>
            <a:off x="6405413" y="4720679"/>
            <a:ext cx="333375" cy="190500"/>
          </a:xfrm>
          <a:prstGeom prst="rect">
            <a:avLst/>
          </a:prstGeom>
          <a:noFill/>
        </p:spPr>
        <p:txBody>
          <a:bodyPr wrap="none" lIns="0" rIns="0" tIns="0" bIns="0" anchor="t">
            <a:spAutoFit/>
          </a:bodyPr>
          <a:lstStyle/>
          <a:p>
            <a:pPr algn="l"/>
            <a:r>
              <a:rPr b="0" sz="1200" i="0" u="none">
                <a:solidFill>
                  <a:srgbClr val="0F172A"/>
                </a:solidFill>
                <a:latin typeface="Inter"/>
              </a:rPr>
              <a:t>|</a:t>
            </a:r>
          </a:p>
        </p:txBody>
      </p:sp>
      <p:sp>
        <p:nvSpPr>
          <p:cNvPr id="23" name="TextBox 22"/>
          <p:cNvSpPr txBox="1"/>
          <p:nvPr/>
        </p:nvSpPr>
        <p:spPr>
          <a:xfrm>
            <a:off x="7935664" y="4725441"/>
            <a:ext cx="3393281" cy="180975"/>
          </a:xfrm>
          <a:prstGeom prst="rect">
            <a:avLst/>
          </a:prstGeom>
          <a:noFill/>
        </p:spPr>
        <p:txBody>
          <a:bodyPr wrap="none" lIns="0" rIns="0" tIns="0" bIns="0" anchor="t">
            <a:spAutoFit/>
          </a:bodyPr>
          <a:lstStyle/>
          <a:p>
            <a:pPr algn="l"/>
            <a:r>
              <a:rPr b="1" sz="1125" i="0" u="none">
                <a:solidFill>
                  <a:srgbClr val="0F172A"/>
                </a:solidFill>
                <a:latin typeface="Inter"/>
              </a:rPr>
              <a:t>QA Users → Testing Group → Test VMs</a:t>
            </a:r>
          </a:p>
        </p:txBody>
      </p:sp>
      <p:sp>
        <p:nvSpPr>
          <p:cNvPr id="24" name="TextBox 23"/>
          <p:cNvSpPr txBox="1"/>
          <p:nvPr/>
        </p:nvSpPr>
        <p:spPr>
          <a:xfrm>
            <a:off x="885825" y="1882229"/>
            <a:ext cx="762000" cy="152400"/>
          </a:xfrm>
          <a:prstGeom prst="rect">
            <a:avLst/>
          </a:prstGeom>
          <a:noFill/>
        </p:spPr>
        <p:txBody>
          <a:bodyPr wrap="square" lIns="0" rIns="0" tIns="0" bIns="0" anchor="t">
            <a:spAutoFit/>
          </a:bodyPr>
          <a:lstStyle/>
          <a:p>
            <a:pPr algn="l"/>
            <a:r>
              <a:rPr b="1" sz="975" i="0" u="none">
                <a:solidFill>
                  <a:srgbClr val="166534"/>
                </a:solidFill>
                <a:latin typeface="Inter"/>
              </a:rPr>
              <a:t>Use Case 1</a:t>
            </a:r>
          </a:p>
        </p:txBody>
      </p:sp>
      <p:sp>
        <p:nvSpPr>
          <p:cNvPr id="25" name="TextBox 24"/>
          <p:cNvSpPr txBox="1"/>
          <p:nvPr/>
        </p:nvSpPr>
        <p:spPr>
          <a:xfrm>
            <a:off x="809625" y="2139404"/>
            <a:ext cx="4142119" cy="200025"/>
          </a:xfrm>
          <a:prstGeom prst="rect">
            <a:avLst/>
          </a:prstGeom>
          <a:noFill/>
        </p:spPr>
        <p:txBody>
          <a:bodyPr wrap="none" lIns="0" rIns="0" tIns="0" bIns="0" anchor="t">
            <a:spAutoFit/>
          </a:bodyPr>
          <a:lstStyle/>
          <a:p>
            <a:pPr algn="l"/>
            <a:r>
              <a:rPr b="1" sz="1350" i="0" u="none">
                <a:solidFill>
                  <a:srgbClr val="0F172A"/>
                </a:solidFill>
                <a:latin typeface="Inter"/>
              </a:rPr>
              <a:t>Dev Team Onboarding</a:t>
            </a:r>
          </a:p>
        </p:txBody>
      </p:sp>
      <p:sp>
        <p:nvSpPr>
          <p:cNvPr id="26" name="TextBox 25"/>
          <p:cNvSpPr txBox="1"/>
          <p:nvPr/>
        </p:nvSpPr>
        <p:spPr>
          <a:xfrm>
            <a:off x="809625" y="2415629"/>
            <a:ext cx="3251150" cy="361950"/>
          </a:xfrm>
          <a:prstGeom prst="rect">
            <a:avLst/>
          </a:prstGeom>
          <a:noFill/>
        </p:spPr>
        <p:txBody>
          <a:bodyPr wrap="square" lIns="0" rIns="0" tIns="0" bIns="0" anchor="t">
            <a:spAutoFit/>
          </a:bodyPr>
          <a:lstStyle/>
          <a:p>
            <a:pPr algn="l"/>
            <a:r>
              <a:rPr b="0" sz="1125" i="0" u="none">
                <a:solidFill>
                  <a:srgbClr val="475569"/>
                </a:solidFill>
                <a:latin typeface="Inter"/>
              </a:rPr>
              <a:t>Developers requiring identical cloud compute and storage resources.</a:t>
            </a:r>
          </a:p>
        </p:txBody>
      </p:sp>
      <p:sp>
        <p:nvSpPr>
          <p:cNvPr id="27" name="TextBox 26"/>
          <p:cNvSpPr txBox="1"/>
          <p:nvPr/>
        </p:nvSpPr>
        <p:spPr>
          <a:xfrm>
            <a:off x="4594175" y="1882229"/>
            <a:ext cx="781050" cy="152400"/>
          </a:xfrm>
          <a:prstGeom prst="rect">
            <a:avLst/>
          </a:prstGeom>
          <a:noFill/>
        </p:spPr>
        <p:txBody>
          <a:bodyPr wrap="square" lIns="0" rIns="0" tIns="0" bIns="0" anchor="t">
            <a:spAutoFit/>
          </a:bodyPr>
          <a:lstStyle/>
          <a:p>
            <a:pPr algn="l"/>
            <a:r>
              <a:rPr b="1" sz="975" i="0" u="none">
                <a:solidFill>
                  <a:srgbClr val="166534"/>
                </a:solidFill>
                <a:latin typeface="Inter"/>
              </a:rPr>
              <a:t>Use Case 2</a:t>
            </a:r>
          </a:p>
        </p:txBody>
      </p:sp>
      <p:sp>
        <p:nvSpPr>
          <p:cNvPr id="28" name="TextBox 27"/>
          <p:cNvSpPr txBox="1"/>
          <p:nvPr/>
        </p:nvSpPr>
        <p:spPr>
          <a:xfrm>
            <a:off x="4517975" y="2139404"/>
            <a:ext cx="4142119" cy="200025"/>
          </a:xfrm>
          <a:prstGeom prst="rect">
            <a:avLst/>
          </a:prstGeom>
          <a:noFill/>
        </p:spPr>
        <p:txBody>
          <a:bodyPr wrap="none" lIns="0" rIns="0" tIns="0" bIns="0" anchor="t">
            <a:spAutoFit/>
          </a:bodyPr>
          <a:lstStyle/>
          <a:p>
            <a:pPr algn="l"/>
            <a:r>
              <a:rPr b="1" sz="1350" i="0" u="none">
                <a:solidFill>
                  <a:srgbClr val="0F172A"/>
                </a:solidFill>
                <a:latin typeface="Inter"/>
              </a:rPr>
              <a:t>Testing Team Access</a:t>
            </a:r>
          </a:p>
        </p:txBody>
      </p:sp>
      <p:sp>
        <p:nvSpPr>
          <p:cNvPr id="29" name="TextBox 28"/>
          <p:cNvSpPr txBox="1"/>
          <p:nvPr/>
        </p:nvSpPr>
        <p:spPr>
          <a:xfrm>
            <a:off x="4517975" y="2415629"/>
            <a:ext cx="3251150" cy="361950"/>
          </a:xfrm>
          <a:prstGeom prst="rect">
            <a:avLst/>
          </a:prstGeom>
          <a:noFill/>
        </p:spPr>
        <p:txBody>
          <a:bodyPr wrap="square" lIns="0" rIns="0" tIns="0" bIns="0" anchor="t">
            <a:spAutoFit/>
          </a:bodyPr>
          <a:lstStyle/>
          <a:p>
            <a:pPr algn="l"/>
            <a:r>
              <a:rPr b="0" sz="1125" i="0" u="none">
                <a:solidFill>
                  <a:srgbClr val="475569"/>
                </a:solidFill>
                <a:latin typeface="Inter"/>
              </a:rPr>
              <a:t>QA engineers requiring read-only or contributor access to test environments.</a:t>
            </a:r>
          </a:p>
        </p:txBody>
      </p:sp>
      <p:sp>
        <p:nvSpPr>
          <p:cNvPr id="30" name="TextBox 29"/>
          <p:cNvSpPr txBox="1"/>
          <p:nvPr/>
        </p:nvSpPr>
        <p:spPr>
          <a:xfrm>
            <a:off x="8302525" y="1882229"/>
            <a:ext cx="781050" cy="152400"/>
          </a:xfrm>
          <a:prstGeom prst="rect">
            <a:avLst/>
          </a:prstGeom>
          <a:noFill/>
        </p:spPr>
        <p:txBody>
          <a:bodyPr wrap="square" lIns="0" rIns="0" tIns="0" bIns="0" anchor="t">
            <a:spAutoFit/>
          </a:bodyPr>
          <a:lstStyle/>
          <a:p>
            <a:pPr algn="l"/>
            <a:r>
              <a:rPr b="1" sz="975" i="0" u="none">
                <a:solidFill>
                  <a:srgbClr val="166534"/>
                </a:solidFill>
                <a:latin typeface="Inter"/>
              </a:rPr>
              <a:t>Use Case 3</a:t>
            </a:r>
          </a:p>
        </p:txBody>
      </p:sp>
      <p:sp>
        <p:nvSpPr>
          <p:cNvPr id="31" name="TextBox 30"/>
          <p:cNvSpPr txBox="1"/>
          <p:nvPr/>
        </p:nvSpPr>
        <p:spPr>
          <a:xfrm>
            <a:off x="8226325" y="2139404"/>
            <a:ext cx="3965674" cy="200025"/>
          </a:xfrm>
          <a:prstGeom prst="rect">
            <a:avLst/>
          </a:prstGeom>
          <a:noFill/>
        </p:spPr>
        <p:txBody>
          <a:bodyPr wrap="none" lIns="0" rIns="0" tIns="0" bIns="0" anchor="t">
            <a:spAutoFit/>
          </a:bodyPr>
          <a:lstStyle/>
          <a:p>
            <a:pPr algn="l"/>
            <a:r>
              <a:rPr b="1" sz="1350" i="0" u="none">
                <a:solidFill>
                  <a:srgbClr val="0F172A"/>
                </a:solidFill>
                <a:latin typeface="Inter"/>
              </a:rPr>
              <a:t>Department Access</a:t>
            </a:r>
          </a:p>
        </p:txBody>
      </p:sp>
      <p:sp>
        <p:nvSpPr>
          <p:cNvPr id="32" name="TextBox 31"/>
          <p:cNvSpPr txBox="1"/>
          <p:nvPr/>
        </p:nvSpPr>
        <p:spPr>
          <a:xfrm>
            <a:off x="8226325" y="2415629"/>
            <a:ext cx="3251150" cy="361950"/>
          </a:xfrm>
          <a:prstGeom prst="rect">
            <a:avLst/>
          </a:prstGeom>
          <a:noFill/>
        </p:spPr>
        <p:txBody>
          <a:bodyPr wrap="square" lIns="0" rIns="0" tIns="0" bIns="0" anchor="t">
            <a:spAutoFit/>
          </a:bodyPr>
          <a:lstStyle/>
          <a:p>
            <a:pPr algn="l"/>
            <a:r>
              <a:rPr b="0" sz="1125" i="0" u="none">
                <a:solidFill>
                  <a:srgbClr val="475569"/>
                </a:solidFill>
                <a:latin typeface="Inter"/>
              </a:rPr>
              <a:t>Department-wide access allocation governed by group membership.</a:t>
            </a:r>
          </a:p>
        </p:txBody>
      </p:sp>
      <p:sp>
        <p:nvSpPr>
          <p:cNvPr id="33" name="TextBox 32"/>
          <p:cNvSpPr txBox="1"/>
          <p:nvPr/>
        </p:nvSpPr>
        <p:spPr>
          <a:xfrm>
            <a:off x="885825" y="3358604"/>
            <a:ext cx="790575" cy="152400"/>
          </a:xfrm>
          <a:prstGeom prst="rect">
            <a:avLst/>
          </a:prstGeom>
          <a:noFill/>
        </p:spPr>
        <p:txBody>
          <a:bodyPr wrap="square" lIns="0" rIns="0" tIns="0" bIns="0" anchor="t">
            <a:spAutoFit/>
          </a:bodyPr>
          <a:lstStyle/>
          <a:p>
            <a:pPr algn="l"/>
            <a:r>
              <a:rPr b="1" sz="975" i="0" u="none">
                <a:solidFill>
                  <a:srgbClr val="166534"/>
                </a:solidFill>
                <a:latin typeface="Inter"/>
              </a:rPr>
              <a:t>Use Case 4</a:t>
            </a:r>
          </a:p>
        </p:txBody>
      </p:sp>
      <p:sp>
        <p:nvSpPr>
          <p:cNvPr id="34" name="TextBox 33"/>
          <p:cNvSpPr txBox="1"/>
          <p:nvPr/>
        </p:nvSpPr>
        <p:spPr>
          <a:xfrm>
            <a:off x="809625" y="3615779"/>
            <a:ext cx="6575821" cy="200025"/>
          </a:xfrm>
          <a:prstGeom prst="rect">
            <a:avLst/>
          </a:prstGeom>
          <a:noFill/>
        </p:spPr>
        <p:txBody>
          <a:bodyPr wrap="none" lIns="0" rIns="0" tIns="0" bIns="0" anchor="t">
            <a:spAutoFit/>
          </a:bodyPr>
          <a:lstStyle/>
          <a:p>
            <a:pPr algn="l"/>
            <a:r>
              <a:rPr b="1" sz="1350" i="0" u="none">
                <a:solidFill>
                  <a:srgbClr val="0F172A"/>
                </a:solidFill>
                <a:latin typeface="Inter"/>
              </a:rPr>
              <a:t>Project-Based Allocation</a:t>
            </a:r>
          </a:p>
        </p:txBody>
      </p:sp>
      <p:sp>
        <p:nvSpPr>
          <p:cNvPr id="35" name="TextBox 34"/>
          <p:cNvSpPr txBox="1"/>
          <p:nvPr/>
        </p:nvSpPr>
        <p:spPr>
          <a:xfrm>
            <a:off x="809625" y="3892004"/>
            <a:ext cx="5105400" cy="361950"/>
          </a:xfrm>
          <a:prstGeom prst="rect">
            <a:avLst/>
          </a:prstGeom>
          <a:noFill/>
        </p:spPr>
        <p:txBody>
          <a:bodyPr wrap="square" lIns="0" rIns="0" tIns="0" bIns="0" anchor="t">
            <a:spAutoFit/>
          </a:bodyPr>
          <a:lstStyle/>
          <a:p>
            <a:pPr algn="l"/>
            <a:r>
              <a:rPr b="0" sz="1125" i="0" u="none">
                <a:solidFill>
                  <a:srgbClr val="475569"/>
                </a:solidFill>
                <a:latin typeface="Inter"/>
              </a:rPr>
              <a:t>Temporary cross-functional project teams with dedicated resource groups.</a:t>
            </a:r>
          </a:p>
        </p:txBody>
      </p:sp>
      <p:sp>
        <p:nvSpPr>
          <p:cNvPr id="36" name="TextBox 35"/>
          <p:cNvSpPr txBox="1"/>
          <p:nvPr/>
        </p:nvSpPr>
        <p:spPr>
          <a:xfrm>
            <a:off x="6448425" y="3358604"/>
            <a:ext cx="1362075" cy="152400"/>
          </a:xfrm>
          <a:prstGeom prst="rect">
            <a:avLst/>
          </a:prstGeom>
          <a:noFill/>
        </p:spPr>
        <p:txBody>
          <a:bodyPr wrap="square" lIns="0" rIns="0" tIns="0" bIns="0" anchor="t">
            <a:spAutoFit/>
          </a:bodyPr>
          <a:lstStyle/>
          <a:p>
            <a:pPr algn="l"/>
            <a:r>
              <a:rPr b="1" sz="975" i="0" u="none">
                <a:solidFill>
                  <a:srgbClr val="92400E"/>
                </a:solidFill>
                <a:latin typeface="Inter"/>
              </a:rPr>
              <a:t>Use Case 5 — Future</a:t>
            </a:r>
          </a:p>
        </p:txBody>
      </p:sp>
      <p:sp>
        <p:nvSpPr>
          <p:cNvPr id="37" name="TextBox 36"/>
          <p:cNvSpPr txBox="1"/>
          <p:nvPr/>
        </p:nvSpPr>
        <p:spPr>
          <a:xfrm>
            <a:off x="6372225" y="3615779"/>
            <a:ext cx="5819775" cy="200025"/>
          </a:xfrm>
          <a:prstGeom prst="rect">
            <a:avLst/>
          </a:prstGeom>
          <a:noFill/>
        </p:spPr>
        <p:txBody>
          <a:bodyPr wrap="none" lIns="0" rIns="0" tIns="0" bIns="0" anchor="t">
            <a:spAutoFit/>
          </a:bodyPr>
          <a:lstStyle/>
          <a:p>
            <a:pPr algn="l"/>
            <a:r>
              <a:rPr b="1" sz="1350" i="0" u="none">
                <a:solidFill>
                  <a:srgbClr val="0F172A"/>
                </a:solidFill>
                <a:latin typeface="Inter"/>
              </a:rPr>
              <a:t>Enterprise Onboarding</a:t>
            </a:r>
          </a:p>
        </p:txBody>
      </p:sp>
      <p:sp>
        <p:nvSpPr>
          <p:cNvPr id="38" name="TextBox 37"/>
          <p:cNvSpPr txBox="1"/>
          <p:nvPr/>
        </p:nvSpPr>
        <p:spPr>
          <a:xfrm>
            <a:off x="6372225" y="3892004"/>
            <a:ext cx="5819775" cy="180975"/>
          </a:xfrm>
          <a:prstGeom prst="rect">
            <a:avLst/>
          </a:prstGeom>
          <a:noFill/>
        </p:spPr>
        <p:txBody>
          <a:bodyPr wrap="none" lIns="0" rIns="0" tIns="0" bIns="0" anchor="t">
            <a:spAutoFit/>
          </a:bodyPr>
          <a:lstStyle/>
          <a:p>
            <a:pPr algn="l"/>
            <a:r>
              <a:rPr b="0" sz="1125" i="0" u="none">
                <a:solidFill>
                  <a:srgbClr val="475569"/>
                </a:solidFill>
                <a:latin typeface="Inter"/>
              </a:rPr>
              <a:t>Fully automated self-service subscription vending and request approval.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6638925"/>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6638925"/>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115252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168592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221932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275272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328612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600" y="391477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444817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498157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9600" y="551497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09600" y="6048375"/>
            <a:ext cx="10972800" cy="438150"/>
          </a:xfrm>
          <a:prstGeom prst="roundRect">
            <a:avLst>
              <a:gd name="adj" fmla="val 2173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11239500" y="538162"/>
            <a:ext cx="342900" cy="342900"/>
          </a:xfrm>
          <a:prstGeom prst="rect">
            <a:avLst/>
          </a:prstGeom>
        </p:spPr>
      </p:pic>
      <p:pic>
        <p:nvPicPr>
          <p:cNvPr id="15" name="Picture 14" descr="image.png"/>
          <p:cNvPicPr>
            <a:picLocks noChangeAspect="1"/>
          </p:cNvPicPr>
          <p:nvPr/>
        </p:nvPicPr>
        <p:blipFill>
          <a:blip r:embed="rId3"/>
          <a:stretch>
            <a:fillRect/>
          </a:stretch>
        </p:blipFill>
        <p:spPr>
          <a:xfrm>
            <a:off x="800100" y="6748462"/>
            <a:ext cx="112514" cy="123825"/>
          </a:xfrm>
          <a:prstGeom prst="rect">
            <a:avLst/>
          </a:prstGeom>
        </p:spPr>
      </p:pic>
      <p:pic>
        <p:nvPicPr>
          <p:cNvPr id="16" name="Picture 15" descr="image.png"/>
          <p:cNvPicPr>
            <a:picLocks noChangeAspect="1"/>
          </p:cNvPicPr>
          <p:nvPr/>
        </p:nvPicPr>
        <p:blipFill>
          <a:blip r:embed="rId4"/>
          <a:stretch>
            <a:fillRect/>
          </a:stretch>
        </p:blipFill>
        <p:spPr>
          <a:xfrm>
            <a:off x="771525" y="1276350"/>
            <a:ext cx="190500" cy="190500"/>
          </a:xfrm>
          <a:prstGeom prst="rect">
            <a:avLst/>
          </a:prstGeom>
        </p:spPr>
      </p:pic>
      <p:pic>
        <p:nvPicPr>
          <p:cNvPr id="17" name="Picture 16" descr="image.png"/>
          <p:cNvPicPr>
            <a:picLocks noChangeAspect="1"/>
          </p:cNvPicPr>
          <p:nvPr/>
        </p:nvPicPr>
        <p:blipFill>
          <a:blip r:embed="rId4"/>
          <a:stretch>
            <a:fillRect/>
          </a:stretch>
        </p:blipFill>
        <p:spPr>
          <a:xfrm>
            <a:off x="771525" y="1809750"/>
            <a:ext cx="190500" cy="190500"/>
          </a:xfrm>
          <a:prstGeom prst="rect">
            <a:avLst/>
          </a:prstGeom>
        </p:spPr>
      </p:pic>
      <p:pic>
        <p:nvPicPr>
          <p:cNvPr id="18" name="Picture 17" descr="image.png"/>
          <p:cNvPicPr>
            <a:picLocks noChangeAspect="1"/>
          </p:cNvPicPr>
          <p:nvPr/>
        </p:nvPicPr>
        <p:blipFill>
          <a:blip r:embed="rId4"/>
          <a:stretch>
            <a:fillRect/>
          </a:stretch>
        </p:blipFill>
        <p:spPr>
          <a:xfrm>
            <a:off x="771525" y="2343150"/>
            <a:ext cx="190500" cy="190500"/>
          </a:xfrm>
          <a:prstGeom prst="rect">
            <a:avLst/>
          </a:prstGeom>
        </p:spPr>
      </p:pic>
      <p:pic>
        <p:nvPicPr>
          <p:cNvPr id="19" name="Picture 18" descr="image.png"/>
          <p:cNvPicPr>
            <a:picLocks noChangeAspect="1"/>
          </p:cNvPicPr>
          <p:nvPr/>
        </p:nvPicPr>
        <p:blipFill>
          <a:blip r:embed="rId4"/>
          <a:stretch>
            <a:fillRect/>
          </a:stretch>
        </p:blipFill>
        <p:spPr>
          <a:xfrm>
            <a:off x="771525" y="2876550"/>
            <a:ext cx="190500" cy="190500"/>
          </a:xfrm>
          <a:prstGeom prst="rect">
            <a:avLst/>
          </a:prstGeom>
        </p:spPr>
      </p:pic>
      <p:pic>
        <p:nvPicPr>
          <p:cNvPr id="20" name="Picture 19" descr="image.png"/>
          <p:cNvPicPr>
            <a:picLocks noChangeAspect="1"/>
          </p:cNvPicPr>
          <p:nvPr/>
        </p:nvPicPr>
        <p:blipFill>
          <a:blip r:embed="rId4"/>
          <a:stretch>
            <a:fillRect/>
          </a:stretch>
        </p:blipFill>
        <p:spPr>
          <a:xfrm>
            <a:off x="771525" y="3409950"/>
            <a:ext cx="190500" cy="190500"/>
          </a:xfrm>
          <a:prstGeom prst="rect">
            <a:avLst/>
          </a:prstGeom>
        </p:spPr>
      </p:pic>
      <p:pic>
        <p:nvPicPr>
          <p:cNvPr id="21" name="Picture 20" descr="image.png"/>
          <p:cNvPicPr>
            <a:picLocks noChangeAspect="1"/>
          </p:cNvPicPr>
          <p:nvPr/>
        </p:nvPicPr>
        <p:blipFill>
          <a:blip r:embed="rId4"/>
          <a:stretch>
            <a:fillRect/>
          </a:stretch>
        </p:blipFill>
        <p:spPr>
          <a:xfrm>
            <a:off x="771525" y="4038600"/>
            <a:ext cx="190500" cy="190500"/>
          </a:xfrm>
          <a:prstGeom prst="rect">
            <a:avLst/>
          </a:prstGeom>
        </p:spPr>
      </p:pic>
      <p:pic>
        <p:nvPicPr>
          <p:cNvPr id="22" name="Picture 21" descr="image.png"/>
          <p:cNvPicPr>
            <a:picLocks noChangeAspect="1"/>
          </p:cNvPicPr>
          <p:nvPr/>
        </p:nvPicPr>
        <p:blipFill>
          <a:blip r:embed="rId4"/>
          <a:stretch>
            <a:fillRect/>
          </a:stretch>
        </p:blipFill>
        <p:spPr>
          <a:xfrm>
            <a:off x="771525" y="4572000"/>
            <a:ext cx="190500" cy="190500"/>
          </a:xfrm>
          <a:prstGeom prst="rect">
            <a:avLst/>
          </a:prstGeom>
        </p:spPr>
      </p:pic>
      <p:pic>
        <p:nvPicPr>
          <p:cNvPr id="23" name="Picture 22" descr="image.png"/>
          <p:cNvPicPr>
            <a:picLocks noChangeAspect="1"/>
          </p:cNvPicPr>
          <p:nvPr/>
        </p:nvPicPr>
        <p:blipFill>
          <a:blip r:embed="rId4"/>
          <a:stretch>
            <a:fillRect/>
          </a:stretch>
        </p:blipFill>
        <p:spPr>
          <a:xfrm>
            <a:off x="771525" y="5105400"/>
            <a:ext cx="190500" cy="190500"/>
          </a:xfrm>
          <a:prstGeom prst="rect">
            <a:avLst/>
          </a:prstGeom>
        </p:spPr>
      </p:pic>
      <p:pic>
        <p:nvPicPr>
          <p:cNvPr id="24" name="Picture 23" descr="image.png"/>
          <p:cNvPicPr>
            <a:picLocks noChangeAspect="1"/>
          </p:cNvPicPr>
          <p:nvPr/>
        </p:nvPicPr>
        <p:blipFill>
          <a:blip r:embed="rId4"/>
          <a:stretch>
            <a:fillRect/>
          </a:stretch>
        </p:blipFill>
        <p:spPr>
          <a:xfrm>
            <a:off x="771525" y="5638800"/>
            <a:ext cx="190500" cy="190500"/>
          </a:xfrm>
          <a:prstGeom prst="rect">
            <a:avLst/>
          </a:prstGeom>
        </p:spPr>
      </p:pic>
      <p:pic>
        <p:nvPicPr>
          <p:cNvPr id="25" name="Picture 24" descr="image.png"/>
          <p:cNvPicPr>
            <a:picLocks noChangeAspect="1"/>
          </p:cNvPicPr>
          <p:nvPr/>
        </p:nvPicPr>
        <p:blipFill>
          <a:blip r:embed="rId4"/>
          <a:stretch>
            <a:fillRect/>
          </a:stretch>
        </p:blipFill>
        <p:spPr>
          <a:xfrm>
            <a:off x="771525" y="6172200"/>
            <a:ext cx="190500" cy="190500"/>
          </a:xfrm>
          <a:prstGeom prst="rect">
            <a:avLst/>
          </a:prstGeom>
        </p:spPr>
      </p:pic>
      <p:sp>
        <p:nvSpPr>
          <p:cNvPr id="26" name="TextBox 25"/>
          <p:cNvSpPr txBox="1"/>
          <p:nvPr/>
        </p:nvSpPr>
        <p:spPr>
          <a:xfrm>
            <a:off x="969764" y="6734175"/>
            <a:ext cx="11222235" cy="123825"/>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27" name="TextBox 26"/>
          <p:cNvSpPr txBox="1"/>
          <p:nvPr/>
        </p:nvSpPr>
        <p:spPr>
          <a:xfrm>
            <a:off x="800100" y="6905625"/>
            <a:ext cx="10725150" cy="0"/>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These ten functional requirements define our system. The core focus is ensuring that user identity management, resource provisioning, policy governance, and budget monitoring operate in tandem seamlessly.</a:t>
            </a:r>
          </a:p>
        </p:txBody>
      </p:sp>
      <p:sp>
        <p:nvSpPr>
          <p:cNvPr id="28" name="TextBox 27"/>
          <p:cNvSpPr txBox="1"/>
          <p:nvPr/>
        </p:nvSpPr>
        <p:spPr>
          <a:xfrm>
            <a:off x="609600" y="457200"/>
            <a:ext cx="4441031" cy="161925"/>
          </a:xfrm>
          <a:prstGeom prst="rect">
            <a:avLst/>
          </a:prstGeom>
          <a:noFill/>
        </p:spPr>
        <p:txBody>
          <a:bodyPr wrap="none" lIns="0" rIns="0" tIns="0" bIns="0" anchor="t">
            <a:spAutoFit/>
          </a:bodyPr>
          <a:lstStyle/>
          <a:p>
            <a:pPr algn="l"/>
            <a:r>
              <a:rPr b="1" sz="1050" i="0" u="none">
                <a:solidFill>
                  <a:srgbClr val="0078D4"/>
                </a:solidFill>
                <a:latin typeface="Inter"/>
              </a:rPr>
              <a:t>SYSTEM SCOPE</a:t>
            </a:r>
          </a:p>
        </p:txBody>
      </p:sp>
      <p:sp>
        <p:nvSpPr>
          <p:cNvPr id="29" name="TextBox 28"/>
          <p:cNvSpPr txBox="1"/>
          <p:nvPr/>
        </p:nvSpPr>
        <p:spPr>
          <a:xfrm>
            <a:off x="609600" y="619125"/>
            <a:ext cx="4663082"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Functional Requirements</a:t>
            </a:r>
          </a:p>
        </p:txBody>
      </p:sp>
      <p:sp>
        <p:nvSpPr>
          <p:cNvPr id="30" name="TextBox 29"/>
          <p:cNvSpPr txBox="1"/>
          <p:nvPr/>
        </p:nvSpPr>
        <p:spPr>
          <a:xfrm>
            <a:off x="1076325" y="1281112"/>
            <a:ext cx="3619500" cy="180975"/>
          </a:xfrm>
          <a:prstGeom prst="rect">
            <a:avLst/>
          </a:prstGeom>
          <a:noFill/>
        </p:spPr>
        <p:txBody>
          <a:bodyPr wrap="none" lIns="0" rIns="0" tIns="0" bIns="0" anchor="t">
            <a:spAutoFit/>
          </a:bodyPr>
          <a:lstStyle/>
          <a:p>
            <a:pPr algn="l"/>
            <a:r>
              <a:rPr b="1" sz="1125" i="0" u="none">
                <a:solidFill>
                  <a:srgbClr val="1E293B"/>
                </a:solidFill>
                <a:latin typeface="Inter"/>
              </a:rPr>
              <a:t>FR1:</a:t>
            </a:r>
            <a:r>
              <a:rPr b="0" sz="1125" i="0" u="none">
                <a:solidFill>
                  <a:srgbClr val="1E293B"/>
                </a:solidFill>
                <a:latin typeface="Inter"/>
              </a:rPr>
              <a:t> Identify existing Azure user accounts.</a:t>
            </a:r>
          </a:p>
        </p:txBody>
      </p:sp>
      <p:sp>
        <p:nvSpPr>
          <p:cNvPr id="31" name="TextBox 30"/>
          <p:cNvSpPr txBox="1"/>
          <p:nvPr/>
        </p:nvSpPr>
        <p:spPr>
          <a:xfrm>
            <a:off x="1076325" y="1814512"/>
            <a:ext cx="4167187" cy="180975"/>
          </a:xfrm>
          <a:prstGeom prst="rect">
            <a:avLst/>
          </a:prstGeom>
          <a:noFill/>
        </p:spPr>
        <p:txBody>
          <a:bodyPr wrap="none" lIns="0" rIns="0" tIns="0" bIns="0" anchor="t">
            <a:spAutoFit/>
          </a:bodyPr>
          <a:lstStyle/>
          <a:p>
            <a:pPr algn="l"/>
            <a:r>
              <a:rPr b="1" sz="1125" i="0" u="none">
                <a:solidFill>
                  <a:srgbClr val="1E293B"/>
                </a:solidFill>
                <a:latin typeface="Inter"/>
              </a:rPr>
              <a:t>FR2:</a:t>
            </a:r>
            <a:r>
              <a:rPr b="0" sz="1125" i="0" u="none">
                <a:solidFill>
                  <a:srgbClr val="1E293B"/>
                </a:solidFill>
                <a:latin typeface="Inter"/>
              </a:rPr>
              <a:t> Organize users into Microsoft Entra Groups.</a:t>
            </a:r>
          </a:p>
        </p:txBody>
      </p:sp>
      <p:sp>
        <p:nvSpPr>
          <p:cNvPr id="32" name="TextBox 31"/>
          <p:cNvSpPr txBox="1"/>
          <p:nvPr/>
        </p:nvSpPr>
        <p:spPr>
          <a:xfrm>
            <a:off x="1076325" y="2347912"/>
            <a:ext cx="4845843" cy="180975"/>
          </a:xfrm>
          <a:prstGeom prst="rect">
            <a:avLst/>
          </a:prstGeom>
          <a:noFill/>
        </p:spPr>
        <p:txBody>
          <a:bodyPr wrap="none" lIns="0" rIns="0" tIns="0" bIns="0" anchor="t">
            <a:spAutoFit/>
          </a:bodyPr>
          <a:lstStyle/>
          <a:p>
            <a:pPr algn="l"/>
            <a:r>
              <a:rPr b="1" sz="1125" i="0" u="none">
                <a:solidFill>
                  <a:srgbClr val="1E293B"/>
                </a:solidFill>
                <a:latin typeface="Inter"/>
              </a:rPr>
              <a:t>FR3:</a:t>
            </a:r>
            <a:r>
              <a:rPr b="0" sz="1125" i="0" u="none">
                <a:solidFill>
                  <a:srgbClr val="1E293B"/>
                </a:solidFill>
                <a:latin typeface="Inter"/>
              </a:rPr>
              <a:t> Support dynamic group membership administration.</a:t>
            </a:r>
          </a:p>
        </p:txBody>
      </p:sp>
      <p:sp>
        <p:nvSpPr>
          <p:cNvPr id="33" name="TextBox 32"/>
          <p:cNvSpPr txBox="1"/>
          <p:nvPr/>
        </p:nvSpPr>
        <p:spPr>
          <a:xfrm>
            <a:off x="1076325" y="2881312"/>
            <a:ext cx="4762500" cy="180975"/>
          </a:xfrm>
          <a:prstGeom prst="rect">
            <a:avLst/>
          </a:prstGeom>
          <a:noFill/>
        </p:spPr>
        <p:txBody>
          <a:bodyPr wrap="none" lIns="0" rIns="0" tIns="0" bIns="0" anchor="t">
            <a:spAutoFit/>
          </a:bodyPr>
          <a:lstStyle/>
          <a:p>
            <a:pPr algn="l"/>
            <a:r>
              <a:rPr b="1" sz="1125" i="0" u="none">
                <a:solidFill>
                  <a:srgbClr val="1E293B"/>
                </a:solidFill>
                <a:latin typeface="Inter"/>
              </a:rPr>
              <a:t>FR4:</a:t>
            </a:r>
            <a:r>
              <a:rPr b="0" sz="1125" i="0" u="none">
                <a:solidFill>
                  <a:srgbClr val="1E293B"/>
                </a:solidFill>
                <a:latin typeface="Inter"/>
              </a:rPr>
              <a:t> Assign RBAC roles (Contributor) directly to groups.</a:t>
            </a:r>
          </a:p>
        </p:txBody>
      </p:sp>
      <p:sp>
        <p:nvSpPr>
          <p:cNvPr id="34" name="TextBox 33"/>
          <p:cNvSpPr txBox="1"/>
          <p:nvPr/>
        </p:nvSpPr>
        <p:spPr>
          <a:xfrm>
            <a:off x="1076325" y="3414712"/>
            <a:ext cx="4083843" cy="180975"/>
          </a:xfrm>
          <a:prstGeom prst="rect">
            <a:avLst/>
          </a:prstGeom>
          <a:noFill/>
        </p:spPr>
        <p:txBody>
          <a:bodyPr wrap="none" lIns="0" rIns="0" tIns="0" bIns="0" anchor="t">
            <a:spAutoFit/>
          </a:bodyPr>
          <a:lstStyle/>
          <a:p>
            <a:pPr algn="l"/>
            <a:r>
              <a:rPr b="1" sz="1125" i="0" u="none">
                <a:solidFill>
                  <a:srgbClr val="1E293B"/>
                </a:solidFill>
                <a:latin typeface="Inter"/>
              </a:rPr>
              <a:t>FR5:</a:t>
            </a:r>
            <a:r>
              <a:rPr b="0" sz="1125" i="0" u="none">
                <a:solidFill>
                  <a:srgbClr val="1E293B"/>
                </a:solidFill>
                <a:latin typeface="Inter"/>
              </a:rPr>
              <a:t> Deploy controlled Azure Resource Groups.</a:t>
            </a:r>
          </a:p>
        </p:txBody>
      </p:sp>
      <p:sp>
        <p:nvSpPr>
          <p:cNvPr id="35" name="TextBox 34"/>
          <p:cNvSpPr txBox="1"/>
          <p:nvPr/>
        </p:nvSpPr>
        <p:spPr>
          <a:xfrm>
            <a:off x="1076325" y="4043362"/>
            <a:ext cx="4429125" cy="180975"/>
          </a:xfrm>
          <a:prstGeom prst="rect">
            <a:avLst/>
          </a:prstGeom>
          <a:noFill/>
        </p:spPr>
        <p:txBody>
          <a:bodyPr wrap="none" lIns="0" rIns="0" tIns="0" bIns="0" anchor="t">
            <a:spAutoFit/>
          </a:bodyPr>
          <a:lstStyle/>
          <a:p>
            <a:pPr algn="l"/>
            <a:r>
              <a:rPr b="1" sz="1125" i="0" u="none">
                <a:solidFill>
                  <a:srgbClr val="1E293B"/>
                </a:solidFill>
                <a:latin typeface="Inter"/>
              </a:rPr>
              <a:t>FR6:</a:t>
            </a:r>
            <a:r>
              <a:rPr b="0" sz="1125" i="0" u="none">
                <a:solidFill>
                  <a:srgbClr val="1E293B"/>
                </a:solidFill>
                <a:latin typeface="Inter"/>
              </a:rPr>
              <a:t> Enable access inheritance for group members.</a:t>
            </a:r>
          </a:p>
        </p:txBody>
      </p:sp>
      <p:sp>
        <p:nvSpPr>
          <p:cNvPr id="36" name="TextBox 35"/>
          <p:cNvSpPr txBox="1"/>
          <p:nvPr/>
        </p:nvSpPr>
        <p:spPr>
          <a:xfrm>
            <a:off x="1076325" y="4576762"/>
            <a:ext cx="3881437" cy="180975"/>
          </a:xfrm>
          <a:prstGeom prst="rect">
            <a:avLst/>
          </a:prstGeom>
          <a:noFill/>
        </p:spPr>
        <p:txBody>
          <a:bodyPr wrap="none" lIns="0" rIns="0" tIns="0" bIns="0" anchor="t">
            <a:spAutoFit/>
          </a:bodyPr>
          <a:lstStyle/>
          <a:p>
            <a:pPr algn="l"/>
            <a:r>
              <a:rPr b="1" sz="1125" i="0" u="none">
                <a:solidFill>
                  <a:srgbClr val="1E293B"/>
                </a:solidFill>
                <a:latin typeface="Inter"/>
              </a:rPr>
              <a:t>FR7:</a:t>
            </a:r>
            <a:r>
              <a:rPr b="0" sz="1125" i="0" u="none">
                <a:solidFill>
                  <a:srgbClr val="1E293B"/>
                </a:solidFill>
                <a:latin typeface="Inter"/>
              </a:rPr>
              <a:t> Apply governance rules via Azure Policy.</a:t>
            </a:r>
          </a:p>
        </p:txBody>
      </p:sp>
      <p:sp>
        <p:nvSpPr>
          <p:cNvPr id="37" name="TextBox 36"/>
          <p:cNvSpPr txBox="1"/>
          <p:nvPr/>
        </p:nvSpPr>
        <p:spPr>
          <a:xfrm>
            <a:off x="1076325" y="5110162"/>
            <a:ext cx="4202906" cy="180975"/>
          </a:xfrm>
          <a:prstGeom prst="rect">
            <a:avLst/>
          </a:prstGeom>
          <a:noFill/>
        </p:spPr>
        <p:txBody>
          <a:bodyPr wrap="none" lIns="0" rIns="0" tIns="0" bIns="0" anchor="t">
            <a:spAutoFit/>
          </a:bodyPr>
          <a:lstStyle/>
          <a:p>
            <a:pPr algn="l"/>
            <a:r>
              <a:rPr b="1" sz="1125" i="0" u="none">
                <a:solidFill>
                  <a:srgbClr val="1E293B"/>
                </a:solidFill>
                <a:latin typeface="Inter"/>
              </a:rPr>
              <a:t>FR8:</a:t>
            </a:r>
            <a:r>
              <a:rPr b="0" sz="1125" i="0" u="none">
                <a:solidFill>
                  <a:srgbClr val="1E293B"/>
                </a:solidFill>
                <a:latin typeface="Inter"/>
              </a:rPr>
              <a:t> Configure Azure Budget thresholds &amp; alerts.</a:t>
            </a:r>
          </a:p>
        </p:txBody>
      </p:sp>
      <p:sp>
        <p:nvSpPr>
          <p:cNvPr id="38" name="TextBox 37"/>
          <p:cNvSpPr txBox="1"/>
          <p:nvPr/>
        </p:nvSpPr>
        <p:spPr>
          <a:xfrm>
            <a:off x="1076325" y="5643562"/>
            <a:ext cx="3833812" cy="180975"/>
          </a:xfrm>
          <a:prstGeom prst="rect">
            <a:avLst/>
          </a:prstGeom>
          <a:noFill/>
        </p:spPr>
        <p:txBody>
          <a:bodyPr wrap="none" lIns="0" rIns="0" tIns="0" bIns="0" anchor="t">
            <a:spAutoFit/>
          </a:bodyPr>
          <a:lstStyle/>
          <a:p>
            <a:pPr algn="l"/>
            <a:r>
              <a:rPr b="1" sz="1125" i="0" u="none">
                <a:solidFill>
                  <a:srgbClr val="1E293B"/>
                </a:solidFill>
                <a:latin typeface="Inter"/>
              </a:rPr>
              <a:t>FR9:</a:t>
            </a:r>
            <a:r>
              <a:rPr b="0" sz="1125" i="0" u="none">
                <a:solidFill>
                  <a:srgbClr val="1E293B"/>
                </a:solidFill>
                <a:latin typeface="Inter"/>
              </a:rPr>
              <a:t> Admin verification of resources &amp; roles.</a:t>
            </a:r>
          </a:p>
        </p:txBody>
      </p:sp>
      <p:sp>
        <p:nvSpPr>
          <p:cNvPr id="39" name="TextBox 38"/>
          <p:cNvSpPr txBox="1"/>
          <p:nvPr/>
        </p:nvSpPr>
        <p:spPr>
          <a:xfrm>
            <a:off x="1076325" y="6176962"/>
            <a:ext cx="4191000" cy="180975"/>
          </a:xfrm>
          <a:prstGeom prst="rect">
            <a:avLst/>
          </a:prstGeom>
          <a:noFill/>
        </p:spPr>
        <p:txBody>
          <a:bodyPr wrap="none" lIns="0" rIns="0" tIns="0" bIns="0" anchor="t">
            <a:spAutoFit/>
          </a:bodyPr>
          <a:lstStyle/>
          <a:p>
            <a:pPr algn="l"/>
            <a:r>
              <a:rPr b="1" sz="1125" i="0" u="none">
                <a:solidFill>
                  <a:srgbClr val="1E293B"/>
                </a:solidFill>
                <a:latin typeface="Inter"/>
              </a:rPr>
              <a:t>FR10:</a:t>
            </a:r>
            <a:r>
              <a:rPr b="0" sz="1125" i="0" u="none">
                <a:solidFill>
                  <a:srgbClr val="1E293B"/>
                </a:solidFill>
                <a:latin typeface="Inter"/>
              </a:rPr>
              <a:t> Minimize manual per-user admin overhead.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152525"/>
            <a:ext cx="3555950" cy="2110829"/>
          </a:xfrm>
          <a:prstGeom prst="roundRect">
            <a:avLst>
              <a:gd name="adj" fmla="val 451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17950" y="1152525"/>
            <a:ext cx="3555950" cy="2110829"/>
          </a:xfrm>
          <a:prstGeom prst="roundRect">
            <a:avLst>
              <a:gd name="adj" fmla="val 451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26300" y="1152525"/>
            <a:ext cx="3556099" cy="2110829"/>
          </a:xfrm>
          <a:prstGeom prst="roundRect">
            <a:avLst>
              <a:gd name="adj" fmla="val 451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3415754"/>
            <a:ext cx="3555950" cy="2110829"/>
          </a:xfrm>
          <a:prstGeom prst="roundRect">
            <a:avLst>
              <a:gd name="adj" fmla="val 451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17950" y="3415754"/>
            <a:ext cx="3555950" cy="2110829"/>
          </a:xfrm>
          <a:prstGeom prst="roundRect">
            <a:avLst>
              <a:gd name="adj" fmla="val 451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26300" y="3415754"/>
            <a:ext cx="3556099" cy="2110829"/>
          </a:xfrm>
          <a:prstGeom prst="roundRect">
            <a:avLst>
              <a:gd name="adj" fmla="val 451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11239500" y="538162"/>
            <a:ext cx="342900" cy="342900"/>
          </a:xfrm>
          <a:prstGeom prst="rect">
            <a:avLst/>
          </a:prstGeom>
        </p:spPr>
      </p:pic>
      <p:pic>
        <p:nvPicPr>
          <p:cNvPr id="11" name="Picture 10" descr="image.png"/>
          <p:cNvPicPr>
            <a:picLocks noChangeAspect="1"/>
          </p:cNvPicPr>
          <p:nvPr/>
        </p:nvPicPr>
        <p:blipFill>
          <a:blip r:embed="rId3"/>
          <a:stretch>
            <a:fillRect/>
          </a:stretch>
        </p:blipFill>
        <p:spPr>
          <a:xfrm>
            <a:off x="800100" y="5788521"/>
            <a:ext cx="112514" cy="123825"/>
          </a:xfrm>
          <a:prstGeom prst="rect">
            <a:avLst/>
          </a:prstGeom>
        </p:spPr>
      </p:pic>
      <p:pic>
        <p:nvPicPr>
          <p:cNvPr id="12" name="Picture 11" descr="image.png"/>
          <p:cNvPicPr>
            <a:picLocks noChangeAspect="1"/>
          </p:cNvPicPr>
          <p:nvPr/>
        </p:nvPicPr>
        <p:blipFill>
          <a:blip r:embed="rId4"/>
          <a:stretch>
            <a:fillRect/>
          </a:stretch>
        </p:blipFill>
        <p:spPr>
          <a:xfrm>
            <a:off x="809625" y="1362075"/>
            <a:ext cx="161925" cy="161925"/>
          </a:xfrm>
          <a:prstGeom prst="rect">
            <a:avLst/>
          </a:prstGeom>
        </p:spPr>
      </p:pic>
      <p:pic>
        <p:nvPicPr>
          <p:cNvPr id="13" name="Picture 12" descr="image.png"/>
          <p:cNvPicPr>
            <a:picLocks noChangeAspect="1"/>
          </p:cNvPicPr>
          <p:nvPr/>
        </p:nvPicPr>
        <p:blipFill>
          <a:blip r:embed="rId5"/>
          <a:stretch>
            <a:fillRect/>
          </a:stretch>
        </p:blipFill>
        <p:spPr>
          <a:xfrm>
            <a:off x="4517975" y="1362075"/>
            <a:ext cx="142875" cy="161925"/>
          </a:xfrm>
          <a:prstGeom prst="rect">
            <a:avLst/>
          </a:prstGeom>
        </p:spPr>
      </p:pic>
      <p:pic>
        <p:nvPicPr>
          <p:cNvPr id="14" name="Picture 13" descr="image.png"/>
          <p:cNvPicPr>
            <a:picLocks noChangeAspect="1"/>
          </p:cNvPicPr>
          <p:nvPr/>
        </p:nvPicPr>
        <p:blipFill>
          <a:blip r:embed="rId6"/>
          <a:stretch>
            <a:fillRect/>
          </a:stretch>
        </p:blipFill>
        <p:spPr>
          <a:xfrm>
            <a:off x="8226325" y="1362075"/>
            <a:ext cx="161925" cy="161925"/>
          </a:xfrm>
          <a:prstGeom prst="rect">
            <a:avLst/>
          </a:prstGeom>
        </p:spPr>
      </p:pic>
      <p:pic>
        <p:nvPicPr>
          <p:cNvPr id="15" name="Picture 14" descr="image.png"/>
          <p:cNvPicPr>
            <a:picLocks noChangeAspect="1"/>
          </p:cNvPicPr>
          <p:nvPr/>
        </p:nvPicPr>
        <p:blipFill>
          <a:blip r:embed="rId7"/>
          <a:stretch>
            <a:fillRect/>
          </a:stretch>
        </p:blipFill>
        <p:spPr>
          <a:xfrm>
            <a:off x="809625" y="3625304"/>
            <a:ext cx="161925" cy="161925"/>
          </a:xfrm>
          <a:prstGeom prst="rect">
            <a:avLst/>
          </a:prstGeom>
        </p:spPr>
      </p:pic>
      <p:pic>
        <p:nvPicPr>
          <p:cNvPr id="16" name="Picture 15" descr="image.png"/>
          <p:cNvPicPr>
            <a:picLocks noChangeAspect="1"/>
          </p:cNvPicPr>
          <p:nvPr/>
        </p:nvPicPr>
        <p:blipFill>
          <a:blip r:embed="rId8"/>
          <a:stretch>
            <a:fillRect/>
          </a:stretch>
        </p:blipFill>
        <p:spPr>
          <a:xfrm>
            <a:off x="4517975" y="3625304"/>
            <a:ext cx="180975" cy="161925"/>
          </a:xfrm>
          <a:prstGeom prst="rect">
            <a:avLst/>
          </a:prstGeom>
        </p:spPr>
      </p:pic>
      <p:pic>
        <p:nvPicPr>
          <p:cNvPr id="17" name="Picture 16" descr="image.png"/>
          <p:cNvPicPr>
            <a:picLocks noChangeAspect="1"/>
          </p:cNvPicPr>
          <p:nvPr/>
        </p:nvPicPr>
        <p:blipFill>
          <a:blip r:embed="rId9"/>
          <a:stretch>
            <a:fillRect/>
          </a:stretch>
        </p:blipFill>
        <p:spPr>
          <a:xfrm>
            <a:off x="8226325" y="3625304"/>
            <a:ext cx="123825" cy="161925"/>
          </a:xfrm>
          <a:prstGeom prst="rect">
            <a:avLst/>
          </a:prstGeom>
        </p:spPr>
      </p:pic>
      <p:sp>
        <p:nvSpPr>
          <p:cNvPr id="18" name="TextBox 17"/>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19" name="TextBox 18"/>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In addition to core features, our solution meets crucial enterprise non-functional requirements: security through least privilege, scalability through group inheritance, and cost control through budget enforcement.</a:t>
            </a:r>
          </a:p>
        </p:txBody>
      </p:sp>
      <p:sp>
        <p:nvSpPr>
          <p:cNvPr id="20" name="TextBox 19"/>
          <p:cNvSpPr txBox="1"/>
          <p:nvPr/>
        </p:nvSpPr>
        <p:spPr>
          <a:xfrm>
            <a:off x="609600" y="457200"/>
            <a:ext cx="5334000" cy="161925"/>
          </a:xfrm>
          <a:prstGeom prst="rect">
            <a:avLst/>
          </a:prstGeom>
          <a:noFill/>
        </p:spPr>
        <p:txBody>
          <a:bodyPr wrap="none" lIns="0" rIns="0" tIns="0" bIns="0" anchor="t">
            <a:spAutoFit/>
          </a:bodyPr>
          <a:lstStyle/>
          <a:p>
            <a:pPr algn="l"/>
            <a:r>
              <a:rPr b="1" sz="1050" i="0" u="none">
                <a:solidFill>
                  <a:srgbClr val="0078D4"/>
                </a:solidFill>
                <a:latin typeface="Inter"/>
              </a:rPr>
              <a:t>QUALITY ATTRIBUTES</a:t>
            </a:r>
          </a:p>
        </p:txBody>
      </p:sp>
      <p:sp>
        <p:nvSpPr>
          <p:cNvPr id="21" name="TextBox 20"/>
          <p:cNvSpPr txBox="1"/>
          <p:nvPr/>
        </p:nvSpPr>
        <p:spPr>
          <a:xfrm>
            <a:off x="609600" y="619125"/>
            <a:ext cx="56007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Non-Functional Requirements</a:t>
            </a:r>
          </a:p>
        </p:txBody>
      </p:sp>
      <p:sp>
        <p:nvSpPr>
          <p:cNvPr id="22" name="TextBox 21"/>
          <p:cNvSpPr txBox="1"/>
          <p:nvPr/>
        </p:nvSpPr>
        <p:spPr>
          <a:xfrm>
            <a:off x="809625" y="1352550"/>
            <a:ext cx="4142119" cy="190500"/>
          </a:xfrm>
          <a:prstGeom prst="rect">
            <a:avLst/>
          </a:prstGeom>
          <a:noFill/>
        </p:spPr>
        <p:txBody>
          <a:bodyPr wrap="none" lIns="161925" rIns="0" tIns="0" bIns="0" anchor="t">
            <a:spAutoFit/>
          </a:bodyPr>
          <a:lstStyle/>
          <a:p>
            <a:pPr algn="l"/>
            <a:r>
              <a:rPr b="1" sz="1275" i="0" u="none">
                <a:solidFill>
                  <a:srgbClr val="0078D4"/>
                </a:solidFill>
                <a:latin typeface="Inter"/>
              </a:rPr>
              <a:t>Security</a:t>
            </a:r>
          </a:p>
        </p:txBody>
      </p:sp>
      <p:sp>
        <p:nvSpPr>
          <p:cNvPr id="23" name="TextBox 22"/>
          <p:cNvSpPr txBox="1"/>
          <p:nvPr/>
        </p:nvSpPr>
        <p:spPr>
          <a:xfrm>
            <a:off x="809625" y="1600200"/>
            <a:ext cx="3251150" cy="323850"/>
          </a:xfrm>
          <a:prstGeom prst="rect">
            <a:avLst/>
          </a:prstGeom>
          <a:noFill/>
        </p:spPr>
        <p:txBody>
          <a:bodyPr wrap="square" lIns="0" rIns="0" tIns="0" bIns="0" anchor="t">
            <a:spAutoFit/>
          </a:bodyPr>
          <a:lstStyle/>
          <a:p>
            <a:pPr algn="l"/>
            <a:r>
              <a:rPr b="0" sz="1050" i="0" u="none">
                <a:solidFill>
                  <a:srgbClr val="475569"/>
                </a:solidFill>
                <a:latin typeface="Inter"/>
              </a:rPr>
              <a:t>Enforces least-privilege RBAC and centralized identity control via Microsoft Entra ID.</a:t>
            </a:r>
          </a:p>
        </p:txBody>
      </p:sp>
      <p:sp>
        <p:nvSpPr>
          <p:cNvPr id="24" name="TextBox 23"/>
          <p:cNvSpPr txBox="1"/>
          <p:nvPr/>
        </p:nvSpPr>
        <p:spPr>
          <a:xfrm>
            <a:off x="4517975" y="1352550"/>
            <a:ext cx="4142119" cy="190500"/>
          </a:xfrm>
          <a:prstGeom prst="rect">
            <a:avLst/>
          </a:prstGeom>
          <a:noFill/>
        </p:spPr>
        <p:txBody>
          <a:bodyPr wrap="none" lIns="142875" rIns="0" tIns="0" bIns="0" anchor="t">
            <a:spAutoFit/>
          </a:bodyPr>
          <a:lstStyle/>
          <a:p>
            <a:pPr algn="l"/>
            <a:r>
              <a:rPr b="1" sz="1275" i="0" u="none">
                <a:solidFill>
                  <a:srgbClr val="0078D4"/>
                </a:solidFill>
                <a:latin typeface="Inter"/>
              </a:rPr>
              <a:t>Scalability</a:t>
            </a:r>
          </a:p>
        </p:txBody>
      </p:sp>
      <p:sp>
        <p:nvSpPr>
          <p:cNvPr id="25" name="TextBox 24"/>
          <p:cNvSpPr txBox="1"/>
          <p:nvPr/>
        </p:nvSpPr>
        <p:spPr>
          <a:xfrm>
            <a:off x="4517975" y="1600200"/>
            <a:ext cx="3251150" cy="323850"/>
          </a:xfrm>
          <a:prstGeom prst="rect">
            <a:avLst/>
          </a:prstGeom>
          <a:noFill/>
        </p:spPr>
        <p:txBody>
          <a:bodyPr wrap="square" lIns="0" rIns="0" tIns="0" bIns="0" anchor="t">
            <a:spAutoFit/>
          </a:bodyPr>
          <a:lstStyle/>
          <a:p>
            <a:pPr algn="l"/>
            <a:r>
              <a:rPr b="0" sz="1050" i="0" u="none">
                <a:solidFill>
                  <a:srgbClr val="475569"/>
                </a:solidFill>
                <a:latin typeface="Inter"/>
              </a:rPr>
              <a:t>Scales effortlessly from small development teams to enterprise-wide group structures.</a:t>
            </a:r>
          </a:p>
        </p:txBody>
      </p:sp>
      <p:sp>
        <p:nvSpPr>
          <p:cNvPr id="26" name="TextBox 25"/>
          <p:cNvSpPr txBox="1"/>
          <p:nvPr/>
        </p:nvSpPr>
        <p:spPr>
          <a:xfrm>
            <a:off x="8226325" y="1352550"/>
            <a:ext cx="3965674" cy="190500"/>
          </a:xfrm>
          <a:prstGeom prst="rect">
            <a:avLst/>
          </a:prstGeom>
          <a:noFill/>
        </p:spPr>
        <p:txBody>
          <a:bodyPr wrap="none" lIns="161925" rIns="0" tIns="0" bIns="0" anchor="t">
            <a:spAutoFit/>
          </a:bodyPr>
          <a:lstStyle/>
          <a:p>
            <a:pPr algn="l"/>
            <a:r>
              <a:rPr b="1" sz="1275" i="0" u="none">
                <a:solidFill>
                  <a:srgbClr val="0078D4"/>
                </a:solidFill>
                <a:latin typeface="Inter"/>
              </a:rPr>
              <a:t>Reliability</a:t>
            </a:r>
          </a:p>
        </p:txBody>
      </p:sp>
      <p:sp>
        <p:nvSpPr>
          <p:cNvPr id="27" name="TextBox 26"/>
          <p:cNvSpPr txBox="1"/>
          <p:nvPr/>
        </p:nvSpPr>
        <p:spPr>
          <a:xfrm>
            <a:off x="8226325" y="1600200"/>
            <a:ext cx="3251299" cy="323850"/>
          </a:xfrm>
          <a:prstGeom prst="rect">
            <a:avLst/>
          </a:prstGeom>
          <a:noFill/>
        </p:spPr>
        <p:txBody>
          <a:bodyPr wrap="square" lIns="0" rIns="0" tIns="0" bIns="0" anchor="t">
            <a:spAutoFit/>
          </a:bodyPr>
          <a:lstStyle/>
          <a:p>
            <a:pPr algn="l"/>
            <a:r>
              <a:rPr b="0" sz="1050" i="0" u="none">
                <a:solidFill>
                  <a:srgbClr val="475569"/>
                </a:solidFill>
                <a:latin typeface="Inter"/>
              </a:rPr>
              <a:t>Ensures standardized, deterministic resource deployments without manual configuration errors.</a:t>
            </a:r>
          </a:p>
        </p:txBody>
      </p:sp>
      <p:sp>
        <p:nvSpPr>
          <p:cNvPr id="28" name="TextBox 27"/>
          <p:cNvSpPr txBox="1"/>
          <p:nvPr/>
        </p:nvSpPr>
        <p:spPr>
          <a:xfrm>
            <a:off x="809625" y="3615779"/>
            <a:ext cx="4142119" cy="190500"/>
          </a:xfrm>
          <a:prstGeom prst="rect">
            <a:avLst/>
          </a:prstGeom>
          <a:noFill/>
        </p:spPr>
        <p:txBody>
          <a:bodyPr wrap="none" lIns="161925" rIns="0" tIns="0" bIns="0" anchor="t">
            <a:spAutoFit/>
          </a:bodyPr>
          <a:lstStyle/>
          <a:p>
            <a:pPr algn="l"/>
            <a:r>
              <a:rPr b="1" sz="1275" i="0" u="none">
                <a:solidFill>
                  <a:srgbClr val="0078D4"/>
                </a:solidFill>
                <a:latin typeface="Inter"/>
              </a:rPr>
              <a:t>Maintainability</a:t>
            </a:r>
          </a:p>
        </p:txBody>
      </p:sp>
      <p:sp>
        <p:nvSpPr>
          <p:cNvPr id="29" name="TextBox 28"/>
          <p:cNvSpPr txBox="1"/>
          <p:nvPr/>
        </p:nvSpPr>
        <p:spPr>
          <a:xfrm>
            <a:off x="809625" y="3863429"/>
            <a:ext cx="3251150" cy="323850"/>
          </a:xfrm>
          <a:prstGeom prst="rect">
            <a:avLst/>
          </a:prstGeom>
          <a:noFill/>
        </p:spPr>
        <p:txBody>
          <a:bodyPr wrap="square" lIns="0" rIns="0" tIns="0" bIns="0" anchor="t">
            <a:spAutoFit/>
          </a:bodyPr>
          <a:lstStyle/>
          <a:p>
            <a:pPr algn="l"/>
            <a:r>
              <a:rPr b="0" sz="1050" i="0" u="none">
                <a:solidFill>
                  <a:srgbClr val="475569"/>
                </a:solidFill>
                <a:latin typeface="Inter"/>
              </a:rPr>
              <a:t>Single-point adjustments: updating group access instantly updates all member permissions.</a:t>
            </a:r>
          </a:p>
        </p:txBody>
      </p:sp>
      <p:sp>
        <p:nvSpPr>
          <p:cNvPr id="30" name="TextBox 29"/>
          <p:cNvSpPr txBox="1"/>
          <p:nvPr/>
        </p:nvSpPr>
        <p:spPr>
          <a:xfrm>
            <a:off x="4517975" y="3615779"/>
            <a:ext cx="4142119" cy="190500"/>
          </a:xfrm>
          <a:prstGeom prst="rect">
            <a:avLst/>
          </a:prstGeom>
          <a:noFill/>
        </p:spPr>
        <p:txBody>
          <a:bodyPr wrap="none" lIns="180975" rIns="0" tIns="0" bIns="0" anchor="t">
            <a:spAutoFit/>
          </a:bodyPr>
          <a:lstStyle/>
          <a:p>
            <a:pPr algn="l"/>
            <a:r>
              <a:rPr b="1" sz="1275" i="0" u="none">
                <a:solidFill>
                  <a:srgbClr val="0078D4"/>
                </a:solidFill>
                <a:latin typeface="Inter"/>
              </a:rPr>
              <a:t>Governance</a:t>
            </a:r>
          </a:p>
        </p:txBody>
      </p:sp>
      <p:sp>
        <p:nvSpPr>
          <p:cNvPr id="31" name="TextBox 30"/>
          <p:cNvSpPr txBox="1"/>
          <p:nvPr/>
        </p:nvSpPr>
        <p:spPr>
          <a:xfrm>
            <a:off x="4517975" y="3863429"/>
            <a:ext cx="3251150" cy="323850"/>
          </a:xfrm>
          <a:prstGeom prst="rect">
            <a:avLst/>
          </a:prstGeom>
          <a:noFill/>
        </p:spPr>
        <p:txBody>
          <a:bodyPr wrap="square" lIns="0" rIns="0" tIns="0" bIns="0" anchor="t">
            <a:spAutoFit/>
          </a:bodyPr>
          <a:lstStyle/>
          <a:p>
            <a:pPr algn="l"/>
            <a:r>
              <a:rPr b="0" sz="1050" i="0" u="none">
                <a:solidFill>
                  <a:srgbClr val="475569"/>
                </a:solidFill>
                <a:latin typeface="Inter"/>
              </a:rPr>
              <a:t>Policy-driven compliance guarding against unauthorized cloud resource creation.</a:t>
            </a:r>
          </a:p>
        </p:txBody>
      </p:sp>
      <p:sp>
        <p:nvSpPr>
          <p:cNvPr id="32" name="TextBox 31"/>
          <p:cNvSpPr txBox="1"/>
          <p:nvPr/>
        </p:nvSpPr>
        <p:spPr>
          <a:xfrm>
            <a:off x="8226325" y="3615779"/>
            <a:ext cx="3965674" cy="190500"/>
          </a:xfrm>
          <a:prstGeom prst="rect">
            <a:avLst/>
          </a:prstGeom>
          <a:noFill/>
        </p:spPr>
        <p:txBody>
          <a:bodyPr wrap="none" lIns="123825" rIns="0" tIns="0" bIns="0" anchor="t">
            <a:spAutoFit/>
          </a:bodyPr>
          <a:lstStyle/>
          <a:p>
            <a:pPr algn="l"/>
            <a:r>
              <a:rPr b="1" sz="1275" i="0" u="none">
                <a:solidFill>
                  <a:srgbClr val="0078D4"/>
                </a:solidFill>
                <a:latin typeface="Inter"/>
              </a:rPr>
              <a:t>Cost Control &amp; Audit</a:t>
            </a:r>
          </a:p>
        </p:txBody>
      </p:sp>
      <p:sp>
        <p:nvSpPr>
          <p:cNvPr id="33" name="TextBox 32"/>
          <p:cNvSpPr txBox="1"/>
          <p:nvPr/>
        </p:nvSpPr>
        <p:spPr>
          <a:xfrm>
            <a:off x="8226325" y="3863429"/>
            <a:ext cx="3251299" cy="323850"/>
          </a:xfrm>
          <a:prstGeom prst="rect">
            <a:avLst/>
          </a:prstGeom>
          <a:noFill/>
        </p:spPr>
        <p:txBody>
          <a:bodyPr wrap="square" lIns="0" rIns="0" tIns="0" bIns="0" anchor="t">
            <a:spAutoFit/>
          </a:bodyPr>
          <a:lstStyle/>
          <a:p>
            <a:pPr algn="l"/>
            <a:r>
              <a:rPr b="0" sz="1050" i="0" u="none">
                <a:solidFill>
                  <a:srgbClr val="475569"/>
                </a:solidFill>
                <a:latin typeface="Inter"/>
              </a:rPr>
              <a:t>Real-time spend notifications and clear auditability for administrators.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27343" y="2415629"/>
            <a:ext cx="962025"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227343" y="2825204"/>
            <a:ext cx="962025"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227343" y="3234779"/>
            <a:ext cx="962025"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227343" y="3644354"/>
            <a:ext cx="962025"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227343" y="4053929"/>
            <a:ext cx="962025" cy="209550"/>
          </a:xfrm>
          <a:prstGeom prst="roundRect">
            <a:avLst>
              <a:gd name="adj" fmla="val 1818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27343" y="4463504"/>
            <a:ext cx="1571625" cy="209550"/>
          </a:xfrm>
          <a:prstGeom prst="roundRect">
            <a:avLst>
              <a:gd name="adj" fmla="val 18181"/>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11191875" y="538162"/>
            <a:ext cx="390525" cy="342900"/>
          </a:xfrm>
          <a:prstGeom prst="rect">
            <a:avLst/>
          </a:prstGeom>
        </p:spPr>
      </p:pic>
      <p:pic>
        <p:nvPicPr>
          <p:cNvPr id="11" name="Picture 10" descr="image.png"/>
          <p:cNvPicPr>
            <a:picLocks noChangeAspect="1"/>
          </p:cNvPicPr>
          <p:nvPr/>
        </p:nvPicPr>
        <p:blipFill>
          <a:blip r:embed="rId3"/>
          <a:stretch>
            <a:fillRect/>
          </a:stretch>
        </p:blipFill>
        <p:spPr>
          <a:xfrm>
            <a:off x="800100" y="5788521"/>
            <a:ext cx="112514" cy="123825"/>
          </a:xfrm>
          <a:prstGeom prst="rect">
            <a:avLst/>
          </a:prstGeom>
        </p:spPr>
      </p:pic>
      <p:sp>
        <p:nvSpPr>
          <p:cNvPr id="12" name="Rounded Rectangle 11"/>
          <p:cNvSpPr/>
          <p:nvPr/>
        </p:nvSpPr>
        <p:spPr>
          <a:xfrm>
            <a:off x="609600" y="1901279"/>
            <a:ext cx="10972800" cy="287655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09600" y="1901279"/>
          <a:ext cx="10963273" cy="2876550"/>
        </p:xfrm>
        <a:graphic>
          <a:graphicData uri="http://schemas.openxmlformats.org/drawingml/2006/table">
            <a:tbl>
              <a:tblPr firstRow="0" bandRow="0">
                <a:lnL>
                  <a:noFill/>
                </a:lnL>
                <a:lnR>
                  <a:noFill/>
                </a:lnR>
                <a:lnT>
                  <a:noFill/>
                </a:lnT>
                <a:lnB>
                  <a:noFill/>
                </a:lnB>
                <a:lnV>
                  <a:noFill/>
                </a:lnV>
                <a:lnH>
                  <a:noFill/>
                </a:lnH>
              </a:tblPr>
              <a:tblGrid>
                <a:gridCol w="3606254"/>
                <a:gridCol w="4854326"/>
                <a:gridCol w="2502693"/>
              </a:tblGrid>
              <a:tr h="410935">
                <a:tc>
                  <a:txBody>
                    <a:bodyPr/>
                    <a:lstStyle/>
                    <a:p>
                      <a:pPr algn="l"/>
                      <a:r>
                        <a:rPr b="1" sz="1125" i="0" u="none">
                          <a:solidFill>
                            <a:srgbClr val="FFFFFF"/>
                          </a:solidFill>
                          <a:latin typeface="Inter"/>
                        </a:rPr>
                        <a:t>Technology / Resource</a:t>
                      </a:r>
                    </a:p>
                  </a:txBody>
                  <a:tcPr anchor="ctr" marL="63500" marR="63500" marT="25400" marB="25400">
                    <a:lnL>
                      <a:noFill/>
                    </a:lnL>
                    <a:lnR>
                      <a:noFill/>
                    </a:lnR>
                    <a:lnT>
                      <a:noFill/>
                    </a:lnT>
                    <a:lnB>
                      <a:noFill/>
                    </a:lnB>
                    <a:solidFill>
                      <a:srgbClr val="0078D4"/>
                    </a:solidFill>
                  </a:tcPr>
                </a:tc>
                <a:tc>
                  <a:txBody>
                    <a:bodyPr/>
                    <a:lstStyle/>
                    <a:p>
                      <a:pPr algn="l"/>
                      <a:r>
                        <a:rPr b="1" sz="1125" i="0" u="none">
                          <a:solidFill>
                            <a:srgbClr val="FFFFFF"/>
                          </a:solidFill>
                          <a:latin typeface="Inter"/>
                        </a:rPr>
                        <a:t>Purpose in Project</a:t>
                      </a:r>
                    </a:p>
                  </a:txBody>
                  <a:tcPr anchor="ctr" marL="63500" marR="63500" marT="25400" marB="25400">
                    <a:lnL>
                      <a:noFill/>
                    </a:lnL>
                    <a:lnR>
                      <a:noFill/>
                    </a:lnR>
                    <a:lnT>
                      <a:noFill/>
                    </a:lnT>
                    <a:lnB>
                      <a:noFill/>
                    </a:lnB>
                    <a:solidFill>
                      <a:srgbClr val="0078D4"/>
                    </a:solidFill>
                  </a:tcPr>
                </a:tc>
                <a:tc>
                  <a:txBody>
                    <a:bodyPr/>
                    <a:lstStyle/>
                    <a:p>
                      <a:pPr algn="l"/>
                      <a:r>
                        <a:rPr b="1" sz="1125" i="0" u="none">
                          <a:solidFill>
                            <a:srgbClr val="FFFFFF"/>
                          </a:solidFill>
                          <a:latin typeface="Inter"/>
                        </a:rPr>
                        <a:t>Implementation Status</a:t>
                      </a:r>
                    </a:p>
                  </a:txBody>
                  <a:tcPr anchor="ctr" marL="63500" marR="63500" marT="25400" marB="25400">
                    <a:lnL>
                      <a:noFill/>
                    </a:lnL>
                    <a:lnR>
                      <a:noFill/>
                    </a:lnR>
                    <a:lnT>
                      <a:noFill/>
                    </a:lnT>
                    <a:lnB>
                      <a:noFill/>
                    </a:lnB>
                    <a:solidFill>
                      <a:srgbClr val="0078D4"/>
                    </a:solidFill>
                  </a:tcPr>
                </a:tc>
              </a:tr>
              <a:tr h="410935">
                <a:tc>
                  <a:txBody>
                    <a:bodyPr/>
                    <a:lstStyle/>
                    <a:p>
                      <a:pPr algn="l"/>
                      <a:r>
                        <a:rPr b="1" sz="1125" i="0" u="none">
                          <a:solidFill>
                            <a:srgbClr val="334155"/>
                          </a:solidFill>
                          <a:latin typeface="Inter"/>
                        </a:rPr>
                        <a:t>Microsoft Entra ID / Azure Groups</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User identity &amp; group membership management</a:t>
                      </a:r>
                    </a:p>
                  </a:txBody>
                  <a:tcPr anchor="ctr" marL="63500" marR="63500" marT="25400" marB="25400">
                    <a:lnL>
                      <a:noFill/>
                    </a:lnL>
                    <a:lnR>
                      <a:noFill/>
                    </a:lnR>
                    <a:lnT>
                      <a:noFill/>
                    </a:lnT>
                    <a:lnB>
                      <a:noFill/>
                    </a:lnB>
                    <a:solidFill>
                      <a:srgbClr val="FFFFFF"/>
                    </a:solidFill>
                  </a:tcPr>
                </a:tc>
                <a:tc>
                  <a:txBody>
                    <a:bodyPr/>
                    <a:lstStyle/>
                    <a:p>
                      <a:pPr algn="l"/>
                    </a:p>
                  </a:txBody>
                  <a:tcPr anchor="ctr" marL="63500" marR="63500" marT="25400" marB="25400">
                    <a:lnL>
                      <a:noFill/>
                    </a:lnL>
                    <a:lnR>
                      <a:noFill/>
                    </a:lnR>
                    <a:lnT>
                      <a:noFill/>
                    </a:lnT>
                    <a:lnB>
                      <a:noFill/>
                    </a:lnB>
                    <a:solidFill>
                      <a:srgbClr val="FFFFFF"/>
                    </a:solidFill>
                  </a:tcPr>
                </a:tc>
              </a:tr>
              <a:tr h="410935">
                <a:tc>
                  <a:txBody>
                    <a:bodyPr/>
                    <a:lstStyle/>
                    <a:p>
                      <a:pPr algn="l"/>
                      <a:r>
                        <a:rPr b="1" sz="1125" i="0" u="none">
                          <a:solidFill>
                            <a:srgbClr val="334155"/>
                          </a:solidFill>
                          <a:latin typeface="Inter"/>
                        </a:rPr>
                        <a:t>Azure RBAC</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Control access permissions (Contributor role)</a:t>
                      </a:r>
                    </a:p>
                  </a:txBody>
                  <a:tcPr anchor="ctr" marL="63500" marR="63500" marT="25400" marB="25400">
                    <a:lnL>
                      <a:noFill/>
                    </a:lnL>
                    <a:lnR>
                      <a:noFill/>
                    </a:lnR>
                    <a:lnT>
                      <a:noFill/>
                    </a:lnT>
                    <a:lnB>
                      <a:noFill/>
                    </a:lnB>
                    <a:solidFill>
                      <a:srgbClr val="F8FAFC"/>
                    </a:solidFill>
                  </a:tcPr>
                </a:tc>
                <a:tc>
                  <a:txBody>
                    <a:bodyPr/>
                    <a:lstStyle/>
                    <a:p>
                      <a:pPr algn="l"/>
                    </a:p>
                  </a:txBody>
                  <a:tcPr anchor="ctr" marL="63500" marR="63500" marT="25400" marB="25400">
                    <a:lnL>
                      <a:noFill/>
                    </a:lnL>
                    <a:lnR>
                      <a:noFill/>
                    </a:lnR>
                    <a:lnT>
                      <a:noFill/>
                    </a:lnT>
                    <a:lnB>
                      <a:noFill/>
                    </a:lnB>
                    <a:solidFill>
                      <a:srgbClr val="F8FAFC"/>
                    </a:solidFill>
                  </a:tcPr>
                </a:tc>
              </a:tr>
              <a:tr h="410935">
                <a:tc>
                  <a:txBody>
                    <a:bodyPr/>
                    <a:lstStyle/>
                    <a:p>
                      <a:pPr algn="l"/>
                      <a:r>
                        <a:rPr b="1" sz="1125" i="0" u="none">
                          <a:solidFill>
                            <a:srgbClr val="334155"/>
                          </a:solidFill>
                          <a:latin typeface="Inter"/>
                        </a:rPr>
                        <a:t>Azure Resource Groups</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Logical container for group resource allocation</a:t>
                      </a:r>
                    </a:p>
                  </a:txBody>
                  <a:tcPr anchor="ctr" marL="63500" marR="63500" marT="25400" marB="25400">
                    <a:lnL>
                      <a:noFill/>
                    </a:lnL>
                    <a:lnR>
                      <a:noFill/>
                    </a:lnR>
                    <a:lnT>
                      <a:noFill/>
                    </a:lnT>
                    <a:lnB>
                      <a:noFill/>
                    </a:lnB>
                    <a:solidFill>
                      <a:srgbClr val="FFFFFF"/>
                    </a:solidFill>
                  </a:tcPr>
                </a:tc>
                <a:tc>
                  <a:txBody>
                    <a:bodyPr/>
                    <a:lstStyle/>
                    <a:p>
                      <a:pPr algn="l"/>
                    </a:p>
                  </a:txBody>
                  <a:tcPr anchor="ctr" marL="63500" marR="63500" marT="25400" marB="25400">
                    <a:lnL>
                      <a:noFill/>
                    </a:lnL>
                    <a:lnR>
                      <a:noFill/>
                    </a:lnR>
                    <a:lnT>
                      <a:noFill/>
                    </a:lnT>
                    <a:lnB>
                      <a:noFill/>
                    </a:lnB>
                    <a:solidFill>
                      <a:srgbClr val="FFFFFF"/>
                    </a:solidFill>
                  </a:tcPr>
                </a:tc>
              </a:tr>
              <a:tr h="410935">
                <a:tc>
                  <a:txBody>
                    <a:bodyPr/>
                    <a:lstStyle/>
                    <a:p>
                      <a:pPr algn="l"/>
                      <a:r>
                        <a:rPr b="1" sz="1125" i="0" u="none">
                          <a:solidFill>
                            <a:srgbClr val="334155"/>
                          </a:solidFill>
                          <a:latin typeface="Inter"/>
                        </a:rPr>
                        <a:t>Azure Storage &amp; Blob Storage</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Cloud resource demonstration &amp; test data storage</a:t>
                      </a:r>
                    </a:p>
                  </a:txBody>
                  <a:tcPr anchor="ctr" marL="63500" marR="63500" marT="25400" marB="25400">
                    <a:lnL>
                      <a:noFill/>
                    </a:lnL>
                    <a:lnR>
                      <a:noFill/>
                    </a:lnR>
                    <a:lnT>
                      <a:noFill/>
                    </a:lnT>
                    <a:lnB>
                      <a:noFill/>
                    </a:lnB>
                    <a:solidFill>
                      <a:srgbClr val="F8FAFC"/>
                    </a:solidFill>
                  </a:tcPr>
                </a:tc>
                <a:tc>
                  <a:txBody>
                    <a:bodyPr/>
                    <a:lstStyle/>
                    <a:p>
                      <a:pPr algn="l"/>
                    </a:p>
                  </a:txBody>
                  <a:tcPr anchor="ctr" marL="63500" marR="63500" marT="25400" marB="25400">
                    <a:lnL>
                      <a:noFill/>
                    </a:lnL>
                    <a:lnR>
                      <a:noFill/>
                    </a:lnR>
                    <a:lnT>
                      <a:noFill/>
                    </a:lnT>
                    <a:lnB>
                      <a:noFill/>
                    </a:lnB>
                    <a:solidFill>
                      <a:srgbClr val="F8FAFC"/>
                    </a:solidFill>
                  </a:tcPr>
                </a:tc>
              </a:tr>
              <a:tr h="410935">
                <a:tc>
                  <a:txBody>
                    <a:bodyPr/>
                    <a:lstStyle/>
                    <a:p>
                      <a:pPr algn="l"/>
                      <a:r>
                        <a:rPr b="1" sz="1125" i="0" u="none">
                          <a:solidFill>
                            <a:srgbClr val="334155"/>
                          </a:solidFill>
                          <a:latin typeface="Inter"/>
                        </a:rPr>
                        <a:t>Azure Policy &amp; Cost Management</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Compliance rules &amp; budget alert monitoring</a:t>
                      </a:r>
                    </a:p>
                  </a:txBody>
                  <a:tcPr anchor="ctr" marL="63500" marR="63500" marT="25400" marB="25400">
                    <a:lnL>
                      <a:noFill/>
                    </a:lnL>
                    <a:lnR>
                      <a:noFill/>
                    </a:lnR>
                    <a:lnT>
                      <a:noFill/>
                    </a:lnT>
                    <a:lnB>
                      <a:noFill/>
                    </a:lnB>
                    <a:solidFill>
                      <a:srgbClr val="FFFFFF"/>
                    </a:solidFill>
                  </a:tcPr>
                </a:tc>
                <a:tc>
                  <a:txBody>
                    <a:bodyPr/>
                    <a:lstStyle/>
                    <a:p>
                      <a:pPr algn="l"/>
                    </a:p>
                  </a:txBody>
                  <a:tcPr anchor="ctr" marL="63500" marR="63500" marT="25400" marB="25400">
                    <a:lnL>
                      <a:noFill/>
                    </a:lnL>
                    <a:lnR>
                      <a:noFill/>
                    </a:lnR>
                    <a:lnT>
                      <a:noFill/>
                    </a:lnT>
                    <a:lnB>
                      <a:noFill/>
                    </a:lnB>
                    <a:solidFill>
                      <a:srgbClr val="FFFFFF"/>
                    </a:solidFill>
                  </a:tcPr>
                </a:tc>
              </a:tr>
              <a:tr h="410940">
                <a:tc>
                  <a:txBody>
                    <a:bodyPr/>
                    <a:lstStyle/>
                    <a:p>
                      <a:pPr algn="l"/>
                      <a:r>
                        <a:rPr b="1" sz="1125" i="0" u="none">
                          <a:solidFill>
                            <a:srgbClr val="334155"/>
                          </a:solidFill>
                          <a:latin typeface="Inter"/>
                        </a:rPr>
                        <a:t>Subscription Vending / Automation</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Automated programmatic subscription creation</a:t>
                      </a:r>
                    </a:p>
                  </a:txBody>
                  <a:tcPr anchor="ctr" marL="63500" marR="63500" marT="25400" marB="25400">
                    <a:lnL>
                      <a:noFill/>
                    </a:lnL>
                    <a:lnR>
                      <a:noFill/>
                    </a:lnR>
                    <a:lnT>
                      <a:noFill/>
                    </a:lnT>
                    <a:lnB>
                      <a:noFill/>
                    </a:lnB>
                    <a:solidFill>
                      <a:srgbClr val="FFFFFF"/>
                    </a:solidFill>
                  </a:tcPr>
                </a:tc>
                <a:tc>
                  <a:txBody>
                    <a:bodyPr/>
                    <a:lstStyle/>
                    <a:p>
                      <a:pPr algn="l"/>
                    </a:p>
                  </a:txBody>
                  <a:tcPr anchor="ctr" marL="63500" marR="63500" marT="25400" marB="25400">
                    <a:lnL>
                      <a:noFill/>
                    </a:lnL>
                    <a:lnR>
                      <a:noFill/>
                    </a:lnR>
                    <a:lnT>
                      <a:noFill/>
                    </a:lnT>
                    <a:lnB>
                      <a:noFill/>
                    </a:lnB>
                    <a:solidFill>
                      <a:srgbClr val="FFFFFF"/>
                    </a:solidFill>
                  </a:tcPr>
                </a:tc>
              </a:tr>
            </a:tbl>
          </a:graphicData>
        </a:graphic>
      </p:graphicFrame>
      <p:sp>
        <p:nvSpPr>
          <p:cNvPr id="14" name="TextBox 13"/>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15" name="TextBox 14"/>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This table details our cloud stack. Note that core identity, RBAC, resource deployment, policy, and budget monitoring are fully implemented in our prototype. Programmatic subscription vending is categorized under future scope.</a:t>
            </a:r>
          </a:p>
        </p:txBody>
      </p:sp>
      <p:sp>
        <p:nvSpPr>
          <p:cNvPr id="16" name="TextBox 15"/>
          <p:cNvSpPr txBox="1"/>
          <p:nvPr/>
        </p:nvSpPr>
        <p:spPr>
          <a:xfrm>
            <a:off x="609600" y="457200"/>
            <a:ext cx="6834187" cy="161925"/>
          </a:xfrm>
          <a:prstGeom prst="rect">
            <a:avLst/>
          </a:prstGeom>
          <a:noFill/>
        </p:spPr>
        <p:txBody>
          <a:bodyPr wrap="none" lIns="0" rIns="0" tIns="0" bIns="0" anchor="t">
            <a:spAutoFit/>
          </a:bodyPr>
          <a:lstStyle/>
          <a:p>
            <a:pPr algn="l"/>
            <a:r>
              <a:rPr b="1" sz="1050" i="0" u="none">
                <a:solidFill>
                  <a:srgbClr val="0078D4"/>
                </a:solidFill>
                <a:latin typeface="Inter"/>
              </a:rPr>
              <a:t>STACK BREAKDOWN</a:t>
            </a:r>
          </a:p>
        </p:txBody>
      </p:sp>
      <p:sp>
        <p:nvSpPr>
          <p:cNvPr id="17" name="TextBox 16"/>
          <p:cNvSpPr txBox="1"/>
          <p:nvPr/>
        </p:nvSpPr>
        <p:spPr>
          <a:xfrm>
            <a:off x="609600" y="619125"/>
            <a:ext cx="7175896"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Azure Technologies &amp; Resources Used</a:t>
            </a:r>
          </a:p>
        </p:txBody>
      </p:sp>
      <p:sp>
        <p:nvSpPr>
          <p:cNvPr id="18" name="TextBox 17"/>
          <p:cNvSpPr txBox="1"/>
          <p:nvPr/>
        </p:nvSpPr>
        <p:spPr>
          <a:xfrm>
            <a:off x="9303543" y="2444204"/>
            <a:ext cx="904875" cy="152400"/>
          </a:xfrm>
          <a:prstGeom prst="rect">
            <a:avLst/>
          </a:prstGeom>
          <a:noFill/>
        </p:spPr>
        <p:txBody>
          <a:bodyPr wrap="square" lIns="0" rIns="0" tIns="0" bIns="0" anchor="t">
            <a:spAutoFit/>
          </a:bodyPr>
          <a:lstStyle/>
          <a:p>
            <a:pPr algn="l"/>
            <a:r>
              <a:rPr b="1" sz="975" i="0" u="none">
                <a:solidFill>
                  <a:srgbClr val="166534"/>
                </a:solidFill>
                <a:latin typeface="Inter"/>
              </a:rPr>
              <a:t>Implemented</a:t>
            </a:r>
          </a:p>
        </p:txBody>
      </p:sp>
      <p:sp>
        <p:nvSpPr>
          <p:cNvPr id="19" name="TextBox 18"/>
          <p:cNvSpPr txBox="1"/>
          <p:nvPr/>
        </p:nvSpPr>
        <p:spPr>
          <a:xfrm>
            <a:off x="9303543" y="2853779"/>
            <a:ext cx="904875" cy="152400"/>
          </a:xfrm>
          <a:prstGeom prst="rect">
            <a:avLst/>
          </a:prstGeom>
          <a:noFill/>
        </p:spPr>
        <p:txBody>
          <a:bodyPr wrap="square" lIns="0" rIns="0" tIns="0" bIns="0" anchor="t">
            <a:spAutoFit/>
          </a:bodyPr>
          <a:lstStyle/>
          <a:p>
            <a:pPr algn="l"/>
            <a:r>
              <a:rPr b="1" sz="975" i="0" u="none">
                <a:solidFill>
                  <a:srgbClr val="166534"/>
                </a:solidFill>
                <a:latin typeface="Inter"/>
              </a:rPr>
              <a:t>Implemented</a:t>
            </a:r>
          </a:p>
        </p:txBody>
      </p:sp>
      <p:sp>
        <p:nvSpPr>
          <p:cNvPr id="20" name="TextBox 19"/>
          <p:cNvSpPr txBox="1"/>
          <p:nvPr/>
        </p:nvSpPr>
        <p:spPr>
          <a:xfrm>
            <a:off x="9303543" y="3263354"/>
            <a:ext cx="904875" cy="152400"/>
          </a:xfrm>
          <a:prstGeom prst="rect">
            <a:avLst/>
          </a:prstGeom>
          <a:noFill/>
        </p:spPr>
        <p:txBody>
          <a:bodyPr wrap="square" lIns="0" rIns="0" tIns="0" bIns="0" anchor="t">
            <a:spAutoFit/>
          </a:bodyPr>
          <a:lstStyle/>
          <a:p>
            <a:pPr algn="l"/>
            <a:r>
              <a:rPr b="1" sz="975" i="0" u="none">
                <a:solidFill>
                  <a:srgbClr val="166534"/>
                </a:solidFill>
                <a:latin typeface="Inter"/>
              </a:rPr>
              <a:t>Implemented</a:t>
            </a:r>
          </a:p>
        </p:txBody>
      </p:sp>
      <p:sp>
        <p:nvSpPr>
          <p:cNvPr id="21" name="TextBox 20"/>
          <p:cNvSpPr txBox="1"/>
          <p:nvPr/>
        </p:nvSpPr>
        <p:spPr>
          <a:xfrm>
            <a:off x="9303543" y="3672929"/>
            <a:ext cx="904875" cy="152400"/>
          </a:xfrm>
          <a:prstGeom prst="rect">
            <a:avLst/>
          </a:prstGeom>
          <a:noFill/>
        </p:spPr>
        <p:txBody>
          <a:bodyPr wrap="square" lIns="0" rIns="0" tIns="0" bIns="0" anchor="t">
            <a:spAutoFit/>
          </a:bodyPr>
          <a:lstStyle/>
          <a:p>
            <a:pPr algn="l"/>
            <a:r>
              <a:rPr b="1" sz="975" i="0" u="none">
                <a:solidFill>
                  <a:srgbClr val="166534"/>
                </a:solidFill>
                <a:latin typeface="Inter"/>
              </a:rPr>
              <a:t>Implemented</a:t>
            </a:r>
          </a:p>
        </p:txBody>
      </p:sp>
      <p:sp>
        <p:nvSpPr>
          <p:cNvPr id="22" name="TextBox 21"/>
          <p:cNvSpPr txBox="1"/>
          <p:nvPr/>
        </p:nvSpPr>
        <p:spPr>
          <a:xfrm>
            <a:off x="9303543" y="4082504"/>
            <a:ext cx="904875" cy="152400"/>
          </a:xfrm>
          <a:prstGeom prst="rect">
            <a:avLst/>
          </a:prstGeom>
          <a:noFill/>
        </p:spPr>
        <p:txBody>
          <a:bodyPr wrap="square" lIns="0" rIns="0" tIns="0" bIns="0" anchor="t">
            <a:spAutoFit/>
          </a:bodyPr>
          <a:lstStyle/>
          <a:p>
            <a:pPr algn="l"/>
            <a:r>
              <a:rPr b="1" sz="975" i="0" u="none">
                <a:solidFill>
                  <a:srgbClr val="166534"/>
                </a:solidFill>
                <a:latin typeface="Inter"/>
              </a:rPr>
              <a:t>Implemented</a:t>
            </a:r>
          </a:p>
        </p:txBody>
      </p:sp>
      <p:sp>
        <p:nvSpPr>
          <p:cNvPr id="23" name="TextBox 22"/>
          <p:cNvSpPr txBox="1"/>
          <p:nvPr/>
        </p:nvSpPr>
        <p:spPr>
          <a:xfrm>
            <a:off x="9303543" y="4492079"/>
            <a:ext cx="1514475" cy="152400"/>
          </a:xfrm>
          <a:prstGeom prst="rect">
            <a:avLst/>
          </a:prstGeom>
          <a:noFill/>
        </p:spPr>
        <p:txBody>
          <a:bodyPr wrap="square" lIns="0" rIns="0" tIns="0" bIns="0" anchor="t">
            <a:spAutoFit/>
          </a:bodyPr>
          <a:lstStyle/>
          <a:p>
            <a:pPr algn="l"/>
            <a:r>
              <a:rPr b="1" sz="975" i="0" u="none">
                <a:solidFill>
                  <a:srgbClr val="92400E"/>
                </a:solidFill>
                <a:latin typeface="Inter"/>
              </a:rPr>
              <a:t>Planned / Future Scope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905500"/>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152525"/>
            <a:ext cx="10972800" cy="2676525"/>
          </a:xfrm>
          <a:prstGeom prst="roundRect">
            <a:avLst>
              <a:gd name="adj" fmla="val 427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905500"/>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9625" y="1514475"/>
            <a:ext cx="10572750" cy="371475"/>
          </a:xfrm>
          <a:prstGeom prst="roundRect">
            <a:avLst>
              <a:gd name="adj" fmla="val 20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09625" y="2076450"/>
            <a:ext cx="10572750" cy="390525"/>
          </a:xfrm>
          <a:prstGeom prst="roundRect">
            <a:avLst>
              <a:gd name="adj" fmla="val 1951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9625" y="2657475"/>
            <a:ext cx="10572750" cy="390525"/>
          </a:xfrm>
          <a:prstGeom prst="roundRect">
            <a:avLst>
              <a:gd name="adj" fmla="val 19512"/>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9625" y="3238500"/>
            <a:ext cx="10572750" cy="390525"/>
          </a:xfrm>
          <a:prstGeom prst="roundRect">
            <a:avLst>
              <a:gd name="adj" fmla="val 19512"/>
            </a:avLst>
          </a:prstGeom>
          <a:solidFill>
            <a:srgbClr val="FEFCE8"/>
          </a:solidFill>
          <a:ln w="9525">
            <a:solidFill>
              <a:srgbClr val="FEF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600" y="4019550"/>
            <a:ext cx="10972800" cy="790575"/>
          </a:xfrm>
          <a:prstGeom prst="roundRect">
            <a:avLst>
              <a:gd name="adj" fmla="val 120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4962525"/>
            <a:ext cx="10972800" cy="790575"/>
          </a:xfrm>
          <a:prstGeom prst="roundRect">
            <a:avLst>
              <a:gd name="adj" fmla="val 120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480060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600" y="401955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600" y="4019550"/>
            <a:ext cx="38100" cy="790575"/>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572875" y="4019550"/>
            <a:ext cx="9525" cy="7905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600" y="57435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600" y="49625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600" y="4962525"/>
            <a:ext cx="38100" cy="79057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72875" y="4962525"/>
            <a:ext cx="9525" cy="7905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2"/>
          <a:stretch>
            <a:fillRect/>
          </a:stretch>
        </p:blipFill>
        <p:spPr>
          <a:xfrm>
            <a:off x="11191875" y="538162"/>
            <a:ext cx="390525" cy="342900"/>
          </a:xfrm>
          <a:prstGeom prst="rect">
            <a:avLst/>
          </a:prstGeom>
        </p:spPr>
      </p:pic>
      <p:pic>
        <p:nvPicPr>
          <p:cNvPr id="20" name="Picture 19" descr="image.png"/>
          <p:cNvPicPr>
            <a:picLocks noChangeAspect="1"/>
          </p:cNvPicPr>
          <p:nvPr/>
        </p:nvPicPr>
        <p:blipFill>
          <a:blip r:embed="rId3"/>
          <a:stretch>
            <a:fillRect/>
          </a:stretch>
        </p:blipFill>
        <p:spPr>
          <a:xfrm>
            <a:off x="800100" y="6015037"/>
            <a:ext cx="112514" cy="123825"/>
          </a:xfrm>
          <a:prstGeom prst="rect">
            <a:avLst/>
          </a:prstGeom>
        </p:spPr>
      </p:pic>
      <p:pic>
        <p:nvPicPr>
          <p:cNvPr id="21" name="Picture 20" descr="image.png"/>
          <p:cNvPicPr>
            <a:picLocks noChangeAspect="1"/>
          </p:cNvPicPr>
          <p:nvPr/>
        </p:nvPicPr>
        <p:blipFill>
          <a:blip r:embed="rId4"/>
          <a:stretch>
            <a:fillRect/>
          </a:stretch>
        </p:blipFill>
        <p:spPr>
          <a:xfrm>
            <a:off x="5610225" y="1624012"/>
            <a:ext cx="133350" cy="152400"/>
          </a:xfrm>
          <a:prstGeom prst="rect">
            <a:avLst/>
          </a:prstGeom>
        </p:spPr>
      </p:pic>
      <p:pic>
        <p:nvPicPr>
          <p:cNvPr id="22" name="Picture 21" descr="image.png"/>
          <p:cNvPicPr>
            <a:picLocks noChangeAspect="1"/>
          </p:cNvPicPr>
          <p:nvPr/>
        </p:nvPicPr>
        <p:blipFill>
          <a:blip r:embed="rId5"/>
          <a:stretch>
            <a:fillRect/>
          </a:stretch>
        </p:blipFill>
        <p:spPr>
          <a:xfrm>
            <a:off x="6038850" y="1905000"/>
            <a:ext cx="114300" cy="152400"/>
          </a:xfrm>
          <a:prstGeom prst="rect">
            <a:avLst/>
          </a:prstGeom>
        </p:spPr>
      </p:pic>
      <p:pic>
        <p:nvPicPr>
          <p:cNvPr id="23" name="Picture 22" descr="image.png"/>
          <p:cNvPicPr>
            <a:picLocks noChangeAspect="1"/>
          </p:cNvPicPr>
          <p:nvPr/>
        </p:nvPicPr>
        <p:blipFill>
          <a:blip r:embed="rId4"/>
          <a:stretch>
            <a:fillRect/>
          </a:stretch>
        </p:blipFill>
        <p:spPr>
          <a:xfrm>
            <a:off x="6134100" y="2195512"/>
            <a:ext cx="133350" cy="152400"/>
          </a:xfrm>
          <a:prstGeom prst="rect">
            <a:avLst/>
          </a:prstGeom>
        </p:spPr>
      </p:pic>
      <p:pic>
        <p:nvPicPr>
          <p:cNvPr id="24" name="Picture 23" descr="image.png"/>
          <p:cNvPicPr>
            <a:picLocks noChangeAspect="1"/>
          </p:cNvPicPr>
          <p:nvPr/>
        </p:nvPicPr>
        <p:blipFill>
          <a:blip r:embed="rId5"/>
          <a:stretch>
            <a:fillRect/>
          </a:stretch>
        </p:blipFill>
        <p:spPr>
          <a:xfrm>
            <a:off x="6038850" y="2486025"/>
            <a:ext cx="114300" cy="152400"/>
          </a:xfrm>
          <a:prstGeom prst="rect">
            <a:avLst/>
          </a:prstGeom>
        </p:spPr>
      </p:pic>
      <p:pic>
        <p:nvPicPr>
          <p:cNvPr id="25" name="Picture 24" descr="image.png"/>
          <p:cNvPicPr>
            <a:picLocks noChangeAspect="1"/>
          </p:cNvPicPr>
          <p:nvPr/>
        </p:nvPicPr>
        <p:blipFill>
          <a:blip r:embed="rId6"/>
          <a:stretch>
            <a:fillRect/>
          </a:stretch>
        </p:blipFill>
        <p:spPr>
          <a:xfrm>
            <a:off x="5186064" y="2776537"/>
            <a:ext cx="133350" cy="152400"/>
          </a:xfrm>
          <a:prstGeom prst="rect">
            <a:avLst/>
          </a:prstGeom>
        </p:spPr>
      </p:pic>
      <p:pic>
        <p:nvPicPr>
          <p:cNvPr id="26" name="Picture 25" descr="image.png"/>
          <p:cNvPicPr>
            <a:picLocks noChangeAspect="1"/>
          </p:cNvPicPr>
          <p:nvPr/>
        </p:nvPicPr>
        <p:blipFill>
          <a:blip r:embed="rId5"/>
          <a:stretch>
            <a:fillRect/>
          </a:stretch>
        </p:blipFill>
        <p:spPr>
          <a:xfrm>
            <a:off x="6038850" y="3067050"/>
            <a:ext cx="114300" cy="152400"/>
          </a:xfrm>
          <a:prstGeom prst="rect">
            <a:avLst/>
          </a:prstGeom>
        </p:spPr>
      </p:pic>
      <p:pic>
        <p:nvPicPr>
          <p:cNvPr id="27" name="Picture 26" descr="image.png"/>
          <p:cNvPicPr>
            <a:picLocks noChangeAspect="1"/>
          </p:cNvPicPr>
          <p:nvPr/>
        </p:nvPicPr>
        <p:blipFill>
          <a:blip r:embed="rId6"/>
          <a:stretch>
            <a:fillRect/>
          </a:stretch>
        </p:blipFill>
        <p:spPr>
          <a:xfrm>
            <a:off x="6429523" y="3357562"/>
            <a:ext cx="133350" cy="152400"/>
          </a:xfrm>
          <a:prstGeom prst="rect">
            <a:avLst/>
          </a:prstGeom>
        </p:spPr>
      </p:pic>
      <p:pic>
        <p:nvPicPr>
          <p:cNvPr id="28" name="Picture 27" descr="image.png"/>
          <p:cNvPicPr>
            <a:picLocks noChangeAspect="1"/>
          </p:cNvPicPr>
          <p:nvPr/>
        </p:nvPicPr>
        <p:blipFill>
          <a:blip r:embed="rId7"/>
          <a:stretch>
            <a:fillRect/>
          </a:stretch>
        </p:blipFill>
        <p:spPr>
          <a:xfrm>
            <a:off x="962025" y="1628775"/>
            <a:ext cx="180975" cy="142875"/>
          </a:xfrm>
          <a:prstGeom prst="rect">
            <a:avLst/>
          </a:prstGeom>
        </p:spPr>
      </p:pic>
      <p:pic>
        <p:nvPicPr>
          <p:cNvPr id="29" name="Picture 28" descr="image.png"/>
          <p:cNvPicPr>
            <a:picLocks noChangeAspect="1"/>
          </p:cNvPicPr>
          <p:nvPr/>
        </p:nvPicPr>
        <p:blipFill>
          <a:blip r:embed="rId8"/>
          <a:stretch>
            <a:fillRect/>
          </a:stretch>
        </p:blipFill>
        <p:spPr>
          <a:xfrm>
            <a:off x="9210675" y="1628775"/>
            <a:ext cx="104775" cy="142875"/>
          </a:xfrm>
          <a:prstGeom prst="rect">
            <a:avLst/>
          </a:prstGeom>
        </p:spPr>
      </p:pic>
      <p:pic>
        <p:nvPicPr>
          <p:cNvPr id="30" name="Picture 29" descr="image.png"/>
          <p:cNvPicPr>
            <a:picLocks noChangeAspect="1"/>
          </p:cNvPicPr>
          <p:nvPr/>
        </p:nvPicPr>
        <p:blipFill>
          <a:blip r:embed="rId9"/>
          <a:stretch>
            <a:fillRect/>
          </a:stretch>
        </p:blipFill>
        <p:spPr>
          <a:xfrm>
            <a:off x="971550" y="2200275"/>
            <a:ext cx="123825" cy="142875"/>
          </a:xfrm>
          <a:prstGeom prst="rect">
            <a:avLst/>
          </a:prstGeom>
        </p:spPr>
      </p:pic>
      <p:pic>
        <p:nvPicPr>
          <p:cNvPr id="31" name="Picture 30" descr="image.png"/>
          <p:cNvPicPr>
            <a:picLocks noChangeAspect="1"/>
          </p:cNvPicPr>
          <p:nvPr/>
        </p:nvPicPr>
        <p:blipFill>
          <a:blip r:embed="rId10"/>
          <a:stretch>
            <a:fillRect/>
          </a:stretch>
        </p:blipFill>
        <p:spPr>
          <a:xfrm>
            <a:off x="10010775" y="2200275"/>
            <a:ext cx="180975" cy="142875"/>
          </a:xfrm>
          <a:prstGeom prst="rect">
            <a:avLst/>
          </a:prstGeom>
        </p:spPr>
      </p:pic>
      <p:pic>
        <p:nvPicPr>
          <p:cNvPr id="32" name="Picture 31" descr="image.png"/>
          <p:cNvPicPr>
            <a:picLocks noChangeAspect="1"/>
          </p:cNvPicPr>
          <p:nvPr/>
        </p:nvPicPr>
        <p:blipFill>
          <a:blip r:embed="rId11"/>
          <a:stretch>
            <a:fillRect/>
          </a:stretch>
        </p:blipFill>
        <p:spPr>
          <a:xfrm>
            <a:off x="971550" y="2781300"/>
            <a:ext cx="142875" cy="142875"/>
          </a:xfrm>
          <a:prstGeom prst="rect">
            <a:avLst/>
          </a:prstGeom>
        </p:spPr>
      </p:pic>
      <p:pic>
        <p:nvPicPr>
          <p:cNvPr id="33" name="Picture 32" descr="image.png"/>
          <p:cNvPicPr>
            <a:picLocks noChangeAspect="1"/>
          </p:cNvPicPr>
          <p:nvPr/>
        </p:nvPicPr>
        <p:blipFill>
          <a:blip r:embed="rId12"/>
          <a:stretch>
            <a:fillRect/>
          </a:stretch>
        </p:blipFill>
        <p:spPr>
          <a:xfrm>
            <a:off x="7952779" y="2781300"/>
            <a:ext cx="142875" cy="142875"/>
          </a:xfrm>
          <a:prstGeom prst="rect">
            <a:avLst/>
          </a:prstGeom>
        </p:spPr>
      </p:pic>
      <p:pic>
        <p:nvPicPr>
          <p:cNvPr id="34" name="Picture 33" descr="image.png"/>
          <p:cNvPicPr>
            <a:picLocks noChangeAspect="1"/>
          </p:cNvPicPr>
          <p:nvPr/>
        </p:nvPicPr>
        <p:blipFill>
          <a:blip r:embed="rId13"/>
          <a:stretch>
            <a:fillRect/>
          </a:stretch>
        </p:blipFill>
        <p:spPr>
          <a:xfrm>
            <a:off x="971550" y="3362325"/>
            <a:ext cx="123825" cy="142875"/>
          </a:xfrm>
          <a:prstGeom prst="rect">
            <a:avLst/>
          </a:prstGeom>
        </p:spPr>
      </p:pic>
      <p:pic>
        <p:nvPicPr>
          <p:cNvPr id="35" name="Picture 34" descr="image.png"/>
          <p:cNvPicPr>
            <a:picLocks noChangeAspect="1"/>
          </p:cNvPicPr>
          <p:nvPr/>
        </p:nvPicPr>
        <p:blipFill>
          <a:blip r:embed="rId14"/>
          <a:stretch>
            <a:fillRect/>
          </a:stretch>
        </p:blipFill>
        <p:spPr>
          <a:xfrm>
            <a:off x="9420225" y="3362325"/>
            <a:ext cx="142875" cy="142875"/>
          </a:xfrm>
          <a:prstGeom prst="rect">
            <a:avLst/>
          </a:prstGeom>
        </p:spPr>
      </p:pic>
      <p:pic>
        <p:nvPicPr>
          <p:cNvPr id="36" name="Picture 35" descr="image.png"/>
          <p:cNvPicPr>
            <a:picLocks noChangeAspect="1"/>
          </p:cNvPicPr>
          <p:nvPr/>
        </p:nvPicPr>
        <p:blipFill>
          <a:blip r:embed="rId15"/>
          <a:stretch>
            <a:fillRect/>
          </a:stretch>
        </p:blipFill>
        <p:spPr>
          <a:xfrm>
            <a:off x="838200" y="4238625"/>
            <a:ext cx="114300" cy="152400"/>
          </a:xfrm>
          <a:prstGeom prst="rect">
            <a:avLst/>
          </a:prstGeom>
        </p:spPr>
      </p:pic>
      <p:pic>
        <p:nvPicPr>
          <p:cNvPr id="37" name="Picture 36" descr="image.png"/>
          <p:cNvPicPr>
            <a:picLocks noChangeAspect="1"/>
          </p:cNvPicPr>
          <p:nvPr/>
        </p:nvPicPr>
        <p:blipFill>
          <a:blip r:embed="rId16"/>
          <a:stretch>
            <a:fillRect/>
          </a:stretch>
        </p:blipFill>
        <p:spPr>
          <a:xfrm>
            <a:off x="838200" y="5181600"/>
            <a:ext cx="152400" cy="152400"/>
          </a:xfrm>
          <a:prstGeom prst="rect">
            <a:avLst/>
          </a:prstGeom>
        </p:spPr>
      </p:pic>
      <p:sp>
        <p:nvSpPr>
          <p:cNvPr id="38" name="TextBox 37"/>
          <p:cNvSpPr txBox="1"/>
          <p:nvPr/>
        </p:nvSpPr>
        <p:spPr>
          <a:xfrm>
            <a:off x="969764" y="6000750"/>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39" name="TextBox 38"/>
          <p:cNvSpPr txBox="1"/>
          <p:nvPr/>
        </p:nvSpPr>
        <p:spPr>
          <a:xfrm>
            <a:off x="800100" y="6172200"/>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This slide outlines our core system architecture. On the left is the primary identity-to-resource pipeline, showing how an onboarding request flows through Entra ID into the provisioned resource group. On the right are sidecar governance services.</a:t>
            </a:r>
          </a:p>
        </p:txBody>
      </p:sp>
      <p:sp>
        <p:nvSpPr>
          <p:cNvPr id="40" name="TextBox 39"/>
          <p:cNvSpPr txBox="1"/>
          <p:nvPr/>
        </p:nvSpPr>
        <p:spPr>
          <a:xfrm>
            <a:off x="609600" y="457200"/>
            <a:ext cx="3667125" cy="161925"/>
          </a:xfrm>
          <a:prstGeom prst="rect">
            <a:avLst/>
          </a:prstGeom>
          <a:noFill/>
        </p:spPr>
        <p:txBody>
          <a:bodyPr wrap="none" lIns="0" rIns="0" tIns="0" bIns="0" anchor="t">
            <a:spAutoFit/>
          </a:bodyPr>
          <a:lstStyle/>
          <a:p>
            <a:pPr algn="l"/>
            <a:r>
              <a:rPr b="1" sz="1050" i="0" u="none">
                <a:solidFill>
                  <a:srgbClr val="0078D4"/>
                </a:solidFill>
                <a:latin typeface="Inter"/>
              </a:rPr>
              <a:t>VISUAL DESIGN</a:t>
            </a:r>
          </a:p>
        </p:txBody>
      </p:sp>
      <p:sp>
        <p:nvSpPr>
          <p:cNvPr id="41" name="TextBox 40"/>
          <p:cNvSpPr txBox="1"/>
          <p:nvPr/>
        </p:nvSpPr>
        <p:spPr>
          <a:xfrm>
            <a:off x="609600" y="619125"/>
            <a:ext cx="3850481"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System Architecture</a:t>
            </a:r>
          </a:p>
        </p:txBody>
      </p:sp>
      <p:sp>
        <p:nvSpPr>
          <p:cNvPr id="42" name="TextBox 41"/>
          <p:cNvSpPr txBox="1"/>
          <p:nvPr/>
        </p:nvSpPr>
        <p:spPr>
          <a:xfrm>
            <a:off x="-255984" y="1352550"/>
            <a:ext cx="12703968" cy="161925"/>
          </a:xfrm>
          <a:prstGeom prst="rect">
            <a:avLst/>
          </a:prstGeom>
          <a:noFill/>
        </p:spPr>
        <p:txBody>
          <a:bodyPr wrap="none" lIns="0" rIns="0" tIns="0" bIns="0" anchor="t">
            <a:spAutoFit/>
          </a:bodyPr>
          <a:lstStyle/>
          <a:p>
            <a:pPr algn="ctr"/>
            <a:r>
              <a:rPr b="1" sz="1050" i="0" u="none">
                <a:solidFill>
                  <a:srgbClr val="0078D4"/>
                </a:solidFill>
                <a:latin typeface="Inter"/>
              </a:rPr>
              <a:t>PRIMARY PROVISIONING PIPELINE</a:t>
            </a:r>
          </a:p>
        </p:txBody>
      </p:sp>
      <p:sp>
        <p:nvSpPr>
          <p:cNvPr id="43" name="TextBox 42"/>
          <p:cNvSpPr txBox="1"/>
          <p:nvPr/>
        </p:nvSpPr>
        <p:spPr>
          <a:xfrm>
            <a:off x="962025" y="1609725"/>
            <a:ext cx="1476375" cy="180975"/>
          </a:xfrm>
          <a:prstGeom prst="rect">
            <a:avLst/>
          </a:prstGeom>
          <a:noFill/>
        </p:spPr>
        <p:txBody>
          <a:bodyPr wrap="none" lIns="180975" rIns="0" tIns="0" bIns="0" anchor="t">
            <a:spAutoFit/>
          </a:bodyPr>
          <a:lstStyle/>
          <a:p>
            <a:pPr algn="l"/>
            <a:r>
              <a:rPr b="1" sz="1125" i="0" u="none">
                <a:solidFill>
                  <a:srgbClr val="0F172A"/>
                </a:solidFill>
                <a:latin typeface="Inter"/>
              </a:rPr>
              <a:t>Administrator</a:t>
            </a:r>
          </a:p>
        </p:txBody>
      </p:sp>
      <p:sp>
        <p:nvSpPr>
          <p:cNvPr id="44" name="TextBox 43"/>
          <p:cNvSpPr txBox="1"/>
          <p:nvPr/>
        </p:nvSpPr>
        <p:spPr>
          <a:xfrm>
            <a:off x="9210675" y="1609725"/>
            <a:ext cx="2524125" cy="180975"/>
          </a:xfrm>
          <a:prstGeom prst="rect">
            <a:avLst/>
          </a:prstGeom>
          <a:noFill/>
        </p:spPr>
        <p:txBody>
          <a:bodyPr wrap="none" lIns="104775" rIns="0" tIns="0" bIns="0" anchor="t">
            <a:spAutoFit/>
          </a:bodyPr>
          <a:lstStyle/>
          <a:p>
            <a:pPr algn="l"/>
            <a:r>
              <a:rPr b="1" sz="1125" i="0" u="none">
                <a:solidFill>
                  <a:srgbClr val="0F172A"/>
                </a:solidFill>
                <a:latin typeface="Inter"/>
              </a:rPr>
              <a:t>User Request / Onboarding</a:t>
            </a:r>
          </a:p>
        </p:txBody>
      </p:sp>
      <p:sp>
        <p:nvSpPr>
          <p:cNvPr id="45" name="TextBox 44"/>
          <p:cNvSpPr txBox="1"/>
          <p:nvPr/>
        </p:nvSpPr>
        <p:spPr>
          <a:xfrm>
            <a:off x="971550" y="2181225"/>
            <a:ext cx="1774031" cy="180975"/>
          </a:xfrm>
          <a:prstGeom prst="rect">
            <a:avLst/>
          </a:prstGeom>
          <a:noFill/>
        </p:spPr>
        <p:txBody>
          <a:bodyPr wrap="none" lIns="123825" rIns="0" tIns="0" bIns="0" anchor="t">
            <a:spAutoFit/>
          </a:bodyPr>
          <a:lstStyle/>
          <a:p>
            <a:pPr algn="l"/>
            <a:r>
              <a:rPr b="1" sz="1125" i="0" u="none">
                <a:solidFill>
                  <a:srgbClr val="1E40AF"/>
                </a:solidFill>
                <a:latin typeface="Inter"/>
              </a:rPr>
              <a:t> Microsoft Entra ID</a:t>
            </a:r>
          </a:p>
        </p:txBody>
      </p:sp>
      <p:sp>
        <p:nvSpPr>
          <p:cNvPr id="46" name="TextBox 45"/>
          <p:cNvSpPr txBox="1"/>
          <p:nvPr/>
        </p:nvSpPr>
        <p:spPr>
          <a:xfrm>
            <a:off x="10010775" y="2181225"/>
            <a:ext cx="1512093" cy="180975"/>
          </a:xfrm>
          <a:prstGeom prst="rect">
            <a:avLst/>
          </a:prstGeom>
          <a:noFill/>
        </p:spPr>
        <p:txBody>
          <a:bodyPr wrap="none" lIns="180975" rIns="0" tIns="0" bIns="0" anchor="t">
            <a:spAutoFit/>
          </a:bodyPr>
          <a:lstStyle/>
          <a:p>
            <a:pPr algn="l"/>
            <a:r>
              <a:rPr b="1" sz="1125" i="0" u="none">
                <a:solidFill>
                  <a:srgbClr val="1E40AF"/>
                </a:solidFill>
                <a:latin typeface="Inter"/>
              </a:rPr>
              <a:t>User Grouping</a:t>
            </a:r>
          </a:p>
        </p:txBody>
      </p:sp>
      <p:sp>
        <p:nvSpPr>
          <p:cNvPr id="47" name="TextBox 46"/>
          <p:cNvSpPr txBox="1"/>
          <p:nvPr/>
        </p:nvSpPr>
        <p:spPr>
          <a:xfrm>
            <a:off x="971550" y="2762250"/>
            <a:ext cx="1976437" cy="180975"/>
          </a:xfrm>
          <a:prstGeom prst="rect">
            <a:avLst/>
          </a:prstGeom>
          <a:noFill/>
        </p:spPr>
        <p:txBody>
          <a:bodyPr wrap="none" lIns="142875" rIns="0" tIns="0" bIns="0" anchor="t">
            <a:spAutoFit/>
          </a:bodyPr>
          <a:lstStyle/>
          <a:p>
            <a:pPr algn="l"/>
            <a:r>
              <a:rPr b="1" sz="1125" i="0" u="none">
                <a:solidFill>
                  <a:srgbClr val="166534"/>
                </a:solidFill>
                <a:latin typeface="Inter"/>
              </a:rPr>
              <a:t>Azure RBAC Binding</a:t>
            </a:r>
          </a:p>
        </p:txBody>
      </p:sp>
      <p:sp>
        <p:nvSpPr>
          <p:cNvPr id="48" name="TextBox 47"/>
          <p:cNvSpPr txBox="1"/>
          <p:nvPr/>
        </p:nvSpPr>
        <p:spPr>
          <a:xfrm>
            <a:off x="7952779" y="2762250"/>
            <a:ext cx="4084401" cy="180975"/>
          </a:xfrm>
          <a:prstGeom prst="rect">
            <a:avLst/>
          </a:prstGeom>
          <a:noFill/>
        </p:spPr>
        <p:txBody>
          <a:bodyPr wrap="none" lIns="142875" rIns="0" tIns="0" bIns="0" anchor="t">
            <a:spAutoFit/>
          </a:bodyPr>
          <a:lstStyle/>
          <a:p>
            <a:pPr algn="l"/>
            <a:r>
              <a:rPr b="1" sz="1125" i="0" u="none">
                <a:solidFill>
                  <a:srgbClr val="166534"/>
                </a:solidFill>
                <a:latin typeface="Inter"/>
              </a:rPr>
              <a:t>Resource Group: </a:t>
            </a:r>
            <a:r>
              <a:rPr b="1" sz="1125" i="0" u="none">
                <a:solidFill>
                  <a:srgbClr val="166534"/>
                </a:solidFill>
                <a:latin typeface="Inter"/>
              </a:rPr>
              <a:t>rg-vending-development</a:t>
            </a:r>
          </a:p>
        </p:txBody>
      </p:sp>
      <p:sp>
        <p:nvSpPr>
          <p:cNvPr id="49" name="TextBox 48"/>
          <p:cNvSpPr txBox="1"/>
          <p:nvPr/>
        </p:nvSpPr>
        <p:spPr>
          <a:xfrm>
            <a:off x="971550" y="3343275"/>
            <a:ext cx="3250778" cy="180975"/>
          </a:xfrm>
          <a:prstGeom prst="rect">
            <a:avLst/>
          </a:prstGeom>
          <a:noFill/>
        </p:spPr>
        <p:txBody>
          <a:bodyPr wrap="none" lIns="123825" rIns="0" tIns="0" bIns="0" anchor="t">
            <a:spAutoFit/>
          </a:bodyPr>
          <a:lstStyle/>
          <a:p>
            <a:pPr algn="l"/>
            <a:r>
              <a:rPr b="1" sz="1125" i="0" u="none">
                <a:solidFill>
                  <a:srgbClr val="854D0E"/>
                </a:solidFill>
                <a:latin typeface="Inter"/>
              </a:rPr>
              <a:t>Storage: </a:t>
            </a:r>
            <a:r>
              <a:rPr b="1" sz="1125" i="0" u="none">
                <a:solidFill>
                  <a:srgbClr val="854D0E"/>
                </a:solidFill>
                <a:latin typeface="Inter"/>
              </a:rPr>
              <a:t>azurevendingmounika01</a:t>
            </a:r>
          </a:p>
        </p:txBody>
      </p:sp>
      <p:sp>
        <p:nvSpPr>
          <p:cNvPr id="50" name="TextBox 49"/>
          <p:cNvSpPr txBox="1"/>
          <p:nvPr/>
        </p:nvSpPr>
        <p:spPr>
          <a:xfrm>
            <a:off x="9420225" y="3343275"/>
            <a:ext cx="2250281" cy="180975"/>
          </a:xfrm>
          <a:prstGeom prst="rect">
            <a:avLst/>
          </a:prstGeom>
          <a:noFill/>
        </p:spPr>
        <p:txBody>
          <a:bodyPr wrap="none" lIns="142875" rIns="0" tIns="0" bIns="0" anchor="t">
            <a:spAutoFit/>
          </a:bodyPr>
          <a:lstStyle/>
          <a:p>
            <a:pPr algn="l"/>
            <a:r>
              <a:rPr b="1" sz="1125" i="0" u="none">
                <a:solidFill>
                  <a:srgbClr val="854D0E"/>
                </a:solidFill>
                <a:latin typeface="Inter"/>
              </a:rPr>
              <a:t>Blob Storage Container</a:t>
            </a:r>
          </a:p>
        </p:txBody>
      </p:sp>
      <p:sp>
        <p:nvSpPr>
          <p:cNvPr id="51" name="TextBox 50"/>
          <p:cNvSpPr txBox="1"/>
          <p:nvPr/>
        </p:nvSpPr>
        <p:spPr>
          <a:xfrm>
            <a:off x="838200" y="4219575"/>
            <a:ext cx="11353800" cy="190500"/>
          </a:xfrm>
          <a:prstGeom prst="rect">
            <a:avLst/>
          </a:prstGeom>
          <a:noFill/>
        </p:spPr>
        <p:txBody>
          <a:bodyPr wrap="none" lIns="114300" rIns="0" tIns="0" bIns="0" anchor="t">
            <a:spAutoFit/>
          </a:bodyPr>
          <a:lstStyle/>
          <a:p>
            <a:pPr algn="l"/>
            <a:r>
              <a:rPr b="1" sz="1200" i="0" u="none">
                <a:solidFill>
                  <a:srgbClr val="0078D4"/>
                </a:solidFill>
                <a:latin typeface="Inter"/>
              </a:rPr>
              <a:t>Azure Policy</a:t>
            </a:r>
          </a:p>
        </p:txBody>
      </p:sp>
      <p:sp>
        <p:nvSpPr>
          <p:cNvPr id="52" name="TextBox 51"/>
          <p:cNvSpPr txBox="1"/>
          <p:nvPr/>
        </p:nvSpPr>
        <p:spPr>
          <a:xfrm>
            <a:off x="838200" y="4448175"/>
            <a:ext cx="11353800" cy="161925"/>
          </a:xfrm>
          <a:prstGeom prst="rect">
            <a:avLst/>
          </a:prstGeom>
          <a:noFill/>
        </p:spPr>
        <p:txBody>
          <a:bodyPr wrap="none" lIns="0" rIns="0" tIns="0" bIns="0" anchor="t">
            <a:spAutoFit/>
          </a:bodyPr>
          <a:lstStyle/>
          <a:p>
            <a:pPr algn="l"/>
            <a:r>
              <a:rPr b="0" sz="1050" i="0" u="none">
                <a:solidFill>
                  <a:srgbClr val="475569"/>
                </a:solidFill>
                <a:latin typeface="Inter"/>
              </a:rPr>
              <a:t>Continuous governance &amp; compliance evaluation.</a:t>
            </a:r>
          </a:p>
        </p:txBody>
      </p:sp>
      <p:sp>
        <p:nvSpPr>
          <p:cNvPr id="53" name="TextBox 52"/>
          <p:cNvSpPr txBox="1"/>
          <p:nvPr/>
        </p:nvSpPr>
        <p:spPr>
          <a:xfrm>
            <a:off x="838200" y="5162550"/>
            <a:ext cx="11353800" cy="190500"/>
          </a:xfrm>
          <a:prstGeom prst="rect">
            <a:avLst/>
          </a:prstGeom>
          <a:noFill/>
        </p:spPr>
        <p:txBody>
          <a:bodyPr wrap="none" lIns="152400" rIns="0" tIns="0" bIns="0" anchor="t">
            <a:spAutoFit/>
          </a:bodyPr>
          <a:lstStyle/>
          <a:p>
            <a:pPr algn="l"/>
            <a:r>
              <a:rPr b="1" sz="1200" i="0" u="none">
                <a:solidFill>
                  <a:srgbClr val="16A34A"/>
                </a:solidFill>
                <a:latin typeface="Inter"/>
              </a:rPr>
              <a:t>Azure Cost Mgmt</a:t>
            </a:r>
          </a:p>
        </p:txBody>
      </p:sp>
      <p:sp>
        <p:nvSpPr>
          <p:cNvPr id="54" name="TextBox 53"/>
          <p:cNvSpPr txBox="1"/>
          <p:nvPr/>
        </p:nvSpPr>
        <p:spPr>
          <a:xfrm>
            <a:off x="838200" y="5391150"/>
            <a:ext cx="11353800" cy="161925"/>
          </a:xfrm>
          <a:prstGeom prst="rect">
            <a:avLst/>
          </a:prstGeom>
          <a:noFill/>
        </p:spPr>
        <p:txBody>
          <a:bodyPr wrap="none" lIns="0" rIns="0" tIns="0" bIns="0" anchor="t">
            <a:spAutoFit/>
          </a:bodyPr>
          <a:lstStyle/>
          <a:p>
            <a:pPr algn="l"/>
            <a:r>
              <a:rPr b="0" sz="1050" i="0" u="none">
                <a:solidFill>
                  <a:srgbClr val="475569"/>
                </a:solidFill>
                <a:latin typeface="Inter"/>
              </a:rPr>
              <a:t>Budget alerts triggered at 80% and 100% spending caps.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049166"/>
            <a:ext cx="10972800" cy="504825"/>
          </a:xfrm>
          <a:prstGeom prst="roundRect">
            <a:avLst>
              <a:gd name="adj" fmla="val 18867"/>
            </a:avLst>
          </a:prstGeom>
          <a:solidFill>
            <a:srgbClr val="FFFFFF"/>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2125116"/>
            <a:ext cx="3555950" cy="790575"/>
          </a:xfrm>
          <a:prstGeom prst="roundRect">
            <a:avLst>
              <a:gd name="adj" fmla="val 1204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17950" y="2125116"/>
            <a:ext cx="3555950" cy="790575"/>
          </a:xfrm>
          <a:prstGeom prst="roundRect">
            <a:avLst>
              <a:gd name="adj" fmla="val 1204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26300" y="2125116"/>
            <a:ext cx="3556099" cy="790575"/>
          </a:xfrm>
          <a:prstGeom prst="roundRect">
            <a:avLst>
              <a:gd name="adj" fmla="val 1204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3068091"/>
            <a:ext cx="3555950" cy="790575"/>
          </a:xfrm>
          <a:prstGeom prst="roundRect">
            <a:avLst>
              <a:gd name="adj" fmla="val 12048"/>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17950" y="3068091"/>
            <a:ext cx="3555950" cy="790575"/>
          </a:xfrm>
          <a:prstGeom prst="roundRect">
            <a:avLst>
              <a:gd name="adj" fmla="val 12048"/>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26300" y="3068091"/>
            <a:ext cx="3556099" cy="790575"/>
          </a:xfrm>
          <a:prstGeom prst="roundRect">
            <a:avLst>
              <a:gd name="adj" fmla="val 12048"/>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11239500" y="538162"/>
            <a:ext cx="342900" cy="342900"/>
          </a:xfrm>
          <a:prstGeom prst="rect">
            <a:avLst/>
          </a:prstGeom>
        </p:spPr>
      </p:pic>
      <p:pic>
        <p:nvPicPr>
          <p:cNvPr id="12" name="Picture 11" descr="image.png"/>
          <p:cNvPicPr>
            <a:picLocks noChangeAspect="1"/>
          </p:cNvPicPr>
          <p:nvPr/>
        </p:nvPicPr>
        <p:blipFill>
          <a:blip r:embed="rId3"/>
          <a:stretch>
            <a:fillRect/>
          </a:stretch>
        </p:blipFill>
        <p:spPr>
          <a:xfrm>
            <a:off x="2052637" y="4225379"/>
            <a:ext cx="133350" cy="152400"/>
          </a:xfrm>
          <a:prstGeom prst="rect">
            <a:avLst/>
          </a:prstGeom>
        </p:spPr>
      </p:pic>
      <p:pic>
        <p:nvPicPr>
          <p:cNvPr id="13" name="Picture 12" descr="image.png"/>
          <p:cNvPicPr>
            <a:picLocks noChangeAspect="1"/>
          </p:cNvPicPr>
          <p:nvPr/>
        </p:nvPicPr>
        <p:blipFill>
          <a:blip r:embed="rId4"/>
          <a:stretch>
            <a:fillRect/>
          </a:stretch>
        </p:blipFill>
        <p:spPr>
          <a:xfrm>
            <a:off x="4310062" y="4225379"/>
            <a:ext cx="133350" cy="152400"/>
          </a:xfrm>
          <a:prstGeom prst="rect">
            <a:avLst/>
          </a:prstGeom>
        </p:spPr>
      </p:pic>
      <p:pic>
        <p:nvPicPr>
          <p:cNvPr id="14" name="Picture 13" descr="image.png"/>
          <p:cNvPicPr>
            <a:picLocks noChangeAspect="1"/>
          </p:cNvPicPr>
          <p:nvPr/>
        </p:nvPicPr>
        <p:blipFill>
          <a:blip r:embed="rId3"/>
          <a:stretch>
            <a:fillRect/>
          </a:stretch>
        </p:blipFill>
        <p:spPr>
          <a:xfrm>
            <a:off x="6434137" y="4225379"/>
            <a:ext cx="133350" cy="152400"/>
          </a:xfrm>
          <a:prstGeom prst="rect">
            <a:avLst/>
          </a:prstGeom>
        </p:spPr>
      </p:pic>
      <p:pic>
        <p:nvPicPr>
          <p:cNvPr id="15" name="Picture 14" descr="image.png"/>
          <p:cNvPicPr>
            <a:picLocks noChangeAspect="1"/>
          </p:cNvPicPr>
          <p:nvPr/>
        </p:nvPicPr>
        <p:blipFill>
          <a:blip r:embed="rId4"/>
          <a:stretch>
            <a:fillRect/>
          </a:stretch>
        </p:blipFill>
        <p:spPr>
          <a:xfrm>
            <a:off x="9158287" y="4225379"/>
            <a:ext cx="133350" cy="152400"/>
          </a:xfrm>
          <a:prstGeom prst="rect">
            <a:avLst/>
          </a:prstGeom>
        </p:spPr>
      </p:pic>
      <p:pic>
        <p:nvPicPr>
          <p:cNvPr id="16" name="Picture 15" descr="image.png"/>
          <p:cNvPicPr>
            <a:picLocks noChangeAspect="1"/>
          </p:cNvPicPr>
          <p:nvPr/>
        </p:nvPicPr>
        <p:blipFill>
          <a:blip r:embed="rId5"/>
          <a:stretch>
            <a:fillRect/>
          </a:stretch>
        </p:blipFill>
        <p:spPr>
          <a:xfrm>
            <a:off x="800100" y="5788521"/>
            <a:ext cx="112514" cy="123825"/>
          </a:xfrm>
          <a:prstGeom prst="rect">
            <a:avLst/>
          </a:prstGeom>
        </p:spPr>
      </p:pic>
      <p:sp>
        <p:nvSpPr>
          <p:cNvPr id="17" name="TextBox 16"/>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18" name="TextBox 17"/>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To demonstrate our concept, we built a working prototype in the Azure Portal. User 'Pujith Azure' was added to group 'Azure-Developers', granted 'Contributor' access to resource group 'rg-vending-development', and provisioned with storage account 'azurevendingmounika01'.</a:t>
            </a:r>
          </a:p>
        </p:txBody>
      </p:sp>
      <p:sp>
        <p:nvSpPr>
          <p:cNvPr id="19" name="TextBox 18"/>
          <p:cNvSpPr txBox="1"/>
          <p:nvPr/>
        </p:nvSpPr>
        <p:spPr>
          <a:xfrm>
            <a:off x="609600" y="457200"/>
            <a:ext cx="5334000" cy="161925"/>
          </a:xfrm>
          <a:prstGeom prst="rect">
            <a:avLst/>
          </a:prstGeom>
          <a:noFill/>
        </p:spPr>
        <p:txBody>
          <a:bodyPr wrap="none" lIns="0" rIns="0" tIns="0" bIns="0" anchor="t">
            <a:spAutoFit/>
          </a:bodyPr>
          <a:lstStyle/>
          <a:p>
            <a:pPr algn="l"/>
            <a:r>
              <a:rPr b="1" sz="1050" i="0" u="none">
                <a:solidFill>
                  <a:srgbClr val="0078D4"/>
                </a:solidFill>
                <a:latin typeface="Inter"/>
              </a:rPr>
              <a:t>WORKING PROOF</a:t>
            </a:r>
          </a:p>
        </p:txBody>
      </p:sp>
      <p:sp>
        <p:nvSpPr>
          <p:cNvPr id="20" name="TextBox 19"/>
          <p:cNvSpPr txBox="1"/>
          <p:nvPr/>
        </p:nvSpPr>
        <p:spPr>
          <a:xfrm>
            <a:off x="609600" y="619125"/>
            <a:ext cx="56007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Implemented Azure Prototype</a:t>
            </a:r>
          </a:p>
        </p:txBody>
      </p:sp>
      <p:sp>
        <p:nvSpPr>
          <p:cNvPr id="21" name="TextBox 20"/>
          <p:cNvSpPr txBox="1"/>
          <p:nvPr/>
        </p:nvSpPr>
        <p:spPr>
          <a:xfrm>
            <a:off x="771525" y="4211091"/>
            <a:ext cx="1143000" cy="180975"/>
          </a:xfrm>
          <a:prstGeom prst="rect">
            <a:avLst/>
          </a:prstGeom>
          <a:noFill/>
        </p:spPr>
        <p:txBody>
          <a:bodyPr wrap="none" lIns="0" rIns="0" tIns="0" bIns="0" anchor="t">
            <a:spAutoFit/>
          </a:bodyPr>
          <a:lstStyle/>
          <a:p>
            <a:pPr algn="l"/>
            <a:r>
              <a:rPr b="1" sz="1125" i="0" u="none">
                <a:solidFill>
                  <a:srgbClr val="0F172A"/>
                </a:solidFill>
                <a:latin typeface="Inter"/>
              </a:rPr>
              <a:t>Pujith Azure</a:t>
            </a:r>
          </a:p>
        </p:txBody>
      </p:sp>
      <p:sp>
        <p:nvSpPr>
          <p:cNvPr id="22" name="TextBox 21"/>
          <p:cNvSpPr txBox="1"/>
          <p:nvPr/>
        </p:nvSpPr>
        <p:spPr>
          <a:xfrm>
            <a:off x="2609850" y="4211091"/>
            <a:ext cx="1595437" cy="180975"/>
          </a:xfrm>
          <a:prstGeom prst="rect">
            <a:avLst/>
          </a:prstGeom>
          <a:noFill/>
        </p:spPr>
        <p:txBody>
          <a:bodyPr wrap="none" lIns="0" rIns="0" tIns="0" bIns="0" anchor="t">
            <a:spAutoFit/>
          </a:bodyPr>
          <a:lstStyle/>
          <a:p>
            <a:pPr algn="l"/>
            <a:r>
              <a:rPr b="1" sz="1125" i="0" u="none">
                <a:solidFill>
                  <a:srgbClr val="0F172A"/>
                </a:solidFill>
                <a:latin typeface="Inter"/>
              </a:rPr>
              <a:t>Azure-Developers</a:t>
            </a:r>
          </a:p>
        </p:txBody>
      </p:sp>
      <p:sp>
        <p:nvSpPr>
          <p:cNvPr id="23" name="TextBox 22"/>
          <p:cNvSpPr txBox="1"/>
          <p:nvPr/>
        </p:nvSpPr>
        <p:spPr>
          <a:xfrm>
            <a:off x="4867275" y="4211091"/>
            <a:ext cx="1428750" cy="180975"/>
          </a:xfrm>
          <a:prstGeom prst="rect">
            <a:avLst/>
          </a:prstGeom>
          <a:noFill/>
        </p:spPr>
        <p:txBody>
          <a:bodyPr wrap="none" lIns="0" rIns="0" tIns="0" bIns="0" anchor="t">
            <a:spAutoFit/>
          </a:bodyPr>
          <a:lstStyle/>
          <a:p>
            <a:pPr algn="l"/>
            <a:r>
              <a:rPr b="1" sz="1125" i="0" u="none">
                <a:solidFill>
                  <a:srgbClr val="0F172A"/>
                </a:solidFill>
                <a:latin typeface="Inter"/>
              </a:rPr>
              <a:t>Contributor Role</a:t>
            </a:r>
          </a:p>
        </p:txBody>
      </p:sp>
      <p:sp>
        <p:nvSpPr>
          <p:cNvPr id="24" name="TextBox 23"/>
          <p:cNvSpPr txBox="1"/>
          <p:nvPr/>
        </p:nvSpPr>
        <p:spPr>
          <a:xfrm>
            <a:off x="6991350" y="4211091"/>
            <a:ext cx="2178843" cy="180975"/>
          </a:xfrm>
          <a:prstGeom prst="rect">
            <a:avLst/>
          </a:prstGeom>
          <a:noFill/>
        </p:spPr>
        <p:txBody>
          <a:bodyPr wrap="none" lIns="0" rIns="0" tIns="0" bIns="0" anchor="t">
            <a:spAutoFit/>
          </a:bodyPr>
          <a:lstStyle/>
          <a:p>
            <a:pPr algn="l"/>
            <a:r>
              <a:rPr b="1" sz="1125" i="0" u="none">
                <a:solidFill>
                  <a:srgbClr val="0F172A"/>
                </a:solidFill>
                <a:latin typeface="Inter"/>
              </a:rPr>
              <a:t>rg-vending-development</a:t>
            </a:r>
          </a:p>
        </p:txBody>
      </p:sp>
      <p:sp>
        <p:nvSpPr>
          <p:cNvPr id="25" name="TextBox 24"/>
          <p:cNvSpPr txBox="1"/>
          <p:nvPr/>
        </p:nvSpPr>
        <p:spPr>
          <a:xfrm>
            <a:off x="9715500" y="4211091"/>
            <a:ext cx="2131218" cy="180975"/>
          </a:xfrm>
          <a:prstGeom prst="rect">
            <a:avLst/>
          </a:prstGeom>
          <a:noFill/>
        </p:spPr>
        <p:txBody>
          <a:bodyPr wrap="none" lIns="0" rIns="0" tIns="0" bIns="0" anchor="t">
            <a:spAutoFit/>
          </a:bodyPr>
          <a:lstStyle/>
          <a:p>
            <a:pPr algn="l"/>
            <a:r>
              <a:rPr b="1" sz="1125" i="0" u="none">
                <a:solidFill>
                  <a:srgbClr val="0F172A"/>
                </a:solidFill>
                <a:latin typeface="Inter"/>
              </a:rPr>
              <a:t>azurevendingmounika01</a:t>
            </a:r>
          </a:p>
        </p:txBody>
      </p:sp>
      <p:sp>
        <p:nvSpPr>
          <p:cNvPr id="26" name="TextBox 25"/>
          <p:cNvSpPr txBox="1"/>
          <p:nvPr/>
        </p:nvSpPr>
        <p:spPr>
          <a:xfrm>
            <a:off x="809625" y="2325141"/>
            <a:ext cx="3944875" cy="152400"/>
          </a:xfrm>
          <a:prstGeom prst="rect">
            <a:avLst/>
          </a:prstGeom>
          <a:noFill/>
        </p:spPr>
        <p:txBody>
          <a:bodyPr wrap="none" lIns="0" rIns="0" tIns="0" bIns="0" anchor="t">
            <a:spAutoFit/>
          </a:bodyPr>
          <a:lstStyle/>
          <a:p>
            <a:pPr algn="l"/>
            <a:r>
              <a:rPr b="1" sz="975" i="0" u="none">
                <a:solidFill>
                  <a:srgbClr val="1D4ED8"/>
                </a:solidFill>
                <a:latin typeface="Inter"/>
              </a:rPr>
              <a:t>AZURE USER</a:t>
            </a:r>
          </a:p>
        </p:txBody>
      </p:sp>
      <p:sp>
        <p:nvSpPr>
          <p:cNvPr id="27" name="TextBox 26"/>
          <p:cNvSpPr txBox="1"/>
          <p:nvPr/>
        </p:nvSpPr>
        <p:spPr>
          <a:xfrm>
            <a:off x="809625" y="2515641"/>
            <a:ext cx="3944875" cy="200025"/>
          </a:xfrm>
          <a:prstGeom prst="rect">
            <a:avLst/>
          </a:prstGeom>
          <a:noFill/>
        </p:spPr>
        <p:txBody>
          <a:bodyPr wrap="none" lIns="0" rIns="0" tIns="0" bIns="0" anchor="t">
            <a:spAutoFit/>
          </a:bodyPr>
          <a:lstStyle/>
          <a:p>
            <a:pPr algn="l"/>
            <a:r>
              <a:rPr b="1" sz="1350" i="0" u="none">
                <a:solidFill>
                  <a:srgbClr val="0F172A"/>
                </a:solidFill>
                <a:latin typeface="Inter"/>
              </a:rPr>
              <a:t>Pujith Azure</a:t>
            </a:r>
          </a:p>
        </p:txBody>
      </p:sp>
      <p:sp>
        <p:nvSpPr>
          <p:cNvPr id="28" name="TextBox 27"/>
          <p:cNvSpPr txBox="1"/>
          <p:nvPr/>
        </p:nvSpPr>
        <p:spPr>
          <a:xfrm>
            <a:off x="4517975" y="2325141"/>
            <a:ext cx="3944875" cy="152400"/>
          </a:xfrm>
          <a:prstGeom prst="rect">
            <a:avLst/>
          </a:prstGeom>
          <a:noFill/>
        </p:spPr>
        <p:txBody>
          <a:bodyPr wrap="none" lIns="0" rIns="0" tIns="0" bIns="0" anchor="t">
            <a:spAutoFit/>
          </a:bodyPr>
          <a:lstStyle/>
          <a:p>
            <a:pPr algn="l"/>
            <a:r>
              <a:rPr b="1" sz="975" i="0" u="none">
                <a:solidFill>
                  <a:srgbClr val="1D4ED8"/>
                </a:solidFill>
                <a:latin typeface="Inter"/>
              </a:rPr>
              <a:t>AZURE GROUP</a:t>
            </a:r>
          </a:p>
        </p:txBody>
      </p:sp>
      <p:sp>
        <p:nvSpPr>
          <p:cNvPr id="29" name="TextBox 28"/>
          <p:cNvSpPr txBox="1"/>
          <p:nvPr/>
        </p:nvSpPr>
        <p:spPr>
          <a:xfrm>
            <a:off x="4517975" y="2515641"/>
            <a:ext cx="3944875" cy="200025"/>
          </a:xfrm>
          <a:prstGeom prst="rect">
            <a:avLst/>
          </a:prstGeom>
          <a:noFill/>
        </p:spPr>
        <p:txBody>
          <a:bodyPr wrap="none" lIns="0" rIns="0" tIns="0" bIns="0" anchor="t">
            <a:spAutoFit/>
          </a:bodyPr>
          <a:lstStyle/>
          <a:p>
            <a:pPr algn="l"/>
            <a:r>
              <a:rPr b="1" sz="1350" i="0" u="none">
                <a:solidFill>
                  <a:srgbClr val="0F172A"/>
                </a:solidFill>
                <a:latin typeface="Inter"/>
              </a:rPr>
              <a:t>Azure-Developers</a:t>
            </a:r>
          </a:p>
        </p:txBody>
      </p:sp>
      <p:sp>
        <p:nvSpPr>
          <p:cNvPr id="30" name="TextBox 29"/>
          <p:cNvSpPr txBox="1"/>
          <p:nvPr/>
        </p:nvSpPr>
        <p:spPr>
          <a:xfrm>
            <a:off x="8226325" y="2325141"/>
            <a:ext cx="3945061" cy="152400"/>
          </a:xfrm>
          <a:prstGeom prst="rect">
            <a:avLst/>
          </a:prstGeom>
          <a:noFill/>
        </p:spPr>
        <p:txBody>
          <a:bodyPr wrap="none" lIns="0" rIns="0" tIns="0" bIns="0" anchor="t">
            <a:spAutoFit/>
          </a:bodyPr>
          <a:lstStyle/>
          <a:p>
            <a:pPr algn="l"/>
            <a:r>
              <a:rPr b="1" sz="975" i="0" u="none">
                <a:solidFill>
                  <a:srgbClr val="1D4ED8"/>
                </a:solidFill>
                <a:latin typeface="Inter"/>
              </a:rPr>
              <a:t>ASSIGNED RBAC</a:t>
            </a:r>
          </a:p>
        </p:txBody>
      </p:sp>
      <p:sp>
        <p:nvSpPr>
          <p:cNvPr id="31" name="TextBox 30"/>
          <p:cNvSpPr txBox="1"/>
          <p:nvPr/>
        </p:nvSpPr>
        <p:spPr>
          <a:xfrm>
            <a:off x="8226325" y="2515641"/>
            <a:ext cx="3945061" cy="200025"/>
          </a:xfrm>
          <a:prstGeom prst="rect">
            <a:avLst/>
          </a:prstGeom>
          <a:noFill/>
        </p:spPr>
        <p:txBody>
          <a:bodyPr wrap="none" lIns="0" rIns="0" tIns="0" bIns="0" anchor="t">
            <a:spAutoFit/>
          </a:bodyPr>
          <a:lstStyle/>
          <a:p>
            <a:pPr algn="l"/>
            <a:r>
              <a:rPr b="1" sz="1350" i="0" u="none">
                <a:solidFill>
                  <a:srgbClr val="0F172A"/>
                </a:solidFill>
                <a:latin typeface="Inter"/>
              </a:rPr>
              <a:t>Contributor</a:t>
            </a:r>
          </a:p>
        </p:txBody>
      </p:sp>
      <p:sp>
        <p:nvSpPr>
          <p:cNvPr id="32" name="TextBox 31"/>
          <p:cNvSpPr txBox="1"/>
          <p:nvPr/>
        </p:nvSpPr>
        <p:spPr>
          <a:xfrm>
            <a:off x="809625" y="3268116"/>
            <a:ext cx="3944875" cy="152400"/>
          </a:xfrm>
          <a:prstGeom prst="rect">
            <a:avLst/>
          </a:prstGeom>
          <a:noFill/>
        </p:spPr>
        <p:txBody>
          <a:bodyPr wrap="none" lIns="0" rIns="0" tIns="0" bIns="0" anchor="t">
            <a:spAutoFit/>
          </a:bodyPr>
          <a:lstStyle/>
          <a:p>
            <a:pPr algn="l"/>
            <a:r>
              <a:rPr b="1" sz="975" i="0" u="none">
                <a:solidFill>
                  <a:srgbClr val="15803D"/>
                </a:solidFill>
                <a:latin typeface="Inter"/>
              </a:rPr>
              <a:t>RESOURCE GROUP</a:t>
            </a:r>
          </a:p>
        </p:txBody>
      </p:sp>
      <p:sp>
        <p:nvSpPr>
          <p:cNvPr id="33" name="TextBox 32"/>
          <p:cNvSpPr txBox="1"/>
          <p:nvPr/>
        </p:nvSpPr>
        <p:spPr>
          <a:xfrm>
            <a:off x="809625" y="3458616"/>
            <a:ext cx="3944875" cy="200025"/>
          </a:xfrm>
          <a:prstGeom prst="rect">
            <a:avLst/>
          </a:prstGeom>
          <a:noFill/>
        </p:spPr>
        <p:txBody>
          <a:bodyPr wrap="none" lIns="0" rIns="0" tIns="0" bIns="0" anchor="t">
            <a:spAutoFit/>
          </a:bodyPr>
          <a:lstStyle/>
          <a:p>
            <a:pPr algn="l"/>
            <a:r>
              <a:rPr b="1" sz="1350" i="0" u="none">
                <a:solidFill>
                  <a:srgbClr val="0F172A"/>
                </a:solidFill>
                <a:latin typeface="Inter"/>
              </a:rPr>
              <a:t>rg-vending-development</a:t>
            </a:r>
          </a:p>
        </p:txBody>
      </p:sp>
      <p:sp>
        <p:nvSpPr>
          <p:cNvPr id="34" name="TextBox 33"/>
          <p:cNvSpPr txBox="1"/>
          <p:nvPr/>
        </p:nvSpPr>
        <p:spPr>
          <a:xfrm>
            <a:off x="4517975" y="3268116"/>
            <a:ext cx="3944875" cy="152400"/>
          </a:xfrm>
          <a:prstGeom prst="rect">
            <a:avLst/>
          </a:prstGeom>
          <a:noFill/>
        </p:spPr>
        <p:txBody>
          <a:bodyPr wrap="none" lIns="0" rIns="0" tIns="0" bIns="0" anchor="t">
            <a:spAutoFit/>
          </a:bodyPr>
          <a:lstStyle/>
          <a:p>
            <a:pPr algn="l"/>
            <a:r>
              <a:rPr b="1" sz="975" i="0" u="none">
                <a:solidFill>
                  <a:srgbClr val="15803D"/>
                </a:solidFill>
                <a:latin typeface="Inter"/>
              </a:rPr>
              <a:t>STORAGE ACCOUNT</a:t>
            </a:r>
          </a:p>
        </p:txBody>
      </p:sp>
      <p:sp>
        <p:nvSpPr>
          <p:cNvPr id="35" name="TextBox 34"/>
          <p:cNvSpPr txBox="1"/>
          <p:nvPr/>
        </p:nvSpPr>
        <p:spPr>
          <a:xfrm>
            <a:off x="4517975" y="3458616"/>
            <a:ext cx="3944875" cy="200025"/>
          </a:xfrm>
          <a:prstGeom prst="rect">
            <a:avLst/>
          </a:prstGeom>
          <a:noFill/>
        </p:spPr>
        <p:txBody>
          <a:bodyPr wrap="none" lIns="0" rIns="0" tIns="0" bIns="0" anchor="t">
            <a:spAutoFit/>
          </a:bodyPr>
          <a:lstStyle/>
          <a:p>
            <a:pPr algn="l"/>
            <a:r>
              <a:rPr b="1" sz="1350" i="0" u="none">
                <a:solidFill>
                  <a:srgbClr val="0F172A"/>
                </a:solidFill>
                <a:latin typeface="Inter"/>
              </a:rPr>
              <a:t>azurevendingmounika01</a:t>
            </a:r>
          </a:p>
        </p:txBody>
      </p:sp>
      <p:sp>
        <p:nvSpPr>
          <p:cNvPr id="36" name="TextBox 35"/>
          <p:cNvSpPr txBox="1"/>
          <p:nvPr/>
        </p:nvSpPr>
        <p:spPr>
          <a:xfrm>
            <a:off x="8226325" y="3268116"/>
            <a:ext cx="3945061" cy="152400"/>
          </a:xfrm>
          <a:prstGeom prst="rect">
            <a:avLst/>
          </a:prstGeom>
          <a:noFill/>
        </p:spPr>
        <p:txBody>
          <a:bodyPr wrap="none" lIns="0" rIns="0" tIns="0" bIns="0" anchor="t">
            <a:spAutoFit/>
          </a:bodyPr>
          <a:lstStyle/>
          <a:p>
            <a:pPr algn="l"/>
            <a:r>
              <a:rPr b="1" sz="975" i="0" u="none">
                <a:solidFill>
                  <a:srgbClr val="15803D"/>
                </a:solidFill>
                <a:latin typeface="Inter"/>
              </a:rPr>
              <a:t>STORAGE CONTAINER</a:t>
            </a:r>
          </a:p>
        </p:txBody>
      </p:sp>
      <p:sp>
        <p:nvSpPr>
          <p:cNvPr id="37" name="TextBox 36"/>
          <p:cNvSpPr txBox="1"/>
          <p:nvPr/>
        </p:nvSpPr>
        <p:spPr>
          <a:xfrm>
            <a:off x="8226325" y="3458616"/>
            <a:ext cx="3945061" cy="200025"/>
          </a:xfrm>
          <a:prstGeom prst="rect">
            <a:avLst/>
          </a:prstGeom>
          <a:noFill/>
        </p:spPr>
        <p:txBody>
          <a:bodyPr wrap="none" lIns="0" rIns="0" tIns="0" bIns="0" anchor="t">
            <a:spAutoFit/>
          </a:bodyPr>
          <a:lstStyle/>
          <a:p>
            <a:pPr algn="l"/>
            <a:r>
              <a:rPr b="1" sz="1350" i="0" u="none">
                <a:solidFill>
                  <a:srgbClr val="0F172A"/>
                </a:solidFill>
                <a:latin typeface="Inter"/>
              </a:rPr>
              <a:t>Blob Container / Test 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562350"/>
            <a:ext cx="10972800" cy="1964233"/>
          </a:xfrm>
          <a:prstGeom prst="roundRect">
            <a:avLst>
              <a:gd name="adj" fmla="val 4849"/>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1152525"/>
            <a:ext cx="10972800" cy="609600"/>
          </a:xfrm>
          <a:prstGeom prst="roundRect">
            <a:avLst>
              <a:gd name="adj" fmla="val 12500"/>
            </a:avLst>
          </a:prstGeom>
          <a:solidFill>
            <a:srgbClr val="FEF2F2"/>
          </a:solidFill>
          <a:ln w="9525">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1876425"/>
            <a:ext cx="10972800" cy="609600"/>
          </a:xfrm>
          <a:prstGeom prst="roundRect">
            <a:avLst>
              <a:gd name="adj" fmla="val 12500"/>
            </a:avLst>
          </a:prstGeom>
          <a:solidFill>
            <a:srgbClr val="F0FDF4"/>
          </a:solidFill>
          <a:ln w="952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1153775" y="538162"/>
            <a:ext cx="428625" cy="342900"/>
          </a:xfrm>
          <a:prstGeom prst="rect">
            <a:avLst/>
          </a:prstGeom>
        </p:spPr>
      </p:pic>
      <p:pic>
        <p:nvPicPr>
          <p:cNvPr id="8" name="Picture 7" descr="image.png"/>
          <p:cNvPicPr>
            <a:picLocks noChangeAspect="1"/>
          </p:cNvPicPr>
          <p:nvPr/>
        </p:nvPicPr>
        <p:blipFill>
          <a:blip r:embed="rId3"/>
          <a:stretch>
            <a:fillRect/>
          </a:stretch>
        </p:blipFill>
        <p:spPr>
          <a:xfrm>
            <a:off x="5905500" y="4111079"/>
            <a:ext cx="381000" cy="381000"/>
          </a:xfrm>
          <a:prstGeom prst="rect">
            <a:avLst/>
          </a:prstGeom>
        </p:spPr>
      </p:pic>
      <p:pic>
        <p:nvPicPr>
          <p:cNvPr id="9" name="Picture 8" descr="image.png"/>
          <p:cNvPicPr>
            <a:picLocks noChangeAspect="1"/>
          </p:cNvPicPr>
          <p:nvPr/>
        </p:nvPicPr>
        <p:blipFill>
          <a:blip r:embed="rId4"/>
          <a:stretch>
            <a:fillRect/>
          </a:stretch>
        </p:blipFill>
        <p:spPr>
          <a:xfrm>
            <a:off x="800100" y="5788521"/>
            <a:ext cx="112514" cy="123825"/>
          </a:xfrm>
          <a:prstGeom prst="rect">
            <a:avLst/>
          </a:prstGeom>
        </p:spPr>
      </p:pic>
      <p:pic>
        <p:nvPicPr>
          <p:cNvPr id="10" name="Picture 9" descr="image.png"/>
          <p:cNvPicPr>
            <a:picLocks noChangeAspect="1"/>
          </p:cNvPicPr>
          <p:nvPr/>
        </p:nvPicPr>
        <p:blipFill>
          <a:blip r:embed="rId5"/>
          <a:stretch>
            <a:fillRect/>
          </a:stretch>
        </p:blipFill>
        <p:spPr>
          <a:xfrm>
            <a:off x="609600" y="2657475"/>
            <a:ext cx="123825" cy="142875"/>
          </a:xfrm>
          <a:prstGeom prst="rect">
            <a:avLst/>
          </a:prstGeom>
        </p:spPr>
      </p:pic>
      <p:pic>
        <p:nvPicPr>
          <p:cNvPr id="11" name="Picture 10" descr="image.png"/>
          <p:cNvPicPr>
            <a:picLocks noChangeAspect="1"/>
          </p:cNvPicPr>
          <p:nvPr/>
        </p:nvPicPr>
        <p:blipFill>
          <a:blip r:embed="rId5"/>
          <a:stretch>
            <a:fillRect/>
          </a:stretch>
        </p:blipFill>
        <p:spPr>
          <a:xfrm>
            <a:off x="609600" y="2914650"/>
            <a:ext cx="123825" cy="142875"/>
          </a:xfrm>
          <a:prstGeom prst="rect">
            <a:avLst/>
          </a:prstGeom>
        </p:spPr>
      </p:pic>
      <p:pic>
        <p:nvPicPr>
          <p:cNvPr id="12" name="Picture 11" descr="image.png"/>
          <p:cNvPicPr>
            <a:picLocks noChangeAspect="1"/>
          </p:cNvPicPr>
          <p:nvPr/>
        </p:nvPicPr>
        <p:blipFill>
          <a:blip r:embed="rId5"/>
          <a:stretch>
            <a:fillRect/>
          </a:stretch>
        </p:blipFill>
        <p:spPr>
          <a:xfrm>
            <a:off x="609600" y="3171825"/>
            <a:ext cx="123825" cy="142875"/>
          </a:xfrm>
          <a:prstGeom prst="rect">
            <a:avLst/>
          </a:prstGeom>
        </p:spPr>
      </p:pic>
      <p:sp>
        <p:nvSpPr>
          <p:cNvPr id="13" name="TextBox 12"/>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14" name="TextBox 13"/>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Instead of binding roles directly to individual user principals, we attach the Contributor role to the 'Azure-Developers' group at the resource group scope. When Pujith Azure joins the group, access is inherited automatically.</a:t>
            </a:r>
          </a:p>
        </p:txBody>
      </p:sp>
      <p:sp>
        <p:nvSpPr>
          <p:cNvPr id="15" name="TextBox 14"/>
          <p:cNvSpPr txBox="1"/>
          <p:nvPr/>
        </p:nvSpPr>
        <p:spPr>
          <a:xfrm>
            <a:off x="609600" y="457200"/>
            <a:ext cx="6322218" cy="161925"/>
          </a:xfrm>
          <a:prstGeom prst="rect">
            <a:avLst/>
          </a:prstGeom>
          <a:noFill/>
        </p:spPr>
        <p:txBody>
          <a:bodyPr wrap="none" lIns="0" rIns="0" tIns="0" bIns="0" anchor="t">
            <a:spAutoFit/>
          </a:bodyPr>
          <a:lstStyle/>
          <a:p>
            <a:pPr algn="l"/>
            <a:r>
              <a:rPr b="1" sz="1050" i="0" u="none">
                <a:solidFill>
                  <a:srgbClr val="0078D4"/>
                </a:solidFill>
                <a:latin typeface="Inter"/>
              </a:rPr>
              <a:t>ACCESS CONTROL</a:t>
            </a:r>
          </a:p>
        </p:txBody>
      </p:sp>
      <p:sp>
        <p:nvSpPr>
          <p:cNvPr id="16" name="TextBox 15"/>
          <p:cNvSpPr txBox="1"/>
          <p:nvPr/>
        </p:nvSpPr>
        <p:spPr>
          <a:xfrm>
            <a:off x="609600" y="619125"/>
            <a:ext cx="6638329"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Group-Based RBAC Implementation</a:t>
            </a:r>
          </a:p>
        </p:txBody>
      </p:sp>
      <p:sp>
        <p:nvSpPr>
          <p:cNvPr id="17" name="TextBox 16"/>
          <p:cNvSpPr txBox="1"/>
          <p:nvPr/>
        </p:nvSpPr>
        <p:spPr>
          <a:xfrm>
            <a:off x="4482703" y="4606379"/>
            <a:ext cx="3226593" cy="180975"/>
          </a:xfrm>
          <a:prstGeom prst="rect">
            <a:avLst/>
          </a:prstGeom>
          <a:noFill/>
        </p:spPr>
        <p:txBody>
          <a:bodyPr wrap="none" lIns="0" rIns="0" tIns="0" bIns="0" anchor="t">
            <a:spAutoFit/>
          </a:bodyPr>
          <a:lstStyle/>
          <a:p>
            <a:pPr algn="ctr"/>
            <a:r>
              <a:rPr b="1" sz="1125" i="0" u="none">
                <a:solidFill>
                  <a:srgbClr val="0F172A"/>
                </a:solidFill>
                <a:latin typeface="Inter"/>
              </a:rPr>
              <a:t>Azure Portal Screenshot Placeholder</a:t>
            </a:r>
          </a:p>
        </p:txBody>
      </p:sp>
      <p:sp>
        <p:nvSpPr>
          <p:cNvPr id="18" name="TextBox 17"/>
          <p:cNvSpPr txBox="1"/>
          <p:nvPr/>
        </p:nvSpPr>
        <p:spPr>
          <a:xfrm>
            <a:off x="3506390" y="4825454"/>
            <a:ext cx="5179218" cy="152400"/>
          </a:xfrm>
          <a:prstGeom prst="rect">
            <a:avLst/>
          </a:prstGeom>
          <a:noFill/>
        </p:spPr>
        <p:txBody>
          <a:bodyPr wrap="none" lIns="0" rIns="0" tIns="0" bIns="0" anchor="t">
            <a:spAutoFit/>
          </a:bodyPr>
          <a:lstStyle/>
          <a:p>
            <a:pPr algn="ctr"/>
            <a:r>
              <a:rPr b="0" sz="975" i="0" u="none">
                <a:solidFill>
                  <a:srgbClr val="64748B"/>
                </a:solidFill>
                <a:latin typeface="Inter"/>
              </a:rPr>
              <a:t>"Azure-Developers → Azure Role Assignments (Access Control IAM)"</a:t>
            </a:r>
          </a:p>
        </p:txBody>
      </p:sp>
      <p:sp>
        <p:nvSpPr>
          <p:cNvPr id="19" name="TextBox 18"/>
          <p:cNvSpPr txBox="1"/>
          <p:nvPr/>
        </p:nvSpPr>
        <p:spPr>
          <a:xfrm>
            <a:off x="733425" y="1276350"/>
            <a:ext cx="11458575" cy="161925"/>
          </a:xfrm>
          <a:prstGeom prst="rect">
            <a:avLst/>
          </a:prstGeom>
          <a:noFill/>
        </p:spPr>
        <p:txBody>
          <a:bodyPr wrap="none" lIns="0" rIns="0" tIns="0" bIns="0" anchor="t">
            <a:spAutoFit/>
          </a:bodyPr>
          <a:lstStyle/>
          <a:p>
            <a:pPr algn="l"/>
            <a:r>
              <a:rPr b="1" sz="1050" i="0" u="none">
                <a:solidFill>
                  <a:srgbClr val="991B1B"/>
                </a:solidFill>
                <a:latin typeface="Inter"/>
              </a:rPr>
              <a:t>Traditional Individual RBAC (Anti-Pattern)</a:t>
            </a:r>
          </a:p>
        </p:txBody>
      </p:sp>
      <p:sp>
        <p:nvSpPr>
          <p:cNvPr id="20" name="TextBox 19"/>
          <p:cNvSpPr txBox="1"/>
          <p:nvPr/>
        </p:nvSpPr>
        <p:spPr>
          <a:xfrm>
            <a:off x="733425" y="1476375"/>
            <a:ext cx="11458575" cy="161925"/>
          </a:xfrm>
          <a:prstGeom prst="rect">
            <a:avLst/>
          </a:prstGeom>
          <a:noFill/>
        </p:spPr>
        <p:txBody>
          <a:bodyPr wrap="none" lIns="0" rIns="0" tIns="0" bIns="0" anchor="t">
            <a:spAutoFit/>
          </a:bodyPr>
          <a:lstStyle/>
          <a:p>
            <a:pPr algn="l"/>
            <a:r>
              <a:rPr b="0" sz="1050" i="0" u="none">
                <a:solidFill>
                  <a:srgbClr val="7F1D1D"/>
                </a:solidFill>
                <a:latin typeface="Inter"/>
              </a:rPr>
              <a:t>User 1 → Contributor | User 2 → Contributor | User 3 → Contributor</a:t>
            </a:r>
          </a:p>
        </p:txBody>
      </p:sp>
      <p:sp>
        <p:nvSpPr>
          <p:cNvPr id="21" name="TextBox 20"/>
          <p:cNvSpPr txBox="1"/>
          <p:nvPr/>
        </p:nvSpPr>
        <p:spPr>
          <a:xfrm>
            <a:off x="733425" y="2000250"/>
            <a:ext cx="11458575" cy="161925"/>
          </a:xfrm>
          <a:prstGeom prst="rect">
            <a:avLst/>
          </a:prstGeom>
          <a:noFill/>
        </p:spPr>
        <p:txBody>
          <a:bodyPr wrap="none" lIns="0" rIns="0" tIns="0" bIns="0" anchor="t">
            <a:spAutoFit/>
          </a:bodyPr>
          <a:lstStyle/>
          <a:p>
            <a:pPr algn="l"/>
            <a:r>
              <a:rPr b="1" sz="1050" i="0" u="none">
                <a:solidFill>
                  <a:srgbClr val="166534"/>
                </a:solidFill>
                <a:latin typeface="Inter"/>
              </a:rPr>
              <a:t>Implemented Group-Based RBAC</a:t>
            </a:r>
          </a:p>
        </p:txBody>
      </p:sp>
      <p:sp>
        <p:nvSpPr>
          <p:cNvPr id="22" name="TextBox 21"/>
          <p:cNvSpPr txBox="1"/>
          <p:nvPr/>
        </p:nvSpPr>
        <p:spPr>
          <a:xfrm>
            <a:off x="733425" y="2200275"/>
            <a:ext cx="11458575" cy="161925"/>
          </a:xfrm>
          <a:prstGeom prst="rect">
            <a:avLst/>
          </a:prstGeom>
          <a:noFill/>
        </p:spPr>
        <p:txBody>
          <a:bodyPr wrap="none" lIns="0" rIns="0" tIns="0" bIns="0" anchor="t">
            <a:spAutoFit/>
          </a:bodyPr>
          <a:lstStyle/>
          <a:p>
            <a:pPr algn="l"/>
            <a:r>
              <a:rPr b="0" sz="1050" i="0" u="none">
                <a:solidFill>
                  <a:srgbClr val="14532D"/>
                </a:solidFill>
                <a:latin typeface="Inter"/>
              </a:rPr>
              <a:t>Azure-Developers Group → Contributor Role → rg-vending-development</a:t>
            </a:r>
          </a:p>
        </p:txBody>
      </p:sp>
      <p:sp>
        <p:nvSpPr>
          <p:cNvPr id="23" name="TextBox 22"/>
          <p:cNvSpPr txBox="1"/>
          <p:nvPr/>
        </p:nvSpPr>
        <p:spPr>
          <a:xfrm>
            <a:off x="609600" y="2638425"/>
            <a:ext cx="11582400" cy="180975"/>
          </a:xfrm>
          <a:prstGeom prst="rect">
            <a:avLst/>
          </a:prstGeom>
          <a:noFill/>
        </p:spPr>
        <p:txBody>
          <a:bodyPr wrap="none" lIns="123825" rIns="0" tIns="0" bIns="0" anchor="t">
            <a:spAutoFit/>
          </a:bodyPr>
          <a:lstStyle/>
          <a:p>
            <a:pPr algn="l"/>
            <a:r>
              <a:rPr b="0" sz="1125" i="0" u="none">
                <a:solidFill>
                  <a:srgbClr val="334155"/>
                </a:solidFill>
                <a:latin typeface="Inter"/>
              </a:rPr>
              <a:t>Centralized permission management via Microsoft Entra.</a:t>
            </a:r>
          </a:p>
        </p:txBody>
      </p:sp>
      <p:sp>
        <p:nvSpPr>
          <p:cNvPr id="24" name="TextBox 23"/>
          <p:cNvSpPr txBox="1"/>
          <p:nvPr/>
        </p:nvSpPr>
        <p:spPr>
          <a:xfrm>
            <a:off x="609600" y="2895600"/>
            <a:ext cx="11582400" cy="180975"/>
          </a:xfrm>
          <a:prstGeom prst="rect">
            <a:avLst/>
          </a:prstGeom>
          <a:noFill/>
        </p:spPr>
        <p:txBody>
          <a:bodyPr wrap="none" lIns="123825" rIns="0" tIns="0" bIns="0" anchor="t">
            <a:spAutoFit/>
          </a:bodyPr>
          <a:lstStyle/>
          <a:p>
            <a:pPr algn="l"/>
            <a:r>
              <a:rPr b="0" sz="1125" i="0" u="none">
                <a:solidFill>
                  <a:srgbClr val="334155"/>
                </a:solidFill>
                <a:latin typeface="Inter"/>
              </a:rPr>
              <a:t>Instant access revocation upon removing user from group.</a:t>
            </a:r>
          </a:p>
        </p:txBody>
      </p:sp>
      <p:sp>
        <p:nvSpPr>
          <p:cNvPr id="25" name="TextBox 24"/>
          <p:cNvSpPr txBox="1"/>
          <p:nvPr/>
        </p:nvSpPr>
        <p:spPr>
          <a:xfrm>
            <a:off x="609600" y="3152775"/>
            <a:ext cx="11582400" cy="180975"/>
          </a:xfrm>
          <a:prstGeom prst="rect">
            <a:avLst/>
          </a:prstGeom>
          <a:noFill/>
        </p:spPr>
        <p:txBody>
          <a:bodyPr wrap="none" lIns="123825" rIns="0" tIns="0" bIns="0" anchor="t">
            <a:spAutoFit/>
          </a:bodyPr>
          <a:lstStyle/>
          <a:p>
            <a:pPr algn="l"/>
            <a:r>
              <a:rPr b="0" sz="1125" i="0" u="none">
                <a:solidFill>
                  <a:srgbClr val="334155"/>
                </a:solidFill>
                <a:latin typeface="Inter"/>
              </a:rPr>
              <a:t>High consistency across all team members.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810000"/>
            <a:ext cx="10972800" cy="1716583"/>
          </a:xfrm>
          <a:prstGeom prst="roundRect">
            <a:avLst>
              <a:gd name="adj" fmla="val 5548"/>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1152525"/>
            <a:ext cx="10972800" cy="962025"/>
          </a:xfrm>
          <a:prstGeom prst="roundRect">
            <a:avLst>
              <a:gd name="adj" fmla="val 99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2266950"/>
            <a:ext cx="10972800" cy="962025"/>
          </a:xfrm>
          <a:prstGeom prst="roundRect">
            <a:avLst>
              <a:gd name="adj" fmla="val 99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1239500" y="538162"/>
            <a:ext cx="342900" cy="342900"/>
          </a:xfrm>
          <a:prstGeom prst="rect">
            <a:avLst/>
          </a:prstGeom>
        </p:spPr>
      </p:pic>
      <p:pic>
        <p:nvPicPr>
          <p:cNvPr id="8" name="Picture 7" descr="image.png"/>
          <p:cNvPicPr>
            <a:picLocks noChangeAspect="1"/>
          </p:cNvPicPr>
          <p:nvPr/>
        </p:nvPicPr>
        <p:blipFill>
          <a:blip r:embed="rId3"/>
          <a:stretch>
            <a:fillRect/>
          </a:stretch>
        </p:blipFill>
        <p:spPr>
          <a:xfrm>
            <a:off x="5905500" y="4234904"/>
            <a:ext cx="381000" cy="381000"/>
          </a:xfrm>
          <a:prstGeom prst="rect">
            <a:avLst/>
          </a:prstGeom>
        </p:spPr>
      </p:pic>
      <p:pic>
        <p:nvPicPr>
          <p:cNvPr id="9" name="Picture 8" descr="image.png"/>
          <p:cNvPicPr>
            <a:picLocks noChangeAspect="1"/>
          </p:cNvPicPr>
          <p:nvPr/>
        </p:nvPicPr>
        <p:blipFill>
          <a:blip r:embed="rId4"/>
          <a:stretch>
            <a:fillRect/>
          </a:stretch>
        </p:blipFill>
        <p:spPr>
          <a:xfrm>
            <a:off x="800100" y="5788521"/>
            <a:ext cx="112514" cy="123825"/>
          </a:xfrm>
          <a:prstGeom prst="rect">
            <a:avLst/>
          </a:prstGeom>
        </p:spPr>
      </p:pic>
      <p:sp>
        <p:nvSpPr>
          <p:cNvPr id="10" name="TextBox 9"/>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11" name="TextBox 10"/>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This slide illustrates the provisioned resource hierarchy. The storage account 'azurevendingmounika01' was deployed inside 'rg-vending-development', enabling authorized group members to upload and manage blob files immediately.</a:t>
            </a:r>
          </a:p>
        </p:txBody>
      </p:sp>
      <p:sp>
        <p:nvSpPr>
          <p:cNvPr id="12" name="TextBox 11"/>
          <p:cNvSpPr txBox="1"/>
          <p:nvPr/>
        </p:nvSpPr>
        <p:spPr>
          <a:xfrm>
            <a:off x="609600" y="457200"/>
            <a:ext cx="5834062" cy="161925"/>
          </a:xfrm>
          <a:prstGeom prst="rect">
            <a:avLst/>
          </a:prstGeom>
          <a:noFill/>
        </p:spPr>
        <p:txBody>
          <a:bodyPr wrap="none" lIns="0" rIns="0" tIns="0" bIns="0" anchor="t">
            <a:spAutoFit/>
          </a:bodyPr>
          <a:lstStyle/>
          <a:p>
            <a:pPr algn="l"/>
            <a:r>
              <a:rPr b="1" sz="1050" i="0" u="none">
                <a:solidFill>
                  <a:srgbClr val="0078D4"/>
                </a:solidFill>
                <a:latin typeface="Inter"/>
              </a:rPr>
              <a:t>DEPLOYMENT</a:t>
            </a:r>
          </a:p>
        </p:txBody>
      </p:sp>
      <p:sp>
        <p:nvSpPr>
          <p:cNvPr id="13" name="TextBox 12"/>
          <p:cNvSpPr txBox="1"/>
          <p:nvPr/>
        </p:nvSpPr>
        <p:spPr>
          <a:xfrm>
            <a:off x="609600" y="619125"/>
            <a:ext cx="6125765"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Resource Provisioning Workflow</a:t>
            </a:r>
          </a:p>
        </p:txBody>
      </p:sp>
      <p:sp>
        <p:nvSpPr>
          <p:cNvPr id="14" name="TextBox 13"/>
          <p:cNvSpPr txBox="1"/>
          <p:nvPr/>
        </p:nvSpPr>
        <p:spPr>
          <a:xfrm>
            <a:off x="609600" y="3381375"/>
            <a:ext cx="11582400" cy="200025"/>
          </a:xfrm>
          <a:prstGeom prst="rect">
            <a:avLst/>
          </a:prstGeom>
          <a:noFill/>
        </p:spPr>
        <p:txBody>
          <a:bodyPr wrap="none" lIns="0" rIns="0" tIns="0" bIns="0" anchor="t">
            <a:spAutoFit/>
          </a:bodyPr>
          <a:lstStyle/>
          <a:p>
            <a:pPr algn="l">
              <a:lnSpc>
                <a:spcPts val="1575"/>
              </a:lnSpc>
            </a:pPr>
            <a:r>
              <a:rPr b="0" sz="1125" i="0" u="none">
                <a:solidFill>
                  <a:srgbClr val="334155"/>
                </a:solidFill>
                <a:latin typeface="Inter"/>
              </a:rPr>
              <a:t>"The deployed resource is placed inside the controlled development resource group. Access is managed through the group-level RBAC assignment."</a:t>
            </a:r>
          </a:p>
        </p:txBody>
      </p:sp>
      <p:sp>
        <p:nvSpPr>
          <p:cNvPr id="15" name="TextBox 14"/>
          <p:cNvSpPr txBox="1"/>
          <p:nvPr/>
        </p:nvSpPr>
        <p:spPr>
          <a:xfrm>
            <a:off x="4482703" y="4730204"/>
            <a:ext cx="3226593" cy="180975"/>
          </a:xfrm>
          <a:prstGeom prst="rect">
            <a:avLst/>
          </a:prstGeom>
          <a:noFill/>
        </p:spPr>
        <p:txBody>
          <a:bodyPr wrap="none" lIns="0" rIns="0" tIns="0" bIns="0" anchor="t">
            <a:spAutoFit/>
          </a:bodyPr>
          <a:lstStyle/>
          <a:p>
            <a:pPr algn="ctr"/>
            <a:r>
              <a:rPr b="1" sz="1125" i="0" u="none">
                <a:solidFill>
                  <a:srgbClr val="0F172A"/>
                </a:solidFill>
                <a:latin typeface="Inter"/>
              </a:rPr>
              <a:t>Azure Portal Screenshot Placeholder</a:t>
            </a:r>
          </a:p>
        </p:txBody>
      </p:sp>
      <p:sp>
        <p:nvSpPr>
          <p:cNvPr id="16" name="TextBox 15"/>
          <p:cNvSpPr txBox="1"/>
          <p:nvPr/>
        </p:nvSpPr>
        <p:spPr>
          <a:xfrm>
            <a:off x="3465667" y="4949279"/>
            <a:ext cx="5260516" cy="152400"/>
          </a:xfrm>
          <a:prstGeom prst="rect">
            <a:avLst/>
          </a:prstGeom>
          <a:noFill/>
        </p:spPr>
        <p:txBody>
          <a:bodyPr wrap="none" lIns="0" rIns="0" tIns="0" bIns="0" anchor="t">
            <a:spAutoFit/>
          </a:bodyPr>
          <a:lstStyle/>
          <a:p>
            <a:pPr algn="ctr"/>
            <a:r>
              <a:rPr b="0" sz="975" i="0" u="none">
                <a:solidFill>
                  <a:srgbClr val="64748B"/>
                </a:solidFill>
                <a:latin typeface="Inter"/>
              </a:rPr>
              <a:t>"Storage Account </a:t>
            </a:r>
            <a:r>
              <a:rPr b="0" sz="975" i="0" u="none">
                <a:solidFill>
                  <a:srgbClr val="64748B"/>
                </a:solidFill>
                <a:latin typeface="Inter"/>
              </a:rPr>
              <a:t>azurevendingmounika01</a:t>
            </a:r>
            <a:r>
              <a:rPr b="0" sz="975" i="0" u="none">
                <a:solidFill>
                  <a:srgbClr val="64748B"/>
                </a:solidFill>
                <a:latin typeface="Inter"/>
              </a:rPr>
              <a:t> &amp; Blob Storage Overview"</a:t>
            </a:r>
          </a:p>
        </p:txBody>
      </p:sp>
      <p:sp>
        <p:nvSpPr>
          <p:cNvPr id="17" name="TextBox 16"/>
          <p:cNvSpPr txBox="1"/>
          <p:nvPr/>
        </p:nvSpPr>
        <p:spPr>
          <a:xfrm>
            <a:off x="809625" y="1352550"/>
            <a:ext cx="11382375" cy="161925"/>
          </a:xfrm>
          <a:prstGeom prst="rect">
            <a:avLst/>
          </a:prstGeom>
          <a:noFill/>
        </p:spPr>
        <p:txBody>
          <a:bodyPr wrap="none" lIns="0" rIns="0" tIns="0" bIns="0" anchor="t">
            <a:spAutoFit/>
          </a:bodyPr>
          <a:lstStyle/>
          <a:p>
            <a:pPr algn="l"/>
            <a:r>
              <a:rPr b="1" sz="1050" i="0" u="none">
                <a:solidFill>
                  <a:srgbClr val="0078D4"/>
                </a:solidFill>
                <a:latin typeface="Inter"/>
              </a:rPr>
              <a:t>RESOURCE CONTAINER</a:t>
            </a:r>
          </a:p>
        </p:txBody>
      </p:sp>
      <p:sp>
        <p:nvSpPr>
          <p:cNvPr id="18" name="TextBox 17"/>
          <p:cNvSpPr txBox="1"/>
          <p:nvPr/>
        </p:nvSpPr>
        <p:spPr>
          <a:xfrm>
            <a:off x="809625" y="1514475"/>
            <a:ext cx="11382375" cy="200025"/>
          </a:xfrm>
          <a:prstGeom prst="rect">
            <a:avLst/>
          </a:prstGeom>
          <a:noFill/>
        </p:spPr>
        <p:txBody>
          <a:bodyPr wrap="none" lIns="0" rIns="0" tIns="0" bIns="0" anchor="t">
            <a:spAutoFit/>
          </a:bodyPr>
          <a:lstStyle/>
          <a:p>
            <a:pPr algn="l"/>
            <a:r>
              <a:rPr b="1" sz="1350" i="0" u="none">
                <a:solidFill>
                  <a:srgbClr val="0F172A"/>
                </a:solidFill>
                <a:latin typeface="Inter"/>
              </a:rPr>
              <a:t>rg-vending-development</a:t>
            </a:r>
          </a:p>
        </p:txBody>
      </p:sp>
      <p:sp>
        <p:nvSpPr>
          <p:cNvPr id="19" name="TextBox 18"/>
          <p:cNvSpPr txBox="1"/>
          <p:nvPr/>
        </p:nvSpPr>
        <p:spPr>
          <a:xfrm>
            <a:off x="809625" y="1752600"/>
            <a:ext cx="11382375" cy="161925"/>
          </a:xfrm>
          <a:prstGeom prst="rect">
            <a:avLst/>
          </a:prstGeom>
          <a:noFill/>
        </p:spPr>
        <p:txBody>
          <a:bodyPr wrap="none" lIns="0" rIns="0" tIns="0" bIns="0" anchor="t">
            <a:spAutoFit/>
          </a:bodyPr>
          <a:lstStyle/>
          <a:p>
            <a:pPr algn="l"/>
            <a:r>
              <a:rPr b="0" sz="1050" i="0" u="none">
                <a:solidFill>
                  <a:srgbClr val="475569"/>
                </a:solidFill>
                <a:latin typeface="Inter"/>
              </a:rPr>
              <a:t>Acts as the security and lifecycle boundary for development tasks.</a:t>
            </a:r>
          </a:p>
        </p:txBody>
      </p:sp>
      <p:sp>
        <p:nvSpPr>
          <p:cNvPr id="20" name="TextBox 19"/>
          <p:cNvSpPr txBox="1"/>
          <p:nvPr/>
        </p:nvSpPr>
        <p:spPr>
          <a:xfrm>
            <a:off x="809625" y="2466975"/>
            <a:ext cx="11382375" cy="161925"/>
          </a:xfrm>
          <a:prstGeom prst="rect">
            <a:avLst/>
          </a:prstGeom>
          <a:noFill/>
        </p:spPr>
        <p:txBody>
          <a:bodyPr wrap="none" lIns="0" rIns="0" tIns="0" bIns="0" anchor="t">
            <a:spAutoFit/>
          </a:bodyPr>
          <a:lstStyle/>
          <a:p>
            <a:pPr algn="l"/>
            <a:r>
              <a:rPr b="1" sz="1050" i="0" u="none">
                <a:solidFill>
                  <a:srgbClr val="0078D4"/>
                </a:solidFill>
                <a:latin typeface="Inter"/>
              </a:rPr>
              <a:t>PROVISIONED RESOURCE</a:t>
            </a:r>
          </a:p>
        </p:txBody>
      </p:sp>
      <p:sp>
        <p:nvSpPr>
          <p:cNvPr id="21" name="TextBox 20"/>
          <p:cNvSpPr txBox="1"/>
          <p:nvPr/>
        </p:nvSpPr>
        <p:spPr>
          <a:xfrm>
            <a:off x="809625" y="2628900"/>
            <a:ext cx="11382375" cy="200025"/>
          </a:xfrm>
          <a:prstGeom prst="rect">
            <a:avLst/>
          </a:prstGeom>
          <a:noFill/>
        </p:spPr>
        <p:txBody>
          <a:bodyPr wrap="none" lIns="0" rIns="0" tIns="0" bIns="0" anchor="t">
            <a:spAutoFit/>
          </a:bodyPr>
          <a:lstStyle/>
          <a:p>
            <a:pPr algn="l"/>
            <a:r>
              <a:rPr b="1" sz="1350" i="0" u="none">
                <a:solidFill>
                  <a:srgbClr val="0F172A"/>
                </a:solidFill>
                <a:latin typeface="Inter"/>
              </a:rPr>
              <a:t>azurevendingmounika01</a:t>
            </a:r>
          </a:p>
        </p:txBody>
      </p:sp>
      <p:sp>
        <p:nvSpPr>
          <p:cNvPr id="22" name="TextBox 21"/>
          <p:cNvSpPr txBox="1"/>
          <p:nvPr/>
        </p:nvSpPr>
        <p:spPr>
          <a:xfrm>
            <a:off x="809625" y="2867025"/>
            <a:ext cx="11382375" cy="161925"/>
          </a:xfrm>
          <a:prstGeom prst="rect">
            <a:avLst/>
          </a:prstGeom>
          <a:noFill/>
        </p:spPr>
        <p:txBody>
          <a:bodyPr wrap="none" lIns="0" rIns="0" tIns="0" bIns="0" anchor="t">
            <a:spAutoFit/>
          </a:bodyPr>
          <a:lstStyle/>
          <a:p>
            <a:pPr algn="l"/>
            <a:r>
              <a:rPr b="0" sz="1050" i="0" u="none">
                <a:solidFill>
                  <a:srgbClr val="475569"/>
                </a:solidFill>
                <a:latin typeface="Inter"/>
              </a:rPr>
              <a:t>Storage Account → Blob Container → Verified Test Data Upload.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152525"/>
            <a:ext cx="10972800" cy="2072729"/>
          </a:xfrm>
          <a:prstGeom prst="roundRect">
            <a:avLst>
              <a:gd name="adj" fmla="val 459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453854"/>
            <a:ext cx="10972800" cy="2072729"/>
          </a:xfrm>
          <a:prstGeom prst="roundRect">
            <a:avLst>
              <a:gd name="adj" fmla="val 459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215729"/>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152525"/>
            <a:ext cx="10972800" cy="381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1152525"/>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72875" y="1152525"/>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625" y="2609850"/>
            <a:ext cx="10572750" cy="352425"/>
          </a:xfrm>
          <a:prstGeom prst="roundRect">
            <a:avLst>
              <a:gd name="adj" fmla="val 1621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5517058"/>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600" y="3453854"/>
            <a:ext cx="109728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600" y="3453854"/>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572875" y="3453854"/>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9625" y="4911179"/>
            <a:ext cx="10572750" cy="352425"/>
          </a:xfrm>
          <a:prstGeom prst="roundRect">
            <a:avLst>
              <a:gd name="adj" fmla="val 16216"/>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11153775" y="538162"/>
            <a:ext cx="428625" cy="342900"/>
          </a:xfrm>
          <a:prstGeom prst="rect">
            <a:avLst/>
          </a:prstGeom>
        </p:spPr>
      </p:pic>
      <p:pic>
        <p:nvPicPr>
          <p:cNvPr id="17" name="Picture 16" descr="image.png"/>
          <p:cNvPicPr>
            <a:picLocks noChangeAspect="1"/>
          </p:cNvPicPr>
          <p:nvPr/>
        </p:nvPicPr>
        <p:blipFill>
          <a:blip r:embed="rId3"/>
          <a:stretch>
            <a:fillRect/>
          </a:stretch>
        </p:blipFill>
        <p:spPr>
          <a:xfrm>
            <a:off x="800100" y="5788521"/>
            <a:ext cx="112514" cy="123825"/>
          </a:xfrm>
          <a:prstGeom prst="rect">
            <a:avLst/>
          </a:prstGeom>
        </p:spPr>
      </p:pic>
      <p:pic>
        <p:nvPicPr>
          <p:cNvPr id="18" name="Picture 17" descr="image.png"/>
          <p:cNvPicPr>
            <a:picLocks noChangeAspect="1"/>
          </p:cNvPicPr>
          <p:nvPr/>
        </p:nvPicPr>
        <p:blipFill>
          <a:blip r:embed="rId4"/>
          <a:stretch>
            <a:fillRect/>
          </a:stretch>
        </p:blipFill>
        <p:spPr>
          <a:xfrm>
            <a:off x="809625" y="1400175"/>
            <a:ext cx="142875" cy="190500"/>
          </a:xfrm>
          <a:prstGeom prst="rect">
            <a:avLst/>
          </a:prstGeom>
        </p:spPr>
      </p:pic>
      <p:pic>
        <p:nvPicPr>
          <p:cNvPr id="19" name="Picture 18" descr="image.png"/>
          <p:cNvPicPr>
            <a:picLocks noChangeAspect="1"/>
          </p:cNvPicPr>
          <p:nvPr/>
        </p:nvPicPr>
        <p:blipFill>
          <a:blip r:embed="rId5"/>
          <a:stretch>
            <a:fillRect/>
          </a:stretch>
        </p:blipFill>
        <p:spPr>
          <a:xfrm>
            <a:off x="809625" y="3701504"/>
            <a:ext cx="190500" cy="190500"/>
          </a:xfrm>
          <a:prstGeom prst="rect">
            <a:avLst/>
          </a:prstGeom>
        </p:spPr>
      </p:pic>
      <p:pic>
        <p:nvPicPr>
          <p:cNvPr id="20" name="Picture 19" descr="image.png"/>
          <p:cNvPicPr>
            <a:picLocks noChangeAspect="1"/>
          </p:cNvPicPr>
          <p:nvPr/>
        </p:nvPicPr>
        <p:blipFill>
          <a:blip r:embed="rId6"/>
          <a:stretch>
            <a:fillRect/>
          </a:stretch>
        </p:blipFill>
        <p:spPr>
          <a:xfrm>
            <a:off x="809625" y="1743075"/>
            <a:ext cx="123825" cy="142875"/>
          </a:xfrm>
          <a:prstGeom prst="rect">
            <a:avLst/>
          </a:prstGeom>
        </p:spPr>
      </p:pic>
      <p:pic>
        <p:nvPicPr>
          <p:cNvPr id="21" name="Picture 20" descr="image.png"/>
          <p:cNvPicPr>
            <a:picLocks noChangeAspect="1"/>
          </p:cNvPicPr>
          <p:nvPr/>
        </p:nvPicPr>
        <p:blipFill>
          <a:blip r:embed="rId6"/>
          <a:stretch>
            <a:fillRect/>
          </a:stretch>
        </p:blipFill>
        <p:spPr>
          <a:xfrm>
            <a:off x="809625" y="2019300"/>
            <a:ext cx="123825" cy="142875"/>
          </a:xfrm>
          <a:prstGeom prst="rect">
            <a:avLst/>
          </a:prstGeom>
        </p:spPr>
      </p:pic>
      <p:pic>
        <p:nvPicPr>
          <p:cNvPr id="22" name="Picture 21" descr="image.png"/>
          <p:cNvPicPr>
            <a:picLocks noChangeAspect="1"/>
          </p:cNvPicPr>
          <p:nvPr/>
        </p:nvPicPr>
        <p:blipFill>
          <a:blip r:embed="rId6"/>
          <a:stretch>
            <a:fillRect/>
          </a:stretch>
        </p:blipFill>
        <p:spPr>
          <a:xfrm>
            <a:off x="809625" y="2295525"/>
            <a:ext cx="123825" cy="142875"/>
          </a:xfrm>
          <a:prstGeom prst="rect">
            <a:avLst/>
          </a:prstGeom>
        </p:spPr>
      </p:pic>
      <p:pic>
        <p:nvPicPr>
          <p:cNvPr id="23" name="Picture 22" descr="image.png"/>
          <p:cNvPicPr>
            <a:picLocks noChangeAspect="1"/>
          </p:cNvPicPr>
          <p:nvPr/>
        </p:nvPicPr>
        <p:blipFill>
          <a:blip r:embed="rId7"/>
          <a:stretch>
            <a:fillRect/>
          </a:stretch>
        </p:blipFill>
        <p:spPr>
          <a:xfrm>
            <a:off x="809625" y="4044404"/>
            <a:ext cx="123825" cy="142875"/>
          </a:xfrm>
          <a:prstGeom prst="rect">
            <a:avLst/>
          </a:prstGeom>
        </p:spPr>
      </p:pic>
      <p:pic>
        <p:nvPicPr>
          <p:cNvPr id="24" name="Picture 23" descr="image.png"/>
          <p:cNvPicPr>
            <a:picLocks noChangeAspect="1"/>
          </p:cNvPicPr>
          <p:nvPr/>
        </p:nvPicPr>
        <p:blipFill>
          <a:blip r:embed="rId7"/>
          <a:stretch>
            <a:fillRect/>
          </a:stretch>
        </p:blipFill>
        <p:spPr>
          <a:xfrm>
            <a:off x="809625" y="4320629"/>
            <a:ext cx="123825" cy="142875"/>
          </a:xfrm>
          <a:prstGeom prst="rect">
            <a:avLst/>
          </a:prstGeom>
        </p:spPr>
      </p:pic>
      <p:pic>
        <p:nvPicPr>
          <p:cNvPr id="25" name="Picture 24" descr="image.png"/>
          <p:cNvPicPr>
            <a:picLocks noChangeAspect="1"/>
          </p:cNvPicPr>
          <p:nvPr/>
        </p:nvPicPr>
        <p:blipFill>
          <a:blip r:embed="rId7"/>
          <a:stretch>
            <a:fillRect/>
          </a:stretch>
        </p:blipFill>
        <p:spPr>
          <a:xfrm>
            <a:off x="809625" y="4596854"/>
            <a:ext cx="123825" cy="142875"/>
          </a:xfrm>
          <a:prstGeom prst="rect">
            <a:avLst/>
          </a:prstGeom>
        </p:spPr>
      </p:pic>
      <p:sp>
        <p:nvSpPr>
          <p:cNvPr id="26" name="TextBox 25"/>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27" name="TextBox 26"/>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To prevent unmonitored cloud sprawl, we implemented Azure Policy for compliance auditing and set up an Azure Budget with automated email alert thresholds at 80% and 100% of spending limits.</a:t>
            </a:r>
          </a:p>
        </p:txBody>
      </p:sp>
      <p:sp>
        <p:nvSpPr>
          <p:cNvPr id="28" name="TextBox 27"/>
          <p:cNvSpPr txBox="1"/>
          <p:nvPr/>
        </p:nvSpPr>
        <p:spPr>
          <a:xfrm>
            <a:off x="609600" y="457200"/>
            <a:ext cx="5441156" cy="161925"/>
          </a:xfrm>
          <a:prstGeom prst="rect">
            <a:avLst/>
          </a:prstGeom>
          <a:noFill/>
        </p:spPr>
        <p:txBody>
          <a:bodyPr wrap="none" lIns="0" rIns="0" tIns="0" bIns="0" anchor="t">
            <a:spAutoFit/>
          </a:bodyPr>
          <a:lstStyle/>
          <a:p>
            <a:pPr algn="l"/>
            <a:r>
              <a:rPr b="1" sz="1050" i="0" u="none">
                <a:solidFill>
                  <a:srgbClr val="0078D4"/>
                </a:solidFill>
                <a:latin typeface="Inter"/>
              </a:rPr>
              <a:t>CONTROL &amp; COMPLIANCE</a:t>
            </a:r>
          </a:p>
        </p:txBody>
      </p:sp>
      <p:sp>
        <p:nvSpPr>
          <p:cNvPr id="29" name="TextBox 28"/>
          <p:cNvSpPr txBox="1"/>
          <p:nvPr/>
        </p:nvSpPr>
        <p:spPr>
          <a:xfrm>
            <a:off x="609600" y="619125"/>
            <a:ext cx="5713214"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Governance &amp; Cost Monitoring</a:t>
            </a:r>
          </a:p>
        </p:txBody>
      </p:sp>
      <p:sp>
        <p:nvSpPr>
          <p:cNvPr id="30" name="TextBox 29"/>
          <p:cNvSpPr txBox="1"/>
          <p:nvPr/>
        </p:nvSpPr>
        <p:spPr>
          <a:xfrm>
            <a:off x="809625" y="1381125"/>
            <a:ext cx="11382375" cy="228600"/>
          </a:xfrm>
          <a:prstGeom prst="rect">
            <a:avLst/>
          </a:prstGeom>
          <a:noFill/>
        </p:spPr>
        <p:txBody>
          <a:bodyPr wrap="none" lIns="142875" rIns="0" tIns="0" bIns="0" anchor="t">
            <a:spAutoFit/>
          </a:bodyPr>
          <a:lstStyle/>
          <a:p>
            <a:pPr algn="l"/>
            <a:r>
              <a:rPr b="1" sz="1500" i="0" u="none">
                <a:solidFill>
                  <a:srgbClr val="0078D4"/>
                </a:solidFill>
                <a:latin typeface="Inter"/>
              </a:rPr>
              <a:t>Azure Policy</a:t>
            </a:r>
          </a:p>
        </p:txBody>
      </p:sp>
      <p:sp>
        <p:nvSpPr>
          <p:cNvPr id="31" name="TextBox 30"/>
          <p:cNvSpPr txBox="1"/>
          <p:nvPr/>
        </p:nvSpPr>
        <p:spPr>
          <a:xfrm>
            <a:off x="-208359" y="2705100"/>
            <a:ext cx="12608718" cy="161925"/>
          </a:xfrm>
          <a:prstGeom prst="rect">
            <a:avLst/>
          </a:prstGeom>
          <a:noFill/>
        </p:spPr>
        <p:txBody>
          <a:bodyPr wrap="square" lIns="0" rIns="0" tIns="0" bIns="0" anchor="t">
            <a:spAutoFit/>
          </a:bodyPr>
          <a:lstStyle/>
          <a:p>
            <a:pPr algn="ctr"/>
            <a:r>
              <a:rPr b="1" sz="1050" i="0" u="none">
                <a:solidFill>
                  <a:srgbClr val="1E40AF"/>
                </a:solidFill>
                <a:latin typeface="Inter"/>
              </a:rPr>
              <a:t>Resource → Azure Policy → Compliance Verification</a:t>
            </a:r>
          </a:p>
        </p:txBody>
      </p:sp>
      <p:sp>
        <p:nvSpPr>
          <p:cNvPr id="32" name="TextBox 31"/>
          <p:cNvSpPr txBox="1"/>
          <p:nvPr/>
        </p:nvSpPr>
        <p:spPr>
          <a:xfrm>
            <a:off x="809625" y="3682454"/>
            <a:ext cx="11382375" cy="228600"/>
          </a:xfrm>
          <a:prstGeom prst="rect">
            <a:avLst/>
          </a:prstGeom>
          <a:noFill/>
        </p:spPr>
        <p:txBody>
          <a:bodyPr wrap="none" lIns="190500" rIns="0" tIns="0" bIns="0" anchor="t">
            <a:spAutoFit/>
          </a:bodyPr>
          <a:lstStyle/>
          <a:p>
            <a:pPr algn="l"/>
            <a:r>
              <a:rPr b="1" sz="1500" i="0" u="none">
                <a:solidFill>
                  <a:srgbClr val="16A34A"/>
                </a:solidFill>
                <a:latin typeface="Inter"/>
              </a:rPr>
              <a:t>Azure Budget &amp; Alerts</a:t>
            </a:r>
          </a:p>
        </p:txBody>
      </p:sp>
      <p:sp>
        <p:nvSpPr>
          <p:cNvPr id="33" name="TextBox 32"/>
          <p:cNvSpPr txBox="1"/>
          <p:nvPr/>
        </p:nvSpPr>
        <p:spPr>
          <a:xfrm>
            <a:off x="-208359" y="5006429"/>
            <a:ext cx="12608718" cy="161925"/>
          </a:xfrm>
          <a:prstGeom prst="rect">
            <a:avLst/>
          </a:prstGeom>
          <a:noFill/>
        </p:spPr>
        <p:txBody>
          <a:bodyPr wrap="square" lIns="0" rIns="0" tIns="0" bIns="0" anchor="t">
            <a:spAutoFit/>
          </a:bodyPr>
          <a:lstStyle/>
          <a:p>
            <a:pPr algn="ctr"/>
            <a:r>
              <a:rPr b="1" sz="1050" i="0" u="none">
                <a:solidFill>
                  <a:srgbClr val="166534"/>
                </a:solidFill>
                <a:latin typeface="Inter"/>
              </a:rPr>
              <a:t>Cost Mgmt → Budget → 80% / 100% Email Alerts</a:t>
            </a:r>
          </a:p>
        </p:txBody>
      </p:sp>
      <p:sp>
        <p:nvSpPr>
          <p:cNvPr id="34" name="TextBox 33"/>
          <p:cNvSpPr txBox="1"/>
          <p:nvPr/>
        </p:nvSpPr>
        <p:spPr>
          <a:xfrm>
            <a:off x="809625" y="1724025"/>
            <a:ext cx="11382375" cy="180975"/>
          </a:xfrm>
          <a:prstGeom prst="rect">
            <a:avLst/>
          </a:prstGeom>
          <a:noFill/>
        </p:spPr>
        <p:txBody>
          <a:bodyPr wrap="none" lIns="123825" rIns="0" tIns="0" bIns="0" anchor="t">
            <a:spAutoFit/>
          </a:bodyPr>
          <a:lstStyle/>
          <a:p>
            <a:pPr algn="l"/>
            <a:r>
              <a:rPr b="0" sz="1125" i="0" u="none">
                <a:solidFill>
                  <a:srgbClr val="334155"/>
                </a:solidFill>
                <a:latin typeface="Inter"/>
              </a:rPr>
              <a:t>Enforces organizational rules and naming standards.</a:t>
            </a:r>
          </a:p>
        </p:txBody>
      </p:sp>
      <p:sp>
        <p:nvSpPr>
          <p:cNvPr id="35" name="TextBox 34"/>
          <p:cNvSpPr txBox="1"/>
          <p:nvPr/>
        </p:nvSpPr>
        <p:spPr>
          <a:xfrm>
            <a:off x="809625" y="2000250"/>
            <a:ext cx="11382375" cy="180975"/>
          </a:xfrm>
          <a:prstGeom prst="rect">
            <a:avLst/>
          </a:prstGeom>
          <a:noFill/>
        </p:spPr>
        <p:txBody>
          <a:bodyPr wrap="none" lIns="123825" rIns="0" tIns="0" bIns="0" anchor="t">
            <a:spAutoFit/>
          </a:bodyPr>
          <a:lstStyle/>
          <a:p>
            <a:pPr algn="l"/>
            <a:r>
              <a:rPr b="0" sz="1125" i="0" u="none">
                <a:solidFill>
                  <a:srgbClr val="334155"/>
                </a:solidFill>
                <a:latin typeface="Inter"/>
              </a:rPr>
              <a:t>Continuously audits resource compliance status.</a:t>
            </a:r>
          </a:p>
        </p:txBody>
      </p:sp>
      <p:sp>
        <p:nvSpPr>
          <p:cNvPr id="36" name="TextBox 35"/>
          <p:cNvSpPr txBox="1"/>
          <p:nvPr/>
        </p:nvSpPr>
        <p:spPr>
          <a:xfrm>
            <a:off x="809625" y="2276475"/>
            <a:ext cx="11382375" cy="180975"/>
          </a:xfrm>
          <a:prstGeom prst="rect">
            <a:avLst/>
          </a:prstGeom>
          <a:noFill/>
        </p:spPr>
        <p:txBody>
          <a:bodyPr wrap="none" lIns="123825" rIns="0" tIns="0" bIns="0" anchor="t">
            <a:spAutoFit/>
          </a:bodyPr>
          <a:lstStyle/>
          <a:p>
            <a:pPr algn="l"/>
            <a:r>
              <a:rPr b="0" sz="1125" i="0" u="none">
                <a:solidFill>
                  <a:srgbClr val="334155"/>
                </a:solidFill>
                <a:latin typeface="Inter"/>
              </a:rPr>
              <a:t>Prevents unauthorized or non-compliant resource types.</a:t>
            </a:r>
          </a:p>
        </p:txBody>
      </p:sp>
      <p:sp>
        <p:nvSpPr>
          <p:cNvPr id="37" name="TextBox 36"/>
          <p:cNvSpPr txBox="1"/>
          <p:nvPr/>
        </p:nvSpPr>
        <p:spPr>
          <a:xfrm>
            <a:off x="809625" y="4025354"/>
            <a:ext cx="11382375" cy="180975"/>
          </a:xfrm>
          <a:prstGeom prst="rect">
            <a:avLst/>
          </a:prstGeom>
          <a:noFill/>
        </p:spPr>
        <p:txBody>
          <a:bodyPr wrap="none" lIns="123825" rIns="0" tIns="0" bIns="0" anchor="t">
            <a:spAutoFit/>
          </a:bodyPr>
          <a:lstStyle/>
          <a:p>
            <a:pPr algn="l"/>
            <a:r>
              <a:rPr b="0" sz="1125" i="0" u="none">
                <a:solidFill>
                  <a:srgbClr val="334155"/>
                </a:solidFill>
                <a:latin typeface="Inter"/>
              </a:rPr>
              <a:t>Cost threshold configured for resource group.</a:t>
            </a:r>
          </a:p>
        </p:txBody>
      </p:sp>
      <p:sp>
        <p:nvSpPr>
          <p:cNvPr id="38" name="TextBox 37"/>
          <p:cNvSpPr txBox="1"/>
          <p:nvPr/>
        </p:nvSpPr>
        <p:spPr>
          <a:xfrm>
            <a:off x="809625" y="4301579"/>
            <a:ext cx="11382375" cy="180975"/>
          </a:xfrm>
          <a:prstGeom prst="rect">
            <a:avLst/>
          </a:prstGeom>
          <a:noFill/>
        </p:spPr>
        <p:txBody>
          <a:bodyPr wrap="none" lIns="123825" rIns="0" tIns="0" bIns="0" anchor="t">
            <a:spAutoFit/>
          </a:bodyPr>
          <a:lstStyle/>
          <a:p>
            <a:pPr algn="l"/>
            <a:r>
              <a:rPr b="1" sz="1125" i="0" u="none">
                <a:solidFill>
                  <a:srgbClr val="334155"/>
                </a:solidFill>
                <a:latin typeface="Inter"/>
              </a:rPr>
              <a:t>80% Threshold:</a:t>
            </a:r>
            <a:r>
              <a:rPr b="0" sz="1125" i="0" u="none">
                <a:solidFill>
                  <a:srgbClr val="334155"/>
                </a:solidFill>
                <a:latin typeface="Inter"/>
              </a:rPr>
              <a:t> Early warning notification.</a:t>
            </a:r>
          </a:p>
        </p:txBody>
      </p:sp>
      <p:sp>
        <p:nvSpPr>
          <p:cNvPr id="39" name="TextBox 38"/>
          <p:cNvSpPr txBox="1"/>
          <p:nvPr/>
        </p:nvSpPr>
        <p:spPr>
          <a:xfrm>
            <a:off x="809625" y="4577804"/>
            <a:ext cx="11382375" cy="180975"/>
          </a:xfrm>
          <a:prstGeom prst="rect">
            <a:avLst/>
          </a:prstGeom>
          <a:noFill/>
        </p:spPr>
        <p:txBody>
          <a:bodyPr wrap="none" lIns="123825" rIns="0" tIns="0" bIns="0" anchor="t">
            <a:spAutoFit/>
          </a:bodyPr>
          <a:lstStyle/>
          <a:p>
            <a:pPr algn="l"/>
            <a:r>
              <a:rPr b="1" sz="1125" i="0" u="none">
                <a:solidFill>
                  <a:srgbClr val="334155"/>
                </a:solidFill>
                <a:latin typeface="Inter"/>
              </a:rPr>
              <a:t>100% Threshold:</a:t>
            </a:r>
            <a:r>
              <a:rPr b="0" sz="1125" i="0" u="none">
                <a:solidFill>
                  <a:srgbClr val="334155"/>
                </a:solidFill>
                <a:latin typeface="Inter"/>
              </a:rPr>
              <a:t> Critical alert notification.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2410866"/>
            <a:ext cx="5429250" cy="542925"/>
          </a:xfrm>
          <a:prstGeom prst="roundRect">
            <a:avLst>
              <a:gd name="adj" fmla="val 175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53150" y="2410866"/>
            <a:ext cx="5429250" cy="542925"/>
          </a:xfrm>
          <a:prstGeom prst="roundRect">
            <a:avLst>
              <a:gd name="adj" fmla="val 175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3068091"/>
            <a:ext cx="5429250" cy="542925"/>
          </a:xfrm>
          <a:prstGeom prst="roundRect">
            <a:avLst>
              <a:gd name="adj" fmla="val 175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53150" y="3068091"/>
            <a:ext cx="5429250" cy="542925"/>
          </a:xfrm>
          <a:prstGeom prst="roundRect">
            <a:avLst>
              <a:gd name="adj" fmla="val 175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9600" y="3725316"/>
            <a:ext cx="5429250" cy="542925"/>
          </a:xfrm>
          <a:prstGeom prst="roundRect">
            <a:avLst>
              <a:gd name="adj" fmla="val 175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53150" y="3725316"/>
            <a:ext cx="5429250" cy="542925"/>
          </a:xfrm>
          <a:prstGeom prst="roundRect">
            <a:avLst>
              <a:gd name="adj" fmla="val 175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11277600" y="538162"/>
            <a:ext cx="304800" cy="342900"/>
          </a:xfrm>
          <a:prstGeom prst="rect">
            <a:avLst/>
          </a:prstGeom>
        </p:spPr>
      </p:pic>
      <p:pic>
        <p:nvPicPr>
          <p:cNvPr id="11" name="Picture 10" descr="image.png"/>
          <p:cNvPicPr>
            <a:picLocks noChangeAspect="1"/>
          </p:cNvPicPr>
          <p:nvPr/>
        </p:nvPicPr>
        <p:blipFill>
          <a:blip r:embed="rId3"/>
          <a:stretch>
            <a:fillRect/>
          </a:stretch>
        </p:blipFill>
        <p:spPr>
          <a:xfrm>
            <a:off x="800100" y="5788521"/>
            <a:ext cx="112514" cy="123825"/>
          </a:xfrm>
          <a:prstGeom prst="rect">
            <a:avLst/>
          </a:prstGeom>
        </p:spPr>
      </p:pic>
      <p:pic>
        <p:nvPicPr>
          <p:cNvPr id="12" name="Picture 11" descr="image.png"/>
          <p:cNvPicPr>
            <a:picLocks noChangeAspect="1"/>
          </p:cNvPicPr>
          <p:nvPr/>
        </p:nvPicPr>
        <p:blipFill>
          <a:blip r:embed="rId4"/>
          <a:stretch>
            <a:fillRect/>
          </a:stretch>
        </p:blipFill>
        <p:spPr>
          <a:xfrm>
            <a:off x="752475" y="2577554"/>
            <a:ext cx="209550" cy="209550"/>
          </a:xfrm>
          <a:prstGeom prst="rect">
            <a:avLst/>
          </a:prstGeom>
        </p:spPr>
      </p:pic>
      <p:pic>
        <p:nvPicPr>
          <p:cNvPr id="13" name="Picture 12" descr="image.png"/>
          <p:cNvPicPr>
            <a:picLocks noChangeAspect="1"/>
          </p:cNvPicPr>
          <p:nvPr/>
        </p:nvPicPr>
        <p:blipFill>
          <a:blip r:embed="rId4"/>
          <a:stretch>
            <a:fillRect/>
          </a:stretch>
        </p:blipFill>
        <p:spPr>
          <a:xfrm>
            <a:off x="6296025" y="2577554"/>
            <a:ext cx="209550" cy="209550"/>
          </a:xfrm>
          <a:prstGeom prst="rect">
            <a:avLst/>
          </a:prstGeom>
        </p:spPr>
      </p:pic>
      <p:pic>
        <p:nvPicPr>
          <p:cNvPr id="14" name="Picture 13" descr="image.png"/>
          <p:cNvPicPr>
            <a:picLocks noChangeAspect="1"/>
          </p:cNvPicPr>
          <p:nvPr/>
        </p:nvPicPr>
        <p:blipFill>
          <a:blip r:embed="rId4"/>
          <a:stretch>
            <a:fillRect/>
          </a:stretch>
        </p:blipFill>
        <p:spPr>
          <a:xfrm>
            <a:off x="752475" y="3234779"/>
            <a:ext cx="209550" cy="209550"/>
          </a:xfrm>
          <a:prstGeom prst="rect">
            <a:avLst/>
          </a:prstGeom>
        </p:spPr>
      </p:pic>
      <p:pic>
        <p:nvPicPr>
          <p:cNvPr id="15" name="Picture 14" descr="image.png"/>
          <p:cNvPicPr>
            <a:picLocks noChangeAspect="1"/>
          </p:cNvPicPr>
          <p:nvPr/>
        </p:nvPicPr>
        <p:blipFill>
          <a:blip r:embed="rId4"/>
          <a:stretch>
            <a:fillRect/>
          </a:stretch>
        </p:blipFill>
        <p:spPr>
          <a:xfrm>
            <a:off x="6296025" y="3234779"/>
            <a:ext cx="209550" cy="209550"/>
          </a:xfrm>
          <a:prstGeom prst="rect">
            <a:avLst/>
          </a:prstGeom>
        </p:spPr>
      </p:pic>
      <p:pic>
        <p:nvPicPr>
          <p:cNvPr id="16" name="Picture 15" descr="image.png"/>
          <p:cNvPicPr>
            <a:picLocks noChangeAspect="1"/>
          </p:cNvPicPr>
          <p:nvPr/>
        </p:nvPicPr>
        <p:blipFill>
          <a:blip r:embed="rId4"/>
          <a:stretch>
            <a:fillRect/>
          </a:stretch>
        </p:blipFill>
        <p:spPr>
          <a:xfrm>
            <a:off x="752475" y="3892004"/>
            <a:ext cx="209550" cy="209550"/>
          </a:xfrm>
          <a:prstGeom prst="rect">
            <a:avLst/>
          </a:prstGeom>
        </p:spPr>
      </p:pic>
      <p:pic>
        <p:nvPicPr>
          <p:cNvPr id="17" name="Picture 16" descr="image.png"/>
          <p:cNvPicPr>
            <a:picLocks noChangeAspect="1"/>
          </p:cNvPicPr>
          <p:nvPr/>
        </p:nvPicPr>
        <p:blipFill>
          <a:blip r:embed="rId4"/>
          <a:stretch>
            <a:fillRect/>
          </a:stretch>
        </p:blipFill>
        <p:spPr>
          <a:xfrm>
            <a:off x="6296025" y="3892004"/>
            <a:ext cx="209550" cy="209550"/>
          </a:xfrm>
          <a:prstGeom prst="rect">
            <a:avLst/>
          </a:prstGeom>
        </p:spPr>
      </p:pic>
      <p:sp>
        <p:nvSpPr>
          <p:cNvPr id="18" name="TextBox 17"/>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19" name="TextBox 18"/>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We executed a comprehensive 7-stage validation checklist. All steps passed successfully—from account detection and group membership to resource deployment, blob access, policy compliance, and budget alert triggers.</a:t>
            </a:r>
          </a:p>
        </p:txBody>
      </p:sp>
      <p:sp>
        <p:nvSpPr>
          <p:cNvPr id="20" name="TextBox 19"/>
          <p:cNvSpPr txBox="1"/>
          <p:nvPr/>
        </p:nvSpPr>
        <p:spPr>
          <a:xfrm>
            <a:off x="609600" y="457200"/>
            <a:ext cx="5310187" cy="161925"/>
          </a:xfrm>
          <a:prstGeom prst="rect">
            <a:avLst/>
          </a:prstGeom>
          <a:noFill/>
        </p:spPr>
        <p:txBody>
          <a:bodyPr wrap="none" lIns="0" rIns="0" tIns="0" bIns="0" anchor="t">
            <a:spAutoFit/>
          </a:bodyPr>
          <a:lstStyle/>
          <a:p>
            <a:pPr algn="l"/>
            <a:r>
              <a:rPr b="1" sz="1050" i="0" u="none">
                <a:solidFill>
                  <a:srgbClr val="0078D4"/>
                </a:solidFill>
                <a:latin typeface="Inter"/>
              </a:rPr>
              <a:t>VERIFICATION</a:t>
            </a:r>
          </a:p>
        </p:txBody>
      </p:sp>
      <p:sp>
        <p:nvSpPr>
          <p:cNvPr id="21" name="TextBox 20"/>
          <p:cNvSpPr txBox="1"/>
          <p:nvPr/>
        </p:nvSpPr>
        <p:spPr>
          <a:xfrm>
            <a:off x="609600" y="619125"/>
            <a:ext cx="5575696"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Testing &amp; Validation Checklist</a:t>
            </a:r>
          </a:p>
        </p:txBody>
      </p:sp>
      <p:sp>
        <p:nvSpPr>
          <p:cNvPr id="22" name="TextBox 21"/>
          <p:cNvSpPr txBox="1"/>
          <p:nvPr/>
        </p:nvSpPr>
        <p:spPr>
          <a:xfrm>
            <a:off x="1076325" y="2515641"/>
            <a:ext cx="2964656" cy="180975"/>
          </a:xfrm>
          <a:prstGeom prst="rect">
            <a:avLst/>
          </a:prstGeom>
          <a:noFill/>
        </p:spPr>
        <p:txBody>
          <a:bodyPr wrap="none" lIns="0" rIns="0" tIns="0" bIns="0" anchor="t">
            <a:spAutoFit/>
          </a:bodyPr>
          <a:lstStyle/>
          <a:p>
            <a:pPr algn="l"/>
            <a:r>
              <a:rPr b="1" sz="1125" i="0" u="none">
                <a:solidFill>
                  <a:srgbClr val="0F172A"/>
                </a:solidFill>
                <a:latin typeface="Inter"/>
              </a:rPr>
              <a:t>TEST 1: User Account Verification</a:t>
            </a:r>
          </a:p>
        </p:txBody>
      </p:sp>
      <p:sp>
        <p:nvSpPr>
          <p:cNvPr id="23" name="TextBox 22"/>
          <p:cNvSpPr txBox="1"/>
          <p:nvPr/>
        </p:nvSpPr>
        <p:spPr>
          <a:xfrm>
            <a:off x="1076325" y="2696616"/>
            <a:ext cx="2964656" cy="152400"/>
          </a:xfrm>
          <a:prstGeom prst="rect">
            <a:avLst/>
          </a:prstGeom>
          <a:noFill/>
        </p:spPr>
        <p:txBody>
          <a:bodyPr wrap="none" lIns="0" rIns="0" tIns="0" bIns="0" anchor="t">
            <a:spAutoFit/>
          </a:bodyPr>
          <a:lstStyle/>
          <a:p>
            <a:pPr algn="l"/>
            <a:r>
              <a:rPr b="0" sz="975" i="0" u="none">
                <a:solidFill>
                  <a:srgbClr val="64748B"/>
                </a:solidFill>
                <a:latin typeface="Inter"/>
              </a:rPr>
              <a:t>Pujith Azure account verified in Entra ID.</a:t>
            </a:r>
          </a:p>
        </p:txBody>
      </p:sp>
      <p:sp>
        <p:nvSpPr>
          <p:cNvPr id="24" name="TextBox 23"/>
          <p:cNvSpPr txBox="1"/>
          <p:nvPr/>
        </p:nvSpPr>
        <p:spPr>
          <a:xfrm>
            <a:off x="6619875" y="2515641"/>
            <a:ext cx="3607593" cy="180975"/>
          </a:xfrm>
          <a:prstGeom prst="rect">
            <a:avLst/>
          </a:prstGeom>
          <a:noFill/>
        </p:spPr>
        <p:txBody>
          <a:bodyPr wrap="none" lIns="0" rIns="0" tIns="0" bIns="0" anchor="t">
            <a:spAutoFit/>
          </a:bodyPr>
          <a:lstStyle/>
          <a:p>
            <a:pPr algn="l"/>
            <a:r>
              <a:rPr b="1" sz="1125" i="0" u="none">
                <a:solidFill>
                  <a:srgbClr val="0F172A"/>
                </a:solidFill>
                <a:latin typeface="Inter"/>
              </a:rPr>
              <a:t>TEST 2: Group Membership</a:t>
            </a:r>
          </a:p>
        </p:txBody>
      </p:sp>
      <p:sp>
        <p:nvSpPr>
          <p:cNvPr id="25" name="TextBox 24"/>
          <p:cNvSpPr txBox="1"/>
          <p:nvPr/>
        </p:nvSpPr>
        <p:spPr>
          <a:xfrm>
            <a:off x="6619875" y="2696616"/>
            <a:ext cx="3607593" cy="152400"/>
          </a:xfrm>
          <a:prstGeom prst="rect">
            <a:avLst/>
          </a:prstGeom>
          <a:noFill/>
        </p:spPr>
        <p:txBody>
          <a:bodyPr wrap="none" lIns="0" rIns="0" tIns="0" bIns="0" anchor="t">
            <a:spAutoFit/>
          </a:bodyPr>
          <a:lstStyle/>
          <a:p>
            <a:pPr algn="l"/>
            <a:r>
              <a:rPr b="0" sz="975" i="0" u="none">
                <a:solidFill>
                  <a:srgbClr val="64748B"/>
                </a:solidFill>
                <a:latin typeface="Inter"/>
              </a:rPr>
              <a:t>User successfully mapped to Azure-Developers.</a:t>
            </a:r>
          </a:p>
        </p:txBody>
      </p:sp>
      <p:sp>
        <p:nvSpPr>
          <p:cNvPr id="26" name="TextBox 25"/>
          <p:cNvSpPr txBox="1"/>
          <p:nvPr/>
        </p:nvSpPr>
        <p:spPr>
          <a:xfrm>
            <a:off x="1076325" y="3172866"/>
            <a:ext cx="3774281" cy="180975"/>
          </a:xfrm>
          <a:prstGeom prst="rect">
            <a:avLst/>
          </a:prstGeom>
          <a:noFill/>
        </p:spPr>
        <p:txBody>
          <a:bodyPr wrap="none" lIns="0" rIns="0" tIns="0" bIns="0" anchor="t">
            <a:spAutoFit/>
          </a:bodyPr>
          <a:lstStyle/>
          <a:p>
            <a:pPr algn="l"/>
            <a:r>
              <a:rPr b="1" sz="1125" i="0" u="none">
                <a:solidFill>
                  <a:srgbClr val="0F172A"/>
                </a:solidFill>
                <a:latin typeface="Inter"/>
              </a:rPr>
              <a:t>TEST 3: RBAC Assignment</a:t>
            </a:r>
          </a:p>
        </p:txBody>
      </p:sp>
      <p:sp>
        <p:nvSpPr>
          <p:cNvPr id="27" name="TextBox 26"/>
          <p:cNvSpPr txBox="1"/>
          <p:nvPr/>
        </p:nvSpPr>
        <p:spPr>
          <a:xfrm>
            <a:off x="1076325" y="3353841"/>
            <a:ext cx="3774281" cy="152400"/>
          </a:xfrm>
          <a:prstGeom prst="rect">
            <a:avLst/>
          </a:prstGeom>
          <a:noFill/>
        </p:spPr>
        <p:txBody>
          <a:bodyPr wrap="none" lIns="0" rIns="0" tIns="0" bIns="0" anchor="t">
            <a:spAutoFit/>
          </a:bodyPr>
          <a:lstStyle/>
          <a:p>
            <a:pPr algn="l"/>
            <a:r>
              <a:rPr b="0" sz="975" i="0" u="none">
                <a:solidFill>
                  <a:srgbClr val="64748B"/>
                </a:solidFill>
                <a:latin typeface="Inter"/>
              </a:rPr>
              <a:t>Contributor role verified at Resource Group scope.</a:t>
            </a:r>
          </a:p>
        </p:txBody>
      </p:sp>
      <p:sp>
        <p:nvSpPr>
          <p:cNvPr id="28" name="TextBox 27"/>
          <p:cNvSpPr txBox="1"/>
          <p:nvPr/>
        </p:nvSpPr>
        <p:spPr>
          <a:xfrm>
            <a:off x="6619875" y="3172866"/>
            <a:ext cx="3486484" cy="180975"/>
          </a:xfrm>
          <a:prstGeom prst="rect">
            <a:avLst/>
          </a:prstGeom>
          <a:noFill/>
        </p:spPr>
        <p:txBody>
          <a:bodyPr wrap="none" lIns="0" rIns="0" tIns="0" bIns="0" anchor="t">
            <a:spAutoFit/>
          </a:bodyPr>
          <a:lstStyle/>
          <a:p>
            <a:pPr algn="l"/>
            <a:r>
              <a:rPr b="1" sz="1125" i="0" u="none">
                <a:solidFill>
                  <a:srgbClr val="0F172A"/>
                </a:solidFill>
                <a:latin typeface="Inter"/>
              </a:rPr>
              <a:t>TEST 4: Resource Provisioning</a:t>
            </a:r>
          </a:p>
        </p:txBody>
      </p:sp>
      <p:sp>
        <p:nvSpPr>
          <p:cNvPr id="29" name="TextBox 28"/>
          <p:cNvSpPr txBox="1"/>
          <p:nvPr/>
        </p:nvSpPr>
        <p:spPr>
          <a:xfrm>
            <a:off x="6619875" y="3353841"/>
            <a:ext cx="3486484" cy="152400"/>
          </a:xfrm>
          <a:prstGeom prst="rect">
            <a:avLst/>
          </a:prstGeom>
          <a:noFill/>
        </p:spPr>
        <p:txBody>
          <a:bodyPr wrap="none" lIns="0" rIns="0" tIns="0" bIns="0" anchor="t">
            <a:spAutoFit/>
          </a:bodyPr>
          <a:lstStyle/>
          <a:p>
            <a:pPr algn="l"/>
            <a:r>
              <a:rPr b="0" sz="975" i="0" u="none">
                <a:solidFill>
                  <a:srgbClr val="64748B"/>
                </a:solidFill>
                <a:latin typeface="Inter"/>
              </a:rPr>
              <a:t>azurevendingmounika01</a:t>
            </a:r>
            <a:r>
              <a:rPr b="0" sz="975" i="0" u="none">
                <a:solidFill>
                  <a:srgbClr val="64748B"/>
                </a:solidFill>
                <a:latin typeface="Inter"/>
              </a:rPr>
              <a:t> deployed inside RG.</a:t>
            </a:r>
          </a:p>
        </p:txBody>
      </p:sp>
      <p:sp>
        <p:nvSpPr>
          <p:cNvPr id="30" name="TextBox 29"/>
          <p:cNvSpPr txBox="1"/>
          <p:nvPr/>
        </p:nvSpPr>
        <p:spPr>
          <a:xfrm>
            <a:off x="1076325" y="3830091"/>
            <a:ext cx="3607593" cy="180975"/>
          </a:xfrm>
          <a:prstGeom prst="rect">
            <a:avLst/>
          </a:prstGeom>
          <a:noFill/>
        </p:spPr>
        <p:txBody>
          <a:bodyPr wrap="none" lIns="0" rIns="0" tIns="0" bIns="0" anchor="t">
            <a:spAutoFit/>
          </a:bodyPr>
          <a:lstStyle/>
          <a:p>
            <a:pPr algn="l"/>
            <a:r>
              <a:rPr b="1" sz="1125" i="0" u="none">
                <a:solidFill>
                  <a:srgbClr val="0F172A"/>
                </a:solidFill>
                <a:latin typeface="Inter"/>
              </a:rPr>
              <a:t>TEST 5: Data Access Test</a:t>
            </a:r>
          </a:p>
        </p:txBody>
      </p:sp>
      <p:sp>
        <p:nvSpPr>
          <p:cNvPr id="31" name="TextBox 30"/>
          <p:cNvSpPr txBox="1"/>
          <p:nvPr/>
        </p:nvSpPr>
        <p:spPr>
          <a:xfrm>
            <a:off x="1076325" y="4011066"/>
            <a:ext cx="3607593" cy="152400"/>
          </a:xfrm>
          <a:prstGeom prst="rect">
            <a:avLst/>
          </a:prstGeom>
          <a:noFill/>
        </p:spPr>
        <p:txBody>
          <a:bodyPr wrap="none" lIns="0" rIns="0" tIns="0" bIns="0" anchor="t">
            <a:spAutoFit/>
          </a:bodyPr>
          <a:lstStyle/>
          <a:p>
            <a:pPr algn="l"/>
            <a:r>
              <a:rPr b="0" sz="975" i="0" u="none">
                <a:solidFill>
                  <a:srgbClr val="64748B"/>
                </a:solidFill>
                <a:latin typeface="Inter"/>
              </a:rPr>
              <a:t>Authorized file upload to Blob Container passed.</a:t>
            </a:r>
          </a:p>
        </p:txBody>
      </p:sp>
      <p:sp>
        <p:nvSpPr>
          <p:cNvPr id="32" name="TextBox 31"/>
          <p:cNvSpPr txBox="1"/>
          <p:nvPr/>
        </p:nvSpPr>
        <p:spPr>
          <a:xfrm>
            <a:off x="6619875" y="3830091"/>
            <a:ext cx="3429000" cy="180975"/>
          </a:xfrm>
          <a:prstGeom prst="rect">
            <a:avLst/>
          </a:prstGeom>
          <a:noFill/>
        </p:spPr>
        <p:txBody>
          <a:bodyPr wrap="none" lIns="0" rIns="0" tIns="0" bIns="0" anchor="t">
            <a:spAutoFit/>
          </a:bodyPr>
          <a:lstStyle/>
          <a:p>
            <a:pPr algn="l"/>
            <a:r>
              <a:rPr b="1" sz="1125" i="0" u="none">
                <a:solidFill>
                  <a:srgbClr val="0F172A"/>
                </a:solidFill>
                <a:latin typeface="Inter"/>
              </a:rPr>
              <a:t>TEST 6 &amp; 7: Policy &amp; Budget</a:t>
            </a:r>
          </a:p>
        </p:txBody>
      </p:sp>
      <p:sp>
        <p:nvSpPr>
          <p:cNvPr id="33" name="TextBox 32"/>
          <p:cNvSpPr txBox="1"/>
          <p:nvPr/>
        </p:nvSpPr>
        <p:spPr>
          <a:xfrm>
            <a:off x="6619875" y="4011066"/>
            <a:ext cx="3429000" cy="152400"/>
          </a:xfrm>
          <a:prstGeom prst="rect">
            <a:avLst/>
          </a:prstGeom>
          <a:noFill/>
        </p:spPr>
        <p:txBody>
          <a:bodyPr wrap="none" lIns="0" rIns="0" tIns="0" bIns="0" anchor="t">
            <a:spAutoFit/>
          </a:bodyPr>
          <a:lstStyle/>
          <a:p>
            <a:pPr algn="l"/>
            <a:r>
              <a:rPr b="0" sz="975" i="0" u="none">
                <a:solidFill>
                  <a:srgbClr val="64748B"/>
                </a:solidFill>
                <a:latin typeface="Inter"/>
              </a:rPr>
              <a:t>Compliance passed &amp; 80%/100% alerts active.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152525"/>
            <a:ext cx="10972800" cy="2072729"/>
          </a:xfrm>
          <a:prstGeom prst="roundRect">
            <a:avLst>
              <a:gd name="adj" fmla="val 459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453854"/>
            <a:ext cx="10972800" cy="2072729"/>
          </a:xfrm>
          <a:prstGeom prst="roundRect">
            <a:avLst>
              <a:gd name="adj" fmla="val 459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5678983"/>
            <a:ext cx="38100" cy="7218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3215729"/>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152525"/>
            <a:ext cx="10972800" cy="381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1152525"/>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72875" y="1152525"/>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5517058"/>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3453854"/>
            <a:ext cx="109728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600" y="3453854"/>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72875" y="3453854"/>
            <a:ext cx="9525" cy="20727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11191875" y="538162"/>
            <a:ext cx="390525" cy="342900"/>
          </a:xfrm>
          <a:prstGeom prst="rect">
            <a:avLst/>
          </a:prstGeom>
        </p:spPr>
      </p:pic>
      <p:pic>
        <p:nvPicPr>
          <p:cNvPr id="15" name="Picture 14" descr="image.png"/>
          <p:cNvPicPr>
            <a:picLocks noChangeAspect="1"/>
          </p:cNvPicPr>
          <p:nvPr/>
        </p:nvPicPr>
        <p:blipFill>
          <a:blip r:embed="rId3"/>
          <a:stretch>
            <a:fillRect/>
          </a:stretch>
        </p:blipFill>
        <p:spPr>
          <a:xfrm>
            <a:off x="800100" y="5788521"/>
            <a:ext cx="112514" cy="123825"/>
          </a:xfrm>
          <a:prstGeom prst="rect">
            <a:avLst/>
          </a:prstGeom>
        </p:spPr>
      </p:pic>
      <p:pic>
        <p:nvPicPr>
          <p:cNvPr id="16" name="Picture 15" descr="image.png"/>
          <p:cNvPicPr>
            <a:picLocks noChangeAspect="1"/>
          </p:cNvPicPr>
          <p:nvPr/>
        </p:nvPicPr>
        <p:blipFill>
          <a:blip r:embed="rId4"/>
          <a:stretch>
            <a:fillRect/>
          </a:stretch>
        </p:blipFill>
        <p:spPr>
          <a:xfrm>
            <a:off x="809625" y="1400175"/>
            <a:ext cx="152400" cy="171450"/>
          </a:xfrm>
          <a:prstGeom prst="rect">
            <a:avLst/>
          </a:prstGeom>
        </p:spPr>
      </p:pic>
      <p:pic>
        <p:nvPicPr>
          <p:cNvPr id="17" name="Picture 16" descr="image.png"/>
          <p:cNvPicPr>
            <a:picLocks noChangeAspect="1"/>
          </p:cNvPicPr>
          <p:nvPr/>
        </p:nvPicPr>
        <p:blipFill>
          <a:blip r:embed="rId5"/>
          <a:stretch>
            <a:fillRect/>
          </a:stretch>
        </p:blipFill>
        <p:spPr>
          <a:xfrm>
            <a:off x="809625" y="3701504"/>
            <a:ext cx="171450" cy="171450"/>
          </a:xfrm>
          <a:prstGeom prst="rect">
            <a:avLst/>
          </a:prstGeom>
        </p:spPr>
      </p:pic>
      <p:pic>
        <p:nvPicPr>
          <p:cNvPr id="18" name="Picture 17" descr="image.png"/>
          <p:cNvPicPr>
            <a:picLocks noChangeAspect="1"/>
          </p:cNvPicPr>
          <p:nvPr/>
        </p:nvPicPr>
        <p:blipFill>
          <a:blip r:embed="rId6"/>
          <a:stretch>
            <a:fillRect/>
          </a:stretch>
        </p:blipFill>
        <p:spPr>
          <a:xfrm>
            <a:off x="809625" y="1690687"/>
            <a:ext cx="114300" cy="142875"/>
          </a:xfrm>
          <a:prstGeom prst="rect">
            <a:avLst/>
          </a:prstGeom>
        </p:spPr>
      </p:pic>
      <p:pic>
        <p:nvPicPr>
          <p:cNvPr id="19" name="Picture 18" descr="image.png"/>
          <p:cNvPicPr>
            <a:picLocks noChangeAspect="1"/>
          </p:cNvPicPr>
          <p:nvPr/>
        </p:nvPicPr>
        <p:blipFill>
          <a:blip r:embed="rId6"/>
          <a:stretch>
            <a:fillRect/>
          </a:stretch>
        </p:blipFill>
        <p:spPr>
          <a:xfrm>
            <a:off x="809625" y="1928812"/>
            <a:ext cx="114300" cy="142875"/>
          </a:xfrm>
          <a:prstGeom prst="rect">
            <a:avLst/>
          </a:prstGeom>
        </p:spPr>
      </p:pic>
      <p:pic>
        <p:nvPicPr>
          <p:cNvPr id="20" name="Picture 19" descr="image.png"/>
          <p:cNvPicPr>
            <a:picLocks noChangeAspect="1"/>
          </p:cNvPicPr>
          <p:nvPr/>
        </p:nvPicPr>
        <p:blipFill>
          <a:blip r:embed="rId6"/>
          <a:stretch>
            <a:fillRect/>
          </a:stretch>
        </p:blipFill>
        <p:spPr>
          <a:xfrm>
            <a:off x="809625" y="2166937"/>
            <a:ext cx="114300" cy="142875"/>
          </a:xfrm>
          <a:prstGeom prst="rect">
            <a:avLst/>
          </a:prstGeom>
        </p:spPr>
      </p:pic>
      <p:pic>
        <p:nvPicPr>
          <p:cNvPr id="21" name="Picture 20" descr="image.png"/>
          <p:cNvPicPr>
            <a:picLocks noChangeAspect="1"/>
          </p:cNvPicPr>
          <p:nvPr/>
        </p:nvPicPr>
        <p:blipFill>
          <a:blip r:embed="rId6"/>
          <a:stretch>
            <a:fillRect/>
          </a:stretch>
        </p:blipFill>
        <p:spPr>
          <a:xfrm>
            <a:off x="809625" y="2405062"/>
            <a:ext cx="114300" cy="142875"/>
          </a:xfrm>
          <a:prstGeom prst="rect">
            <a:avLst/>
          </a:prstGeom>
        </p:spPr>
      </p:pic>
      <p:pic>
        <p:nvPicPr>
          <p:cNvPr id="22" name="Picture 21" descr="image.png"/>
          <p:cNvPicPr>
            <a:picLocks noChangeAspect="1"/>
          </p:cNvPicPr>
          <p:nvPr/>
        </p:nvPicPr>
        <p:blipFill>
          <a:blip r:embed="rId7"/>
          <a:stretch>
            <a:fillRect/>
          </a:stretch>
        </p:blipFill>
        <p:spPr>
          <a:xfrm>
            <a:off x="809625" y="3992016"/>
            <a:ext cx="133350" cy="142875"/>
          </a:xfrm>
          <a:prstGeom prst="rect">
            <a:avLst/>
          </a:prstGeom>
        </p:spPr>
      </p:pic>
      <p:pic>
        <p:nvPicPr>
          <p:cNvPr id="23" name="Picture 22" descr="image.png"/>
          <p:cNvPicPr>
            <a:picLocks noChangeAspect="1"/>
          </p:cNvPicPr>
          <p:nvPr/>
        </p:nvPicPr>
        <p:blipFill>
          <a:blip r:embed="rId7"/>
          <a:stretch>
            <a:fillRect/>
          </a:stretch>
        </p:blipFill>
        <p:spPr>
          <a:xfrm>
            <a:off x="809625" y="4230141"/>
            <a:ext cx="133350" cy="142875"/>
          </a:xfrm>
          <a:prstGeom prst="rect">
            <a:avLst/>
          </a:prstGeom>
        </p:spPr>
      </p:pic>
      <p:pic>
        <p:nvPicPr>
          <p:cNvPr id="24" name="Picture 23" descr="image.png"/>
          <p:cNvPicPr>
            <a:picLocks noChangeAspect="1"/>
          </p:cNvPicPr>
          <p:nvPr/>
        </p:nvPicPr>
        <p:blipFill>
          <a:blip r:embed="rId7"/>
          <a:stretch>
            <a:fillRect/>
          </a:stretch>
        </p:blipFill>
        <p:spPr>
          <a:xfrm>
            <a:off x="809625" y="4468266"/>
            <a:ext cx="133350" cy="142875"/>
          </a:xfrm>
          <a:prstGeom prst="rect">
            <a:avLst/>
          </a:prstGeom>
        </p:spPr>
      </p:pic>
      <p:pic>
        <p:nvPicPr>
          <p:cNvPr id="25" name="Picture 24" descr="image.png"/>
          <p:cNvPicPr>
            <a:picLocks noChangeAspect="1"/>
          </p:cNvPicPr>
          <p:nvPr/>
        </p:nvPicPr>
        <p:blipFill>
          <a:blip r:embed="rId7"/>
          <a:stretch>
            <a:fillRect/>
          </a:stretch>
        </p:blipFill>
        <p:spPr>
          <a:xfrm>
            <a:off x="809625" y="4706391"/>
            <a:ext cx="133350" cy="142875"/>
          </a:xfrm>
          <a:prstGeom prst="rect">
            <a:avLst/>
          </a:prstGeom>
        </p:spPr>
      </p:pic>
      <p:sp>
        <p:nvSpPr>
          <p:cNvPr id="26" name="TextBox 25"/>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0078D4"/>
                </a:solidFill>
                <a:latin typeface="Inter"/>
              </a:rPr>
              <a:t>SPEAKER NOTES</a:t>
            </a:r>
          </a:p>
        </p:txBody>
      </p:sp>
      <p:sp>
        <p:nvSpPr>
          <p:cNvPr id="27" name="TextBox 26"/>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334155"/>
                </a:solidFill>
                <a:latin typeface="Inter"/>
              </a:rPr>
              <a:t>In summary, our prototype successfully demonstrates a working end-to-end flow. The business benefits include significant reduction in repetitive cloud admin work, centralized governance, and predictable expenditure.</a:t>
            </a:r>
          </a:p>
        </p:txBody>
      </p:sp>
      <p:sp>
        <p:nvSpPr>
          <p:cNvPr id="28" name="TextBox 27"/>
          <p:cNvSpPr txBox="1"/>
          <p:nvPr/>
        </p:nvSpPr>
        <p:spPr>
          <a:xfrm>
            <a:off x="609600" y="457200"/>
            <a:ext cx="4917281" cy="161925"/>
          </a:xfrm>
          <a:prstGeom prst="rect">
            <a:avLst/>
          </a:prstGeom>
          <a:noFill/>
        </p:spPr>
        <p:txBody>
          <a:bodyPr wrap="none" lIns="0" rIns="0" tIns="0" bIns="0" anchor="t">
            <a:spAutoFit/>
          </a:bodyPr>
          <a:lstStyle/>
          <a:p>
            <a:pPr algn="l"/>
            <a:r>
              <a:rPr b="1" sz="1050" i="0" u="none">
                <a:solidFill>
                  <a:srgbClr val="0078D4"/>
                </a:solidFill>
                <a:latin typeface="Inter"/>
              </a:rPr>
              <a:t>IMPACT</a:t>
            </a:r>
          </a:p>
        </p:txBody>
      </p:sp>
      <p:sp>
        <p:nvSpPr>
          <p:cNvPr id="29" name="TextBox 28"/>
          <p:cNvSpPr txBox="1"/>
          <p:nvPr/>
        </p:nvSpPr>
        <p:spPr>
          <a:xfrm>
            <a:off x="609600" y="619125"/>
            <a:ext cx="5163145"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Inter"/>
              </a:rPr>
              <a:t>Results &amp; Business Benefits</a:t>
            </a:r>
          </a:p>
        </p:txBody>
      </p:sp>
      <p:sp>
        <p:nvSpPr>
          <p:cNvPr id="30" name="TextBox 29"/>
          <p:cNvSpPr txBox="1"/>
          <p:nvPr/>
        </p:nvSpPr>
        <p:spPr>
          <a:xfrm>
            <a:off x="809625" y="1381125"/>
            <a:ext cx="11382375" cy="200025"/>
          </a:xfrm>
          <a:prstGeom prst="rect">
            <a:avLst/>
          </a:prstGeom>
          <a:noFill/>
        </p:spPr>
        <p:txBody>
          <a:bodyPr wrap="none" lIns="152400" rIns="0" tIns="0" bIns="0" anchor="t">
            <a:spAutoFit/>
          </a:bodyPr>
          <a:lstStyle/>
          <a:p>
            <a:pPr algn="l"/>
            <a:r>
              <a:rPr b="1" sz="1350" i="0" u="none">
                <a:solidFill>
                  <a:srgbClr val="0078D4"/>
                </a:solidFill>
                <a:latin typeface="Inter"/>
              </a:rPr>
              <a:t>Key Prototype Results</a:t>
            </a:r>
          </a:p>
        </p:txBody>
      </p:sp>
      <p:sp>
        <p:nvSpPr>
          <p:cNvPr id="31" name="TextBox 30"/>
          <p:cNvSpPr txBox="1"/>
          <p:nvPr/>
        </p:nvSpPr>
        <p:spPr>
          <a:xfrm>
            <a:off x="809625" y="3682454"/>
            <a:ext cx="11382375" cy="200025"/>
          </a:xfrm>
          <a:prstGeom prst="rect">
            <a:avLst/>
          </a:prstGeom>
          <a:noFill/>
        </p:spPr>
        <p:txBody>
          <a:bodyPr wrap="none" lIns="171450" rIns="0" tIns="0" bIns="0" anchor="t">
            <a:spAutoFit/>
          </a:bodyPr>
          <a:lstStyle/>
          <a:p>
            <a:pPr algn="l"/>
            <a:r>
              <a:rPr b="1" sz="1350" i="0" u="none">
                <a:solidFill>
                  <a:srgbClr val="16A34A"/>
                </a:solidFill>
                <a:latin typeface="Inter"/>
              </a:rPr>
              <a:t>Core Benefits</a:t>
            </a:r>
          </a:p>
        </p:txBody>
      </p:sp>
      <p:sp>
        <p:nvSpPr>
          <p:cNvPr id="32" name="TextBox 31"/>
          <p:cNvSpPr txBox="1"/>
          <p:nvPr/>
        </p:nvSpPr>
        <p:spPr>
          <a:xfrm>
            <a:off x="809625" y="1676400"/>
            <a:ext cx="11382375" cy="161925"/>
          </a:xfrm>
          <a:prstGeom prst="rect">
            <a:avLst/>
          </a:prstGeom>
          <a:noFill/>
        </p:spPr>
        <p:txBody>
          <a:bodyPr wrap="none" lIns="114300" rIns="0" tIns="0" bIns="0" anchor="t">
            <a:spAutoFit/>
          </a:bodyPr>
          <a:lstStyle/>
          <a:p>
            <a:pPr algn="l"/>
            <a:r>
              <a:rPr b="0" sz="1050" i="0" u="none">
                <a:solidFill>
                  <a:srgbClr val="334155"/>
                </a:solidFill>
                <a:latin typeface="Inter"/>
              </a:rPr>
              <a:t>Azure-Developers</a:t>
            </a:r>
            <a:r>
              <a:rPr b="0" sz="1050" i="0" u="none">
                <a:solidFill>
                  <a:srgbClr val="334155"/>
                </a:solidFill>
                <a:latin typeface="Inter"/>
              </a:rPr>
              <a:t> group created &amp; populated.</a:t>
            </a:r>
          </a:p>
        </p:txBody>
      </p:sp>
      <p:sp>
        <p:nvSpPr>
          <p:cNvPr id="33" name="TextBox 32"/>
          <p:cNvSpPr txBox="1"/>
          <p:nvPr/>
        </p:nvSpPr>
        <p:spPr>
          <a:xfrm>
            <a:off x="809625" y="1914525"/>
            <a:ext cx="11382375" cy="161925"/>
          </a:xfrm>
          <a:prstGeom prst="rect">
            <a:avLst/>
          </a:prstGeom>
          <a:noFill/>
        </p:spPr>
        <p:txBody>
          <a:bodyPr wrap="none" lIns="114300" rIns="0" tIns="0" bIns="0" anchor="t">
            <a:spAutoFit/>
          </a:bodyPr>
          <a:lstStyle/>
          <a:p>
            <a:pPr algn="l"/>
            <a:r>
              <a:rPr b="0" sz="1050" i="0" u="none">
                <a:solidFill>
                  <a:srgbClr val="334155"/>
                </a:solidFill>
                <a:latin typeface="Inter"/>
              </a:rPr>
              <a:t>Contributor RBAC successfully mapped at RG level.</a:t>
            </a:r>
          </a:p>
        </p:txBody>
      </p:sp>
      <p:sp>
        <p:nvSpPr>
          <p:cNvPr id="34" name="TextBox 33"/>
          <p:cNvSpPr txBox="1"/>
          <p:nvPr/>
        </p:nvSpPr>
        <p:spPr>
          <a:xfrm>
            <a:off x="809625" y="2152650"/>
            <a:ext cx="11382375" cy="161925"/>
          </a:xfrm>
          <a:prstGeom prst="rect">
            <a:avLst/>
          </a:prstGeom>
          <a:noFill/>
        </p:spPr>
        <p:txBody>
          <a:bodyPr wrap="none" lIns="114300" rIns="0" tIns="0" bIns="0" anchor="t">
            <a:spAutoFit/>
          </a:bodyPr>
          <a:lstStyle/>
          <a:p>
            <a:pPr algn="l"/>
            <a:r>
              <a:rPr b="0" sz="1050" i="0" u="none">
                <a:solidFill>
                  <a:srgbClr val="334155"/>
                </a:solidFill>
                <a:latin typeface="Inter"/>
              </a:rPr>
              <a:t>Storage account provisioned with active blob container.</a:t>
            </a:r>
          </a:p>
        </p:txBody>
      </p:sp>
      <p:sp>
        <p:nvSpPr>
          <p:cNvPr id="35" name="TextBox 34"/>
          <p:cNvSpPr txBox="1"/>
          <p:nvPr/>
        </p:nvSpPr>
        <p:spPr>
          <a:xfrm>
            <a:off x="809625" y="2390775"/>
            <a:ext cx="11382375" cy="161925"/>
          </a:xfrm>
          <a:prstGeom prst="rect">
            <a:avLst/>
          </a:prstGeom>
          <a:noFill/>
        </p:spPr>
        <p:txBody>
          <a:bodyPr wrap="none" lIns="114300" rIns="0" tIns="0" bIns="0" anchor="t">
            <a:spAutoFit/>
          </a:bodyPr>
          <a:lstStyle/>
          <a:p>
            <a:pPr algn="l"/>
            <a:r>
              <a:rPr b="0" sz="1050" i="0" u="none">
                <a:solidFill>
                  <a:srgbClr val="334155"/>
                </a:solidFill>
                <a:latin typeface="Inter"/>
              </a:rPr>
              <a:t>End-to-end cloud access flow fully demonstrated.</a:t>
            </a:r>
          </a:p>
        </p:txBody>
      </p:sp>
      <p:sp>
        <p:nvSpPr>
          <p:cNvPr id="36" name="TextBox 35"/>
          <p:cNvSpPr txBox="1"/>
          <p:nvPr/>
        </p:nvSpPr>
        <p:spPr>
          <a:xfrm>
            <a:off x="809625" y="3977729"/>
            <a:ext cx="11382375" cy="161925"/>
          </a:xfrm>
          <a:prstGeom prst="rect">
            <a:avLst/>
          </a:prstGeom>
          <a:noFill/>
        </p:spPr>
        <p:txBody>
          <a:bodyPr wrap="none" lIns="133350" rIns="0" tIns="0" bIns="0" anchor="t">
            <a:spAutoFit/>
          </a:bodyPr>
          <a:lstStyle/>
          <a:p>
            <a:pPr algn="l"/>
            <a:r>
              <a:rPr b="0" sz="1050" i="0" u="none">
                <a:solidFill>
                  <a:srgbClr val="334155"/>
                </a:solidFill>
                <a:latin typeface="Inter"/>
              </a:rPr>
              <a:t>Eliminates repetitive per-user administrative configuration.</a:t>
            </a:r>
          </a:p>
        </p:txBody>
      </p:sp>
      <p:sp>
        <p:nvSpPr>
          <p:cNvPr id="37" name="TextBox 36"/>
          <p:cNvSpPr txBox="1"/>
          <p:nvPr/>
        </p:nvSpPr>
        <p:spPr>
          <a:xfrm>
            <a:off x="809625" y="4215854"/>
            <a:ext cx="11382375" cy="161925"/>
          </a:xfrm>
          <a:prstGeom prst="rect">
            <a:avLst/>
          </a:prstGeom>
          <a:noFill/>
        </p:spPr>
        <p:txBody>
          <a:bodyPr wrap="none" lIns="133350" rIns="0" tIns="0" bIns="0" anchor="t">
            <a:spAutoFit/>
          </a:bodyPr>
          <a:lstStyle/>
          <a:p>
            <a:pPr algn="l"/>
            <a:r>
              <a:rPr b="0" sz="1050" i="0" u="none">
                <a:solidFill>
                  <a:srgbClr val="334155"/>
                </a:solidFill>
                <a:latin typeface="Inter"/>
              </a:rPr>
              <a:t>Ensures consistent, error-free permission enforcement.</a:t>
            </a:r>
          </a:p>
        </p:txBody>
      </p:sp>
      <p:sp>
        <p:nvSpPr>
          <p:cNvPr id="38" name="TextBox 37"/>
          <p:cNvSpPr txBox="1"/>
          <p:nvPr/>
        </p:nvSpPr>
        <p:spPr>
          <a:xfrm>
            <a:off x="809625" y="4453979"/>
            <a:ext cx="11382375" cy="161925"/>
          </a:xfrm>
          <a:prstGeom prst="rect">
            <a:avLst/>
          </a:prstGeom>
          <a:noFill/>
        </p:spPr>
        <p:txBody>
          <a:bodyPr wrap="none" lIns="133350" rIns="0" tIns="0" bIns="0" anchor="t">
            <a:spAutoFit/>
          </a:bodyPr>
          <a:lstStyle/>
          <a:p>
            <a:pPr algn="l"/>
            <a:r>
              <a:rPr b="0" sz="1050" i="0" u="none">
                <a:solidFill>
                  <a:srgbClr val="334155"/>
                </a:solidFill>
                <a:latin typeface="Inter"/>
              </a:rPr>
              <a:t>Provides proactive cost control via budget thresholds.</a:t>
            </a:r>
          </a:p>
        </p:txBody>
      </p:sp>
      <p:sp>
        <p:nvSpPr>
          <p:cNvPr id="39" name="TextBox 38"/>
          <p:cNvSpPr txBox="1"/>
          <p:nvPr/>
        </p:nvSpPr>
        <p:spPr>
          <a:xfrm>
            <a:off x="809625" y="4692104"/>
            <a:ext cx="11382375" cy="161925"/>
          </a:xfrm>
          <a:prstGeom prst="rect">
            <a:avLst/>
          </a:prstGeom>
          <a:noFill/>
        </p:spPr>
        <p:txBody>
          <a:bodyPr wrap="none" lIns="133350" rIns="0" tIns="0" bIns="0" anchor="t">
            <a:spAutoFit/>
          </a:bodyPr>
          <a:lstStyle/>
          <a:p>
            <a:pPr algn="l"/>
            <a:r>
              <a:rPr b="0" sz="1050" i="0" u="none">
                <a:solidFill>
                  <a:srgbClr val="334155"/>
                </a:solidFill>
                <a:latin typeface="Inter"/>
              </a:rPr>
              <a:t>Highly scalable model for growing enterprise teams.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09600" y="5678983"/>
            <a:ext cx="10972800" cy="721816"/>
          </a:xfrm>
          <a:prstGeom prst="rect">
            <a:avLst/>
          </a:prstGeom>
          <a:solidFill>
            <a:srgbClr val="22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253704"/>
            <a:ext cx="10972800" cy="742950"/>
          </a:xfrm>
          <a:prstGeom prst="roundRect">
            <a:avLst>
              <a:gd name="adj" fmla="val 1282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149054"/>
            <a:ext cx="10972800" cy="704850"/>
          </a:xfrm>
          <a:prstGeom prst="roundRect">
            <a:avLst>
              <a:gd name="adj" fmla="val 13513"/>
            </a:avLst>
          </a:prstGeom>
          <a:solidFill>
            <a:srgbClr val="004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5678983"/>
            <a:ext cx="38100" cy="72181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1239500" y="538162"/>
            <a:ext cx="342900" cy="342900"/>
          </a:xfrm>
          <a:prstGeom prst="rect">
            <a:avLst/>
          </a:prstGeom>
        </p:spPr>
      </p:pic>
      <p:pic>
        <p:nvPicPr>
          <p:cNvPr id="7" name="Picture 6" descr="image.png"/>
          <p:cNvPicPr>
            <a:picLocks noChangeAspect="1"/>
          </p:cNvPicPr>
          <p:nvPr/>
        </p:nvPicPr>
        <p:blipFill>
          <a:blip r:embed="rId3"/>
          <a:stretch>
            <a:fillRect/>
          </a:stretch>
        </p:blipFill>
        <p:spPr>
          <a:xfrm>
            <a:off x="800100" y="5788521"/>
            <a:ext cx="112514" cy="123825"/>
          </a:xfrm>
          <a:prstGeom prst="rect">
            <a:avLst/>
          </a:prstGeom>
        </p:spPr>
      </p:pic>
      <p:pic>
        <p:nvPicPr>
          <p:cNvPr id="8" name="Picture 7" descr="image.png"/>
          <p:cNvPicPr>
            <a:picLocks noChangeAspect="1"/>
          </p:cNvPicPr>
          <p:nvPr/>
        </p:nvPicPr>
        <p:blipFill>
          <a:blip r:embed="rId4"/>
          <a:stretch>
            <a:fillRect/>
          </a:stretch>
        </p:blipFill>
        <p:spPr>
          <a:xfrm>
            <a:off x="771525" y="2434679"/>
            <a:ext cx="152400" cy="152400"/>
          </a:xfrm>
          <a:prstGeom prst="rect">
            <a:avLst/>
          </a:prstGeom>
        </p:spPr>
      </p:pic>
      <p:pic>
        <p:nvPicPr>
          <p:cNvPr id="9" name="Picture 8" descr="image.png"/>
          <p:cNvPicPr>
            <a:picLocks noChangeAspect="1"/>
          </p:cNvPicPr>
          <p:nvPr/>
        </p:nvPicPr>
        <p:blipFill>
          <a:blip r:embed="rId5"/>
          <a:stretch>
            <a:fillRect/>
          </a:stretch>
        </p:blipFill>
        <p:spPr>
          <a:xfrm>
            <a:off x="771525" y="2701379"/>
            <a:ext cx="76200" cy="123825"/>
          </a:xfrm>
          <a:prstGeom prst="rect">
            <a:avLst/>
          </a:prstGeom>
        </p:spPr>
      </p:pic>
      <p:pic>
        <p:nvPicPr>
          <p:cNvPr id="10" name="Picture 9" descr="image.png"/>
          <p:cNvPicPr>
            <a:picLocks noChangeAspect="1"/>
          </p:cNvPicPr>
          <p:nvPr/>
        </p:nvPicPr>
        <p:blipFill>
          <a:blip r:embed="rId6"/>
          <a:stretch>
            <a:fillRect/>
          </a:stretch>
        </p:blipFill>
        <p:spPr>
          <a:xfrm>
            <a:off x="4352925" y="2701379"/>
            <a:ext cx="76200" cy="123825"/>
          </a:xfrm>
          <a:prstGeom prst="rect">
            <a:avLst/>
          </a:prstGeom>
        </p:spPr>
      </p:pic>
      <p:pic>
        <p:nvPicPr>
          <p:cNvPr id="11" name="Picture 10" descr="image.png"/>
          <p:cNvPicPr>
            <a:picLocks noChangeAspect="1"/>
          </p:cNvPicPr>
          <p:nvPr/>
        </p:nvPicPr>
        <p:blipFill>
          <a:blip r:embed="rId7"/>
          <a:stretch>
            <a:fillRect/>
          </a:stretch>
        </p:blipFill>
        <p:spPr>
          <a:xfrm>
            <a:off x="7934325" y="2701379"/>
            <a:ext cx="76200" cy="123825"/>
          </a:xfrm>
          <a:prstGeom prst="rect">
            <a:avLst/>
          </a:prstGeom>
        </p:spPr>
      </p:pic>
      <p:sp>
        <p:nvSpPr>
          <p:cNvPr id="12" name="TextBox 11"/>
          <p:cNvSpPr txBox="1"/>
          <p:nvPr/>
        </p:nvSpPr>
        <p:spPr>
          <a:xfrm>
            <a:off x="969764" y="5774233"/>
            <a:ext cx="11222235" cy="152400"/>
          </a:xfrm>
          <a:prstGeom prst="rect">
            <a:avLst/>
          </a:prstGeom>
          <a:noFill/>
        </p:spPr>
        <p:txBody>
          <a:bodyPr wrap="none" lIns="0" rIns="0" tIns="0" bIns="0" anchor="ctr">
            <a:spAutoFit/>
          </a:bodyPr>
          <a:lstStyle/>
          <a:p>
            <a:pPr algn="l"/>
            <a:r>
              <a:rPr b="1" sz="975" i="0" u="none">
                <a:solidFill>
                  <a:srgbClr val="38BDF8"/>
                </a:solidFill>
                <a:latin typeface="Inter"/>
              </a:rPr>
              <a:t>SPEAKER NOTES</a:t>
            </a:r>
          </a:p>
        </p:txBody>
      </p:sp>
      <p:sp>
        <p:nvSpPr>
          <p:cNvPr id="13" name="TextBox 12"/>
          <p:cNvSpPr txBox="1"/>
          <p:nvPr/>
        </p:nvSpPr>
        <p:spPr>
          <a:xfrm>
            <a:off x="800100" y="5945683"/>
            <a:ext cx="10725150" cy="359866"/>
          </a:xfrm>
          <a:prstGeom prst="rect">
            <a:avLst/>
          </a:prstGeom>
          <a:noFill/>
        </p:spPr>
        <p:txBody>
          <a:bodyPr wrap="square" lIns="0" rIns="0" tIns="0" bIns="0" anchor="t">
            <a:spAutoFit/>
          </a:bodyPr>
          <a:lstStyle/>
          <a:p>
            <a:pPr algn="l">
              <a:lnSpc>
                <a:spcPts val="1417"/>
              </a:lnSpc>
            </a:pPr>
            <a:r>
              <a:rPr b="0" sz="1050" i="0" u="none">
                <a:solidFill>
                  <a:srgbClr val="94A3B8"/>
                </a:solidFill>
                <a:latin typeface="Inter"/>
              </a:rPr>
              <a:t>Looking ahead, we plan to implement automated subscription vending and self-service portals. In conclusion, our prototype proves that group-based onboarding drastically simplifies cloud management. Thank you! We are now open for questions.</a:t>
            </a:r>
          </a:p>
        </p:txBody>
      </p:sp>
      <p:sp>
        <p:nvSpPr>
          <p:cNvPr id="14" name="TextBox 13"/>
          <p:cNvSpPr txBox="1"/>
          <p:nvPr/>
        </p:nvSpPr>
        <p:spPr>
          <a:xfrm>
            <a:off x="609600" y="457200"/>
            <a:ext cx="4786312" cy="161925"/>
          </a:xfrm>
          <a:prstGeom prst="rect">
            <a:avLst/>
          </a:prstGeom>
          <a:noFill/>
        </p:spPr>
        <p:txBody>
          <a:bodyPr wrap="none" lIns="0" rIns="0" tIns="0" bIns="0" anchor="t">
            <a:spAutoFit/>
          </a:bodyPr>
          <a:lstStyle/>
          <a:p>
            <a:pPr algn="l"/>
            <a:r>
              <a:rPr b="1" sz="1050" i="0" u="none">
                <a:solidFill>
                  <a:srgbClr val="38BDF8"/>
                </a:solidFill>
                <a:latin typeface="Inter"/>
              </a:rPr>
              <a:t>ROADMAP &amp; SUMMARY</a:t>
            </a:r>
          </a:p>
        </p:txBody>
      </p:sp>
      <p:sp>
        <p:nvSpPr>
          <p:cNvPr id="15" name="TextBox 14"/>
          <p:cNvSpPr txBox="1"/>
          <p:nvPr/>
        </p:nvSpPr>
        <p:spPr>
          <a:xfrm>
            <a:off x="609600" y="619125"/>
            <a:ext cx="5025628" cy="342900"/>
          </a:xfrm>
          <a:prstGeom prst="rect">
            <a:avLst/>
          </a:prstGeom>
          <a:noFill/>
        </p:spPr>
        <p:txBody>
          <a:bodyPr wrap="none" lIns="0" rIns="0" tIns="0" bIns="0" anchor="t">
            <a:spAutoFit/>
          </a:bodyPr>
          <a:lstStyle/>
          <a:p>
            <a:pPr algn="l">
              <a:lnSpc>
                <a:spcPts val="2700"/>
              </a:lnSpc>
            </a:pPr>
            <a:r>
              <a:rPr b="1" sz="2250" i="0" u="none">
                <a:solidFill>
                  <a:srgbClr val="FFFFFF"/>
                </a:solidFill>
                <a:latin typeface="Inter"/>
              </a:rPr>
              <a:t>Future Scope &amp; Conclusion</a:t>
            </a:r>
          </a:p>
        </p:txBody>
      </p:sp>
      <p:sp>
        <p:nvSpPr>
          <p:cNvPr id="16" name="TextBox 15"/>
          <p:cNvSpPr txBox="1"/>
          <p:nvPr/>
        </p:nvSpPr>
        <p:spPr>
          <a:xfrm>
            <a:off x="771525" y="2415629"/>
            <a:ext cx="11420475" cy="190500"/>
          </a:xfrm>
          <a:prstGeom prst="rect">
            <a:avLst/>
          </a:prstGeom>
          <a:noFill/>
        </p:spPr>
        <p:txBody>
          <a:bodyPr wrap="none" lIns="152400" rIns="0" tIns="0" bIns="0" anchor="t">
            <a:spAutoFit/>
          </a:bodyPr>
          <a:lstStyle/>
          <a:p>
            <a:pPr algn="l"/>
            <a:r>
              <a:rPr b="1" sz="1200" i="0" u="none">
                <a:solidFill>
                  <a:srgbClr val="38BDF8"/>
                </a:solidFill>
                <a:latin typeface="Inter"/>
              </a:rPr>
              <a:t>Planned Future Automation Scope</a:t>
            </a:r>
          </a:p>
        </p:txBody>
      </p:sp>
      <p:sp>
        <p:nvSpPr>
          <p:cNvPr id="17" name="TextBox 16"/>
          <p:cNvSpPr txBox="1"/>
          <p:nvPr/>
        </p:nvSpPr>
        <p:spPr>
          <a:xfrm>
            <a:off x="-285750" y="3301454"/>
            <a:ext cx="12763500" cy="400050"/>
          </a:xfrm>
          <a:prstGeom prst="rect">
            <a:avLst/>
          </a:prstGeom>
          <a:noFill/>
        </p:spPr>
        <p:txBody>
          <a:bodyPr wrap="square" lIns="0" rIns="0" tIns="0" bIns="0" anchor="t">
            <a:spAutoFit/>
          </a:bodyPr>
          <a:lstStyle/>
          <a:p>
            <a:pPr algn="ctr"/>
            <a:r>
              <a:rPr b="1" sz="1350" i="0" u="none">
                <a:solidFill>
                  <a:srgbClr val="FFFFFF"/>
                </a:solidFill>
                <a:latin typeface="Inter"/>
              </a:rPr>
              <a:t>"Our prototype demonstrates how Azure users can be organized into groups, managed through RBAC, connected to controlled resources, and governed through Policy &amp; Budget Management."</a:t>
            </a:r>
          </a:p>
        </p:txBody>
      </p:sp>
      <p:sp>
        <p:nvSpPr>
          <p:cNvPr id="18" name="TextBox 17"/>
          <p:cNvSpPr txBox="1"/>
          <p:nvPr/>
        </p:nvSpPr>
        <p:spPr>
          <a:xfrm>
            <a:off x="-333375" y="4082504"/>
            <a:ext cx="12858750" cy="190500"/>
          </a:xfrm>
          <a:prstGeom prst="rect">
            <a:avLst/>
          </a:prstGeom>
          <a:noFill/>
        </p:spPr>
        <p:txBody>
          <a:bodyPr wrap="none" lIns="0" rIns="0" tIns="0" bIns="0" anchor="t">
            <a:spAutoFit/>
          </a:bodyPr>
          <a:lstStyle/>
          <a:p>
            <a:pPr algn="ctr"/>
            <a:r>
              <a:rPr b="1" sz="1200" i="0" u="none">
                <a:solidFill>
                  <a:srgbClr val="38BDF8"/>
                </a:solidFill>
                <a:latin typeface="Inter"/>
              </a:rPr>
              <a:t>From manual user-by-user administration → to controlled, repeatable, and scalable Azure onboarding.</a:t>
            </a:r>
          </a:p>
        </p:txBody>
      </p:sp>
      <p:sp>
        <p:nvSpPr>
          <p:cNvPr id="19" name="TextBox 18"/>
          <p:cNvSpPr txBox="1"/>
          <p:nvPr/>
        </p:nvSpPr>
        <p:spPr>
          <a:xfrm>
            <a:off x="771525" y="2682329"/>
            <a:ext cx="4357687" cy="152400"/>
          </a:xfrm>
          <a:prstGeom prst="rect">
            <a:avLst/>
          </a:prstGeom>
          <a:noFill/>
        </p:spPr>
        <p:txBody>
          <a:bodyPr wrap="none" lIns="76200" rIns="0" tIns="0" bIns="0" anchor="t">
            <a:spAutoFit/>
          </a:bodyPr>
          <a:lstStyle/>
          <a:p>
            <a:pPr algn="l"/>
            <a:r>
              <a:rPr b="0" sz="975" i="0" u="none">
                <a:solidFill>
                  <a:srgbClr val="94A3B8"/>
                </a:solidFill>
                <a:latin typeface="Inter"/>
              </a:rPr>
              <a:t>Programmatic subscription vending</a:t>
            </a:r>
          </a:p>
        </p:txBody>
      </p:sp>
      <p:sp>
        <p:nvSpPr>
          <p:cNvPr id="20" name="TextBox 19"/>
          <p:cNvSpPr txBox="1"/>
          <p:nvPr/>
        </p:nvSpPr>
        <p:spPr>
          <a:xfrm>
            <a:off x="4352925" y="2682329"/>
            <a:ext cx="4357687" cy="152400"/>
          </a:xfrm>
          <a:prstGeom prst="rect">
            <a:avLst/>
          </a:prstGeom>
          <a:noFill/>
        </p:spPr>
        <p:txBody>
          <a:bodyPr wrap="none" lIns="76200" rIns="0" tIns="0" bIns="0" anchor="t">
            <a:spAutoFit/>
          </a:bodyPr>
          <a:lstStyle/>
          <a:p>
            <a:pPr algn="l"/>
            <a:r>
              <a:rPr b="0" sz="975" i="0" u="none">
                <a:solidFill>
                  <a:srgbClr val="94A3B8"/>
                </a:solidFill>
                <a:latin typeface="Inter"/>
              </a:rPr>
              <a:t>Dynamic user similarity grouping</a:t>
            </a:r>
          </a:p>
        </p:txBody>
      </p:sp>
      <p:sp>
        <p:nvSpPr>
          <p:cNvPr id="21" name="TextBox 20"/>
          <p:cNvSpPr txBox="1"/>
          <p:nvPr/>
        </p:nvSpPr>
        <p:spPr>
          <a:xfrm>
            <a:off x="7934325" y="2682329"/>
            <a:ext cx="4257675" cy="152400"/>
          </a:xfrm>
          <a:prstGeom prst="rect">
            <a:avLst/>
          </a:prstGeom>
          <a:noFill/>
        </p:spPr>
        <p:txBody>
          <a:bodyPr wrap="none" lIns="76200" rIns="0" tIns="0" bIns="0" anchor="t">
            <a:spAutoFit/>
          </a:bodyPr>
          <a:lstStyle/>
          <a:p>
            <a:pPr algn="l"/>
            <a:r>
              <a:rPr b="0" sz="975" i="0" u="none">
                <a:solidFill>
                  <a:srgbClr val="94A3B8"/>
                </a:solidFill>
                <a:latin typeface="Inter"/>
              </a:rPr>
              <a:t>Self-service portal &amp; approval workflows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